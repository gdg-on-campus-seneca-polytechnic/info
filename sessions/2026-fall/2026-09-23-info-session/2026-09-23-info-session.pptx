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on time even if the room is half empty. People arrive late to the first event of a semester. Say your name, your program, and your year before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once and move. No times on screen, so the run of show can slip without the slide looking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sentences on the rebrand, because people search for the old name. Google Developer Student Clubs became GDG on Campus in 2024. If someone in the room remembers GDSC, it is the same program.
Do not spend more than five minutes here. Nobody joins a club because of its org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each, and give everyone the same three points to hit: name, program, and one thing you have built or want to build. Rehearse this once before the room fills up, because unrehearsed introductions run four minutes each.
Before you present: confirm who is presenting and whether anyone new has joined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people actually decide on. Slow down.
Be specific instead of general. If you have a number, use it. If the chapter ran an event last term and people shipped something, name the thing.
Do not promise internships. We do not control hiring, and the claim damages trust when it turns out to be untrue.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always free tier point is the one worth stressing. Students assume everything stops when the 300 dollars runs out, so they never start.
Before you present: check every quota on this slide. Free tier terms change without warning, and a wrong number on a slide is the thing people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have heard of the pack and never applied, because the full list is long enough to bounce off. Naming six items works better than pointing at the page.
Put the whole list on the linktree so this slide does not have to be exhaustive, and so it can be corrected later when terms change.
Use a QR code on this slide and the next. Nobody types a URL off a projector.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tracks out loud. A student who came for Android needs to hear the word Android.
Only commit to dates you can keep. An event announced and then dropped costs more attendance than an event never announced.
Before you present: add real dates for any of these that are scheduled.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current cycle's dates and rules on Google's site before you present this.
This is the strongest reason to join in September rather than January, so give it a full slide even if the details are thin.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demo. A talked-about demo is worth nothing.
Use Google AI Studio, because it needs no credit card and no install, which means people can follow along on a laptop in the room and repeat it later.
Keep it to ten minutes and rehearse the whole thing once against the room's projector and the room's wifi. Have a recorded fallback ready, because campus wifi fails during live demos more often than it should.
End by telling them exactly where the code is, then put that link on the linktree.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free and open line out loud. Business, design, and health students write software too, and they assume a club like this is not for them.
Have the QR code on screen while you say this, and leave it up through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work. Running an event is a few hours a week, mostly email and scheduling.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minutes. If nobody speaks first, ask the room a question instead. What are you building right now works better than any question about the club.
Have answers ready for the four that always come up: what does it cost, how much time does it take, do I need experience, and is there free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hyperlink" Target="https://linktr.ee/senecagdg"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dg.community.dev/" TargetMode="External"/><Relationship Id="rId3" Type="http://schemas.openxmlformats.org/officeDocument/2006/relationships/hyperlink" Target="https://developers.google.com/community" TargetMode="External"/><Relationship Id="rId5" Type="http://schemas.openxmlformats.org/officeDocument/2006/relationships/hyperlink" Target="https://gdg.community.dev/gdg-on-campus-seneca-polytechnic-toronto-canada/" TargetMode="External"/><Relationship Id="rId7" Type="http://schemas.openxmlformats.org/officeDocument/2006/relationships/hyperlink" Target="https://developers.google.com/program" TargetMode="External"/><Relationship Id="rId2" Type="http://schemas.openxmlformats.org/officeDocument/2006/relationships/image" Target="../media/image-3-1.png"/><Relationship Id="rId4" Type="http://schemas.openxmlformats.org/officeDocument/2006/relationships/image" Target="../media/image-3-2.png"/><Relationship Id="rId6"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cloud.google.com/free" TargetMode="External"/><Relationship Id="rId3" Type="http://schemas.openxmlformats.org/officeDocument/2006/relationships/hyperlink" Target="https://cloud.google.com/free" TargetMode="External"/><Relationship Id="rId5" Type="http://schemas.openxmlformats.org/officeDocument/2006/relationships/hyperlink" Target="https://aistudio.google.com" TargetMode="External"/><Relationship Id="rId6" Type="http://schemas.openxmlformats.org/officeDocument/2006/relationships/hyperlink" Target="https://aistudio.google.com" TargetMode="External"/><Relationship Id="rId8" Type="http://schemas.openxmlformats.org/officeDocument/2006/relationships/hyperlink" Target="https://colab.research.google.com" TargetMode="External"/><Relationship Id="rId9" Type="http://schemas.openxmlformats.org/officeDocument/2006/relationships/hyperlink" Target="https://colab.research.google.com" TargetMode="External"/><Relationship Id="rId11" Type="http://schemas.openxmlformats.org/officeDocument/2006/relationships/hyperlink" Target="https://www.kaggle.com/learn" TargetMode="External"/><Relationship Id="rId12" Type="http://schemas.openxmlformats.org/officeDocument/2006/relationships/hyperlink" Target="https://www.kaggle.com/learn" TargetMode="External"/><Relationship Id="rId14" Type="http://schemas.openxmlformats.org/officeDocument/2006/relationships/hyperlink" Target="https://firebase.google.com/pricing" TargetMode="External"/><Relationship Id="rId15" Type="http://schemas.openxmlformats.org/officeDocument/2006/relationships/hyperlink" Target="https://firebase.google.com/pricing" TargetMode="External"/><Relationship Id="rId17" Type="http://schemas.openxmlformats.org/officeDocument/2006/relationships/hyperlink" Target="https://codeassist.google" TargetMode="External"/><Relationship Id="rId18" Type="http://schemas.openxmlformats.org/officeDocument/2006/relationships/hyperlink" Target="https://codeassist.google" TargetMode="External"/><Relationship Id="rId20" Type="http://schemas.openxmlformats.org/officeDocument/2006/relationships/hyperlink" Target="https://cloud.google.com/free" TargetMode="External"/><Relationship Id="rId21" Type="http://schemas.openxmlformats.org/officeDocument/2006/relationships/hyperlink" Target="https://cloud.google.com/free" TargetMode="External"/><Relationship Id="rId1" Type="http://schemas.openxmlformats.org/officeDocument/2006/relationships/image" Target="../media/image-6-1.png"/><Relationship Id="rId4" Type="http://schemas.openxmlformats.org/officeDocument/2006/relationships/image" Target="../media/image-6-2.png"/><Relationship Id="rId7" Type="http://schemas.openxmlformats.org/officeDocument/2006/relationships/image" Target="../media/image-6-3.png"/><Relationship Id="rId10" Type="http://schemas.openxmlformats.org/officeDocument/2006/relationships/image" Target="../media/image-6-4.png"/><Relationship Id="rId13" Type="http://schemas.openxmlformats.org/officeDocument/2006/relationships/image" Target="../media/image-6-5.png"/><Relationship Id="rId16" Type="http://schemas.openxmlformats.org/officeDocument/2006/relationships/image" Target="../media/image-6-6.png"/><Relationship Id="rId19" Type="http://schemas.openxmlformats.org/officeDocument/2006/relationships/image" Target="../media/image-6-7.png"/><Relationship Id="rId22" Type="http://schemas.openxmlformats.org/officeDocument/2006/relationships/image" Target="../media/image-6-8.png"/><Relationship Id="rId23" Type="http://schemas.openxmlformats.org/officeDocument/2006/relationships/slideLayout" Target="../slideLayouts/slideLayout1.xml"/><Relationship Id="rId2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hyperlink" Target="https://education.github.com/pack" TargetMode="External"/><Relationship Id="rId10" Type="http://schemas.openxmlformats.org/officeDocument/2006/relationships/hyperlink" Target="https://education.github.com/pack" TargetMode="External"/><Relationship Id="rId11" Type="http://schemas.openxmlformats.org/officeDocument/2006/relationships/hyperlink" Target="https://education.github.com/pack" TargetMode="Externa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9" Type="http://schemas.openxmlformats.org/officeDocument/2006/relationships/image" Target="../media/image-7-8.png"/><Relationship Id="rId12" Type="http://schemas.openxmlformats.org/officeDocument/2006/relationships/image" Target="../media/image-7-9.pn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aistudio.google.com" TargetMode="External"/><Relationship Id="rId3" Type="http://schemas.openxmlformats.org/officeDocument/2006/relationships/hyperlink" Target="https://aistudio.google.com" TargetMode="External"/><Relationship Id="rId1"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10-3.png"/><Relationship Id="rId6" Type="http://schemas.openxmlformats.org/officeDocument/2006/relationships/image" Target="../media/image-10-4.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discord.gg/x5NYqqKyAf" TargetMode="External"/><Relationship Id="rId3" Type="http://schemas.openxmlformats.org/officeDocument/2006/relationships/hyperlink" Target="https://discord.gg/x5NYqqKyAf" TargetMode="External"/><Relationship Id="rId4" Type="http://schemas.openxmlformats.org/officeDocument/2006/relationships/hyperlink" Target="https://discord.gg/x5NYqqKyAf" TargetMode="External"/><Relationship Id="rId6" Type="http://schemas.openxmlformats.org/officeDocument/2006/relationships/hyperlink" Target="https://www.instagram.com/senecapolygdg" TargetMode="External"/><Relationship Id="rId7" Type="http://schemas.openxmlformats.org/officeDocument/2006/relationships/hyperlink" Target="https://www.instagram.com/senecapolygdg" TargetMode="External"/><Relationship Id="rId8" Type="http://schemas.openxmlformats.org/officeDocument/2006/relationships/hyperlink" Target="https://www.instagram.com/senecapolygdg" TargetMode="External"/><Relationship Id="rId10" Type="http://schemas.openxmlformats.org/officeDocument/2006/relationships/hyperlink" Target="https://www.linkedin.com/company/senecapolygdg/" TargetMode="External"/><Relationship Id="rId11" Type="http://schemas.openxmlformats.org/officeDocument/2006/relationships/hyperlink" Target="https://www.linkedin.com/company/senecapolygdg/" TargetMode="External"/><Relationship Id="rId12" Type="http://schemas.openxmlformats.org/officeDocument/2006/relationships/hyperlink" Target="https://www.linkedin.com/company/senecapolygdg/" TargetMode="External"/><Relationship Id="rId14" Type="http://schemas.openxmlformats.org/officeDocument/2006/relationships/hyperlink" Target="https://linktr.ee/senecagdg" TargetMode="External"/><Relationship Id="rId15" Type="http://schemas.openxmlformats.org/officeDocument/2006/relationships/hyperlink" Target="https://linktr.ee/senecagdg" TargetMode="External"/><Relationship Id="rId16" Type="http://schemas.openxmlformats.org/officeDocument/2006/relationships/hyperlink" Target="https://linktr.ee/senecagdg" TargetMode="External"/><Relationship Id="rId18" Type="http://schemas.openxmlformats.org/officeDocument/2006/relationships/hyperlink" Target="https://linktr.ee/senecagdg" TargetMode="External"/><Relationship Id="rId1" Type="http://schemas.openxmlformats.org/officeDocument/2006/relationships/image" Target="../media/image-11-1.png"/><Relationship Id="rId5" Type="http://schemas.openxmlformats.org/officeDocument/2006/relationships/image" Target="../media/image-11-2.png"/><Relationship Id="rId9" Type="http://schemas.openxmlformats.org/officeDocument/2006/relationships/image" Target="../media/image-11-3.png"/><Relationship Id="rId13" Type="http://schemas.openxmlformats.org/officeDocument/2006/relationships/image" Target="../media/image-11-4.png"/><Relationship Id="rId17" Type="http://schemas.openxmlformats.org/officeDocument/2006/relationships/image" Target="../media/image-11-5.png"/><Relationship Id="rId19" Type="http://schemas.openxmlformats.org/officeDocument/2006/relationships/image" Target="../media/image-11-6.png"/><Relationship Id="rId20" Type="http://schemas.openxmlformats.org/officeDocument/2006/relationships/slideLayout" Target="../slideLayouts/slideLayout1.xml"/><Relationship Id="rId2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4" Type="http://schemas.openxmlformats.org/officeDocument/2006/relationships/hyperlink" Target="https://discord.gg/x5NYqqKyAf" TargetMode="Externa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1E"/>
        </a:solidFill>
      </p:bgPr>
    </p:bg>
    <p:spTree>
      <p:nvGrpSpPr>
        <p:cNvPr id="1" name=""/>
        <p:cNvGrpSpPr/>
        <p:nvPr/>
      </p:nvGrpSpPr>
      <p:grpSpPr>
        <a:xfrm>
          <a:off x="0" y="0"/>
          <a:ext cx="0" cy="0"/>
          <a:chOff x="0" y="0"/>
          <a:chExt cx="0" cy="0"/>
        </a:xfrm>
      </p:grpSpPr>
      <p:pic>
        <p:nvPicPr>
          <p:cNvPr id="3" name="Image 0" descr="/Users/datta/Developer/gdg-seneca/deck-builder/brand/lockup-white.png">    </p:cNvPr>
          <p:cNvPicPr>
            <a:picLocks noChangeAspect="1"/>
          </p:cNvPicPr>
          <p:nvPr/>
        </p:nvPicPr>
        <p:blipFill>
          <a:blip r:embed="rId1"/>
          <a:stretch>
            <a:fillRect/>
          </a:stretch>
        </p:blipFill>
        <p:spPr>
          <a:xfrm>
            <a:off x="548640" y="502920"/>
            <a:ext cx="2926080" cy="283352"/>
          </a:xfrm>
          <a:prstGeom prst="rect">
            <a:avLst/>
          </a:prstGeom>
        </p:spPr>
      </p:pic>
      <p:sp>
        <p:nvSpPr>
          <p:cNvPr id="4" name="Text 0"/>
          <p:cNvSpPr txBox="1"/>
          <p:nvPr/>
        </p:nvSpPr>
        <p:spPr>
          <a:xfrm>
            <a:off x="548640" y="1417320"/>
            <a:ext cx="4206240" cy="457200"/>
          </a:xfrm>
          <a:prstGeom prst="rect">
            <a:avLst/>
          </a:prstGeom>
          <a:noFill/>
          <a:ln/>
        </p:spPr>
        <p:txBody>
          <a:bodyPr wrap="square" lIns="0" tIns="0" rIns="0" bIns="0" rtlCol="0" anchor="ctr"/>
          <a:lstStyle/>
          <a:p>
            <a:pPr indent="0" marL="0">
              <a:buNone/>
            </a:pPr>
            <a:r>
              <a:rPr lang="en-US" sz="2200" dirty="0">
                <a:solidFill>
                  <a:srgbClr val="9AA0A6"/>
                </a:solidFill>
                <a:latin typeface="Arial" pitchFamily="34" charset="0"/>
                <a:ea typeface="Arial" pitchFamily="34" charset="-122"/>
                <a:cs typeface="Arial" pitchFamily="34" charset="-120"/>
              </a:rPr>
              <a:t>Welcome to</a:t>
            </a:r>
            <a:endParaRPr lang="en-US" sz="2200" dirty="0"/>
          </a:p>
        </p:txBody>
      </p:sp>
      <p:sp>
        <p:nvSpPr>
          <p:cNvPr id="5" name="Text 1"/>
          <p:cNvSpPr txBox="1"/>
          <p:nvPr/>
        </p:nvSpPr>
        <p:spPr>
          <a:xfrm>
            <a:off x="548640" y="1828800"/>
            <a:ext cx="4389120" cy="868680"/>
          </a:xfrm>
          <a:prstGeom prst="rect">
            <a:avLst/>
          </a:prstGeom>
          <a:noFill/>
          <a:ln/>
        </p:spPr>
        <p:txBody>
          <a:bodyPr wrap="square" lIns="0" tIns="0" rIns="0" bIns="0" rtlCol="0" anchor="ctr"/>
          <a:lstStyle/>
          <a:p>
            <a:pPr indent="0" marL="0">
              <a:buNone/>
            </a:pPr>
            <a:r>
              <a:rPr lang="en-US" sz="4600" b="1" dirty="0">
                <a:solidFill>
                  <a:srgbClr val="FFFFFF"/>
                </a:solidFill>
                <a:latin typeface="Arial" pitchFamily="34" charset="0"/>
                <a:ea typeface="Arial" pitchFamily="34" charset="-122"/>
                <a:cs typeface="Arial" pitchFamily="34" charset="-120"/>
              </a:rPr>
              <a:t>GDG @ Seneca</a:t>
            </a:r>
            <a:endParaRPr lang="en-US" sz="4600" dirty="0"/>
          </a:p>
        </p:txBody>
      </p:sp>
      <p:sp>
        <p:nvSpPr>
          <p:cNvPr id="6" name="Text 2"/>
          <p:cNvSpPr txBox="1"/>
          <p:nvPr/>
        </p:nvSpPr>
        <p:spPr>
          <a:xfrm>
            <a:off x="548640" y="2697480"/>
            <a:ext cx="4206240" cy="411480"/>
          </a:xfrm>
          <a:prstGeom prst="rect">
            <a:avLst/>
          </a:prstGeom>
          <a:noFill/>
          <a:ln/>
        </p:spPr>
        <p:txBody>
          <a:bodyPr wrap="square" lIns="0" tIns="0" rIns="0" bIns="0" rtlCol="0" anchor="ctr"/>
          <a:lstStyle/>
          <a:p>
            <a:pPr indent="0" marL="0">
              <a:buNone/>
            </a:pPr>
            <a:r>
              <a:rPr lang="en-US" sz="1800" b="1" dirty="0">
                <a:solidFill>
                  <a:srgbClr val="F9AB00"/>
                </a:solidFill>
                <a:latin typeface="Arial" pitchFamily="34" charset="0"/>
                <a:ea typeface="Arial" pitchFamily="34" charset="-122"/>
                <a:cs typeface="Arial" pitchFamily="34" charset="-120"/>
              </a:rPr>
              <a:t>Info Session  ·  Fall 2026</a:t>
            </a:r>
            <a:endParaRPr lang="en-US" sz="1800" dirty="0"/>
          </a:p>
        </p:txBody>
      </p:sp>
      <p:sp>
        <p:nvSpPr>
          <p:cNvPr id="7" name="Shape 3"/>
          <p:cNvSpPr/>
          <p:nvPr/>
        </p:nvSpPr>
        <p:spPr>
          <a:xfrm>
            <a:off x="548640" y="3429000"/>
            <a:ext cx="292608" cy="292608"/>
          </a:xfrm>
          <a:prstGeom prst="ellipse">
            <a:avLst/>
          </a:prstGeom>
          <a:solidFill>
            <a:srgbClr val="4285F4"/>
          </a:solidFill>
          <a:ln w="12700">
            <a:solidFill>
              <a:srgbClr val="4285F4"/>
            </a:solidFill>
            <a:prstDash val="solid"/>
          </a:ln>
        </p:spPr>
      </p:sp>
      <p:pic>
        <p:nvPicPr>
          <p:cNvPr id="8" name="Image 1" descr="preencoded.png">    </p:cNvPr>
          <p:cNvPicPr>
            <a:picLocks noChangeAspect="1"/>
          </p:cNvPicPr>
          <p:nvPr/>
        </p:nvPicPr>
        <p:blipFill>
          <a:blip r:embed="rId2"/>
          <a:stretch>
            <a:fillRect/>
          </a:stretch>
        </p:blipFill>
        <p:spPr>
          <a:xfrm>
            <a:off x="601309" y="3481669"/>
            <a:ext cx="187269" cy="187269"/>
          </a:xfrm>
          <a:prstGeom prst="rect">
            <a:avLst/>
          </a:prstGeom>
        </p:spPr>
      </p:pic>
      <p:sp>
        <p:nvSpPr>
          <p:cNvPr id="9" name="Text 4"/>
          <p:cNvSpPr txBox="1"/>
          <p:nvPr/>
        </p:nvSpPr>
        <p:spPr>
          <a:xfrm>
            <a:off x="960120" y="3429000"/>
            <a:ext cx="3840480" cy="292608"/>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Wed, 23 September 2026</a:t>
            </a:r>
            <a:endParaRPr lang="en-US" sz="1200" dirty="0"/>
          </a:p>
        </p:txBody>
      </p:sp>
      <p:sp>
        <p:nvSpPr>
          <p:cNvPr id="10" name="Shape 5"/>
          <p:cNvSpPr/>
          <p:nvPr/>
        </p:nvSpPr>
        <p:spPr>
          <a:xfrm>
            <a:off x="548640" y="3840480"/>
            <a:ext cx="292608" cy="292608"/>
          </a:xfrm>
          <a:prstGeom prst="ellipse">
            <a:avLst/>
          </a:prstGeom>
          <a:solidFill>
            <a:srgbClr val="34A853"/>
          </a:solidFill>
          <a:ln w="12700">
            <a:solidFill>
              <a:srgbClr val="34A853"/>
            </a:solidFill>
            <a:prstDash val="solid"/>
          </a:ln>
        </p:spPr>
      </p:sp>
      <p:pic>
        <p:nvPicPr>
          <p:cNvPr id="11" name="Image 2" descr="preencoded.png">    </p:cNvPr>
          <p:cNvPicPr>
            <a:picLocks noChangeAspect="1"/>
          </p:cNvPicPr>
          <p:nvPr/>
        </p:nvPicPr>
        <p:blipFill>
          <a:blip r:embed="rId3"/>
          <a:stretch>
            <a:fillRect/>
          </a:stretch>
        </p:blipFill>
        <p:spPr>
          <a:xfrm>
            <a:off x="601309" y="3893149"/>
            <a:ext cx="187269" cy="187269"/>
          </a:xfrm>
          <a:prstGeom prst="rect">
            <a:avLst/>
          </a:prstGeom>
        </p:spPr>
      </p:pic>
      <p:sp>
        <p:nvSpPr>
          <p:cNvPr id="12" name="Text 6"/>
          <p:cNvSpPr txBox="1"/>
          <p:nvPr/>
        </p:nvSpPr>
        <p:spPr>
          <a:xfrm>
            <a:off x="960120" y="3840480"/>
            <a:ext cx="3840480" cy="292608"/>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Newnham Campus  ·  Helix Conference Room</a:t>
            </a:r>
            <a:endParaRPr lang="en-US" sz="1200" dirty="0"/>
          </a:p>
        </p:txBody>
      </p:sp>
      <p:sp>
        <p:nvSpPr>
          <p:cNvPr id="13" name="Shape 7"/>
          <p:cNvSpPr/>
          <p:nvPr/>
        </p:nvSpPr>
        <p:spPr>
          <a:xfrm>
            <a:off x="548640" y="4251960"/>
            <a:ext cx="292608" cy="292608"/>
          </a:xfrm>
          <a:prstGeom prst="ellipse">
            <a:avLst/>
          </a:prstGeom>
          <a:solidFill>
            <a:srgbClr val="EA4335"/>
          </a:solidFill>
          <a:ln w="12700">
            <a:solidFill>
              <a:srgbClr val="EA4335"/>
            </a:solidFill>
            <a:prstDash val="solid"/>
          </a:ln>
        </p:spPr>
      </p:sp>
      <p:pic>
        <p:nvPicPr>
          <p:cNvPr id="14" name="Image 3" descr="preencoded.png">    </p:cNvPr>
          <p:cNvPicPr>
            <a:picLocks noChangeAspect="1"/>
          </p:cNvPicPr>
          <p:nvPr/>
        </p:nvPicPr>
        <p:blipFill>
          <a:blip r:embed="rId4"/>
          <a:stretch>
            <a:fillRect/>
          </a:stretch>
        </p:blipFill>
        <p:spPr>
          <a:xfrm>
            <a:off x="601309" y="4304629"/>
            <a:ext cx="187269" cy="187269"/>
          </a:xfrm>
          <a:prstGeom prst="rect">
            <a:avLst/>
          </a:prstGeom>
        </p:spPr>
      </p:pic>
      <p:sp>
        <p:nvSpPr>
          <p:cNvPr id="15" name="Text 8"/>
          <p:cNvSpPr txBox="1"/>
          <p:nvPr/>
        </p:nvSpPr>
        <p:spPr>
          <a:xfrm>
            <a:off x="960120" y="4251960"/>
            <a:ext cx="3840480" cy="292608"/>
          </a:xfrm>
          <a:prstGeom prst="rect">
            <a:avLst/>
          </a:prstGeom>
          <a:noFill/>
          <a:ln/>
        </p:spPr>
        <p:txBody>
          <a:bodyPr wrap="square" lIns="0" tIns="0" rIns="0" bIns="0" rtlCol="0" anchor="ctr"/>
          <a:lstStyle/>
          <a:p>
            <a:pPr indent="0" marL="0">
              <a:buNone/>
            </a:pPr>
            <a:r>
              <a:rPr lang="en-US" sz="1200" u="sng" dirty="0">
                <a:solidFill>
                  <a:srgbClr val="FFFFFF"/>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linktr.ee/senecagdg</a:t>
            </a:r>
            <a:endParaRPr lang="en-US" sz="1200" dirty="0"/>
          </a:p>
        </p:txBody>
      </p:sp>
      <p:sp>
        <p:nvSpPr>
          <p:cNvPr id="16" name="Shape 9"/>
          <p:cNvSpPr/>
          <p:nvPr/>
        </p:nvSpPr>
        <p:spPr>
          <a:xfrm>
            <a:off x="5184648" y="1241298"/>
            <a:ext cx="3520440" cy="2880360"/>
          </a:xfrm>
          <a:prstGeom prst="roundRect">
            <a:avLst>
              <a:gd name="adj" fmla="val 5714"/>
            </a:avLst>
          </a:prstGeom>
          <a:solidFill>
            <a:srgbClr val="4285F4"/>
          </a:solidFill>
          <a:ln w="12700">
            <a:solidFill>
              <a:srgbClr val="4285F4"/>
            </a:solidFill>
            <a:prstDash val="solid"/>
          </a:ln>
        </p:spPr>
      </p:sp>
      <p:pic>
        <p:nvPicPr>
          <p:cNvPr id="17" name="Image 4" descr="/Users/datta/Developer/gdg-seneca/deck-builder/brand/seneca-sign.png">    </p:cNvPr>
          <p:cNvPicPr>
            <a:picLocks noChangeAspect="1"/>
          </p:cNvPicPr>
          <p:nvPr/>
        </p:nvPicPr>
        <p:blipFill>
          <a:blip r:embed="rId6"/>
          <a:stretch>
            <a:fillRect/>
          </a:stretch>
        </p:blipFill>
        <p:spPr>
          <a:xfrm>
            <a:off x="5074920" y="1131570"/>
            <a:ext cx="3520440" cy="2880360"/>
          </a:xfrm>
          <a:prstGeom prst="rect">
            <a:avLst/>
          </a:prstGeom>
        </p:spPr>
      </p:pic>
      <p:sp>
        <p:nvSpPr>
          <p:cNvPr id="18" name="Shape 10"/>
          <p:cNvSpPr/>
          <p:nvPr/>
        </p:nvSpPr>
        <p:spPr>
          <a:xfrm rot="-2220000">
            <a:off x="4531894" y="3628705"/>
            <a:ext cx="590702" cy="192756"/>
          </a:xfrm>
          <a:prstGeom prst="roundRect">
            <a:avLst>
              <a:gd name="adj" fmla="val 50000"/>
            </a:avLst>
          </a:prstGeom>
          <a:solidFill>
            <a:srgbClr val="EA4335"/>
          </a:solidFill>
          <a:ln w="19050">
            <a:solidFill>
              <a:srgbClr val="1E1E1E"/>
            </a:solidFill>
            <a:prstDash val="solid"/>
          </a:ln>
        </p:spPr>
      </p:sp>
      <p:sp>
        <p:nvSpPr>
          <p:cNvPr id="19" name="Shape 11"/>
          <p:cNvSpPr/>
          <p:nvPr/>
        </p:nvSpPr>
        <p:spPr>
          <a:xfrm rot="2220000">
            <a:off x="4531894" y="3868095"/>
            <a:ext cx="590702" cy="192756"/>
          </a:xfrm>
          <a:prstGeom prst="roundRect">
            <a:avLst>
              <a:gd name="adj" fmla="val 50000"/>
            </a:avLst>
          </a:prstGeom>
          <a:solidFill>
            <a:srgbClr val="4285F4"/>
          </a:solidFill>
          <a:ln w="19050">
            <a:solidFill>
              <a:srgbClr val="1E1E1E"/>
            </a:solidFill>
            <a:prstDash val="solid"/>
          </a:ln>
        </p:spPr>
      </p:sp>
      <p:sp>
        <p:nvSpPr>
          <p:cNvPr id="20" name="Shape 12"/>
          <p:cNvSpPr/>
          <p:nvPr/>
        </p:nvSpPr>
        <p:spPr>
          <a:xfrm rot="-2220000">
            <a:off x="5098347" y="3868095"/>
            <a:ext cx="590702" cy="192756"/>
          </a:xfrm>
          <a:prstGeom prst="roundRect">
            <a:avLst>
              <a:gd name="adj" fmla="val 50000"/>
            </a:avLst>
          </a:prstGeom>
          <a:solidFill>
            <a:srgbClr val="F9AB00"/>
          </a:solidFill>
          <a:ln w="19050">
            <a:solidFill>
              <a:srgbClr val="1E1E1E"/>
            </a:solidFill>
            <a:prstDash val="solid"/>
          </a:ln>
        </p:spPr>
      </p:sp>
      <p:sp>
        <p:nvSpPr>
          <p:cNvPr id="21" name="Shape 13"/>
          <p:cNvSpPr/>
          <p:nvPr/>
        </p:nvSpPr>
        <p:spPr>
          <a:xfrm rot="2220000">
            <a:off x="5098347" y="3628705"/>
            <a:ext cx="590702" cy="192756"/>
          </a:xfrm>
          <a:prstGeom prst="roundRect">
            <a:avLst>
              <a:gd name="adj" fmla="val 50000"/>
            </a:avLst>
          </a:prstGeom>
          <a:solidFill>
            <a:srgbClr val="34A853"/>
          </a:solidFill>
          <a:ln w="19050">
            <a:solidFill>
              <a:srgbClr val="1E1E1E"/>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411480"/>
            <a:ext cx="914400" cy="292608"/>
          </a:xfrm>
          <a:prstGeom prst="roundRect">
            <a:avLst>
              <a:gd name="adj" fmla="val 50000"/>
            </a:avLst>
          </a:prstGeom>
          <a:solidFill>
            <a:srgbClr val="E8F0FE"/>
          </a:solidFill>
          <a:ln w="15875">
            <a:solidFill>
              <a:srgbClr val="4285F4"/>
            </a:solidFill>
            <a:prstDash val="solid"/>
          </a:ln>
        </p:spPr>
      </p:sp>
      <p:sp>
        <p:nvSpPr>
          <p:cNvPr id="4" name="Text 1"/>
          <p:cNvSpPr txBox="1"/>
          <p:nvPr/>
        </p:nvSpPr>
        <p:spPr>
          <a:xfrm>
            <a:off x="548640" y="411480"/>
            <a:ext cx="914400" cy="292608"/>
          </a:xfrm>
          <a:prstGeom prst="rect">
            <a:avLst/>
          </a:prstGeom>
          <a:noFill/>
          <a:ln/>
        </p:spPr>
        <p:txBody>
          <a:bodyPr wrap="square" lIns="0" tIns="0" rIns="0" bIns="0" rtlCol="0" anchor="ctr"/>
          <a:lstStyle/>
          <a:p>
            <a:pPr algn="ctr" indent="0" marL="0">
              <a:buNone/>
            </a:pPr>
            <a:r>
              <a:rPr lang="en-US" sz="900" b="1" spc="150" kern="0" dirty="0">
                <a:solidFill>
                  <a:srgbClr val="1E1E1E"/>
                </a:solidFill>
                <a:latin typeface="Arial" pitchFamily="34" charset="0"/>
                <a:ea typeface="Arial" pitchFamily="34" charset="-122"/>
                <a:cs typeface="Arial" pitchFamily="34" charset="-120"/>
              </a:rPr>
              <a:t>AGENDA</a:t>
            </a:r>
            <a:endParaRPr lang="en-US" sz="900" dirty="0"/>
          </a:p>
        </p:txBody>
      </p:sp>
      <p:sp>
        <p:nvSpPr>
          <p:cNvPr id="5" name="Text 2"/>
          <p:cNvSpPr txBox="1"/>
          <p:nvPr/>
        </p:nvSpPr>
        <p:spPr>
          <a:xfrm>
            <a:off x="548640" y="868680"/>
            <a:ext cx="3291840" cy="1280160"/>
          </a:xfrm>
          <a:prstGeom prst="rect">
            <a:avLst/>
          </a:prstGeom>
          <a:noFill/>
          <a:ln/>
        </p:spPr>
        <p:txBody>
          <a:bodyPr wrap="square" lIns="0" tIns="0" rIns="0" bIns="0" rtlCol="0" anchor="t"/>
          <a:lstStyle/>
          <a:p>
            <a:pPr indent="0" marL="0">
              <a:buNone/>
            </a:pPr>
            <a:r>
              <a:rPr lang="en-US" sz="3400" b="1" dirty="0">
                <a:solidFill>
                  <a:srgbClr val="1E1E1E"/>
                </a:solidFill>
                <a:latin typeface="Arial" pitchFamily="34" charset="0"/>
                <a:ea typeface="Arial" pitchFamily="34" charset="-122"/>
                <a:cs typeface="Arial" pitchFamily="34" charset="-120"/>
              </a:rPr>
              <a:t>Tonight's</a:t>
            </a:r>
            <a:endParaRPr lang="en-US" sz="3400" dirty="0"/>
          </a:p>
          <a:p>
            <a:pPr indent="0" marL="0">
              <a:buNone/>
            </a:pPr>
            <a:r>
              <a:rPr lang="en-US" sz="3400" b="1" dirty="0">
                <a:solidFill>
                  <a:srgbClr val="1E1E1E"/>
                </a:solidFill>
                <a:latin typeface="Arial" pitchFamily="34" charset="0"/>
                <a:ea typeface="Arial" pitchFamily="34" charset="-122"/>
                <a:cs typeface="Arial" pitchFamily="34" charset="-120"/>
              </a:rPr>
              <a:t>plan</a:t>
            </a:r>
            <a:endParaRPr lang="en-US" sz="3400" dirty="0"/>
          </a:p>
        </p:txBody>
      </p:sp>
      <p:sp>
        <p:nvSpPr>
          <p:cNvPr id="6" name="Text 3"/>
          <p:cNvSpPr txBox="1"/>
          <p:nvPr/>
        </p:nvSpPr>
        <p:spPr>
          <a:xfrm>
            <a:off x="548640" y="2331720"/>
            <a:ext cx="3017520" cy="640080"/>
          </a:xfrm>
          <a:prstGeom prst="rect">
            <a:avLst/>
          </a:prstGeom>
          <a:noFill/>
          <a:ln/>
        </p:spPr>
        <p:txBody>
          <a:bodyPr wrap="square" lIns="0" tIns="0" rIns="0" bIns="0" rtlCol="0" anchor="ctr"/>
          <a:lstStyle/>
          <a:p>
            <a:pPr indent="0" marL="0">
              <a:buNone/>
            </a:pPr>
            <a:r>
              <a:rPr lang="en-US" sz="1300" dirty="0">
                <a:solidFill>
                  <a:srgbClr val="5F6368"/>
                </a:solidFill>
                <a:latin typeface="Arial" pitchFamily="34" charset="0"/>
                <a:ea typeface="Arial" pitchFamily="34" charset="-122"/>
                <a:cs typeface="Arial" pitchFamily="34" charset="-120"/>
              </a:rPr>
              <a:t>Stick around after if you can. We'll be hanging out and chatting.</a:t>
            </a:r>
            <a:endParaRPr lang="en-US" sz="1300" dirty="0"/>
          </a:p>
        </p:txBody>
      </p:sp>
      <p:sp>
        <p:nvSpPr>
          <p:cNvPr id="7" name="Shape 4"/>
          <p:cNvSpPr/>
          <p:nvPr/>
        </p:nvSpPr>
        <p:spPr>
          <a:xfrm rot="-2220000">
            <a:off x="499098" y="3393978"/>
            <a:ext cx="729691" cy="238110"/>
          </a:xfrm>
          <a:prstGeom prst="roundRect">
            <a:avLst>
              <a:gd name="adj" fmla="val 50000"/>
            </a:avLst>
          </a:prstGeom>
          <a:solidFill>
            <a:srgbClr val="EA4335"/>
          </a:solidFill>
          <a:ln w="19050">
            <a:solidFill>
              <a:srgbClr val="1E1E1E"/>
            </a:solidFill>
            <a:prstDash val="solid"/>
          </a:ln>
        </p:spPr>
      </p:sp>
      <p:sp>
        <p:nvSpPr>
          <p:cNvPr id="8" name="Shape 5"/>
          <p:cNvSpPr/>
          <p:nvPr/>
        </p:nvSpPr>
        <p:spPr>
          <a:xfrm rot="2220000">
            <a:off x="499098" y="3689695"/>
            <a:ext cx="729691" cy="238110"/>
          </a:xfrm>
          <a:prstGeom prst="roundRect">
            <a:avLst>
              <a:gd name="adj" fmla="val 50000"/>
            </a:avLst>
          </a:prstGeom>
          <a:solidFill>
            <a:srgbClr val="4285F4"/>
          </a:solidFill>
          <a:ln w="19050">
            <a:solidFill>
              <a:srgbClr val="1E1E1E"/>
            </a:solidFill>
            <a:prstDash val="solid"/>
          </a:ln>
        </p:spPr>
      </p:sp>
      <p:sp>
        <p:nvSpPr>
          <p:cNvPr id="9" name="Shape 6"/>
          <p:cNvSpPr/>
          <p:nvPr/>
        </p:nvSpPr>
        <p:spPr>
          <a:xfrm rot="-2220000">
            <a:off x="1198833" y="3689695"/>
            <a:ext cx="729691" cy="238110"/>
          </a:xfrm>
          <a:prstGeom prst="roundRect">
            <a:avLst>
              <a:gd name="adj" fmla="val 50000"/>
            </a:avLst>
          </a:prstGeom>
          <a:solidFill>
            <a:srgbClr val="F9AB00"/>
          </a:solidFill>
          <a:ln w="19050">
            <a:solidFill>
              <a:srgbClr val="1E1E1E"/>
            </a:solidFill>
            <a:prstDash val="solid"/>
          </a:ln>
        </p:spPr>
      </p:sp>
      <p:sp>
        <p:nvSpPr>
          <p:cNvPr id="10" name="Shape 7"/>
          <p:cNvSpPr/>
          <p:nvPr/>
        </p:nvSpPr>
        <p:spPr>
          <a:xfrm rot="2220000">
            <a:off x="1198833" y="3393978"/>
            <a:ext cx="729691" cy="238110"/>
          </a:xfrm>
          <a:prstGeom prst="roundRect">
            <a:avLst>
              <a:gd name="adj" fmla="val 50000"/>
            </a:avLst>
          </a:prstGeom>
          <a:solidFill>
            <a:srgbClr val="34A853"/>
          </a:solidFill>
          <a:ln w="19050">
            <a:solidFill>
              <a:srgbClr val="1E1E1E"/>
            </a:solidFill>
            <a:prstDash val="solid"/>
          </a:ln>
        </p:spPr>
      </p:sp>
      <p:sp>
        <p:nvSpPr>
          <p:cNvPr id="11" name="Shape 8"/>
          <p:cNvSpPr/>
          <p:nvPr/>
        </p:nvSpPr>
        <p:spPr>
          <a:xfrm>
            <a:off x="4023360" y="502920"/>
            <a:ext cx="4572000" cy="475488"/>
          </a:xfrm>
          <a:prstGeom prst="roundRect">
            <a:avLst>
              <a:gd name="adj" fmla="val 50000"/>
            </a:avLst>
          </a:prstGeom>
          <a:solidFill>
            <a:srgbClr val="1E1E1E"/>
          </a:solidFill>
          <a:ln w="12700">
            <a:solidFill>
              <a:srgbClr val="1E1E1E"/>
            </a:solidFill>
            <a:prstDash val="solid"/>
          </a:ln>
        </p:spPr>
      </p:sp>
      <p:sp>
        <p:nvSpPr>
          <p:cNvPr id="12" name="Shape 9"/>
          <p:cNvSpPr/>
          <p:nvPr/>
        </p:nvSpPr>
        <p:spPr>
          <a:xfrm>
            <a:off x="4096512" y="566928"/>
            <a:ext cx="347472" cy="347472"/>
          </a:xfrm>
          <a:prstGeom prst="ellipse">
            <a:avLst/>
          </a:prstGeom>
          <a:solidFill>
            <a:srgbClr val="4285F4"/>
          </a:solidFill>
          <a:ln w="15875">
            <a:solidFill>
              <a:srgbClr val="FFFFFF"/>
            </a:solidFill>
            <a:prstDash val="solid"/>
          </a:ln>
        </p:spPr>
      </p:sp>
      <p:sp>
        <p:nvSpPr>
          <p:cNvPr id="13" name="Text 10"/>
          <p:cNvSpPr txBox="1"/>
          <p:nvPr/>
        </p:nvSpPr>
        <p:spPr>
          <a:xfrm>
            <a:off x="4096512" y="56692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4" name="Text 11"/>
          <p:cNvSpPr txBox="1"/>
          <p:nvPr/>
        </p:nvSpPr>
        <p:spPr>
          <a:xfrm>
            <a:off x="4617720" y="502920"/>
            <a:ext cx="3749040" cy="47548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What's GDG on Campus?</a:t>
            </a:r>
            <a:endParaRPr lang="en-US" sz="1400" dirty="0"/>
          </a:p>
        </p:txBody>
      </p:sp>
      <p:sp>
        <p:nvSpPr>
          <p:cNvPr id="15" name="Shape 12"/>
          <p:cNvSpPr/>
          <p:nvPr/>
        </p:nvSpPr>
        <p:spPr>
          <a:xfrm>
            <a:off x="4023360" y="1078992"/>
            <a:ext cx="4572000" cy="475488"/>
          </a:xfrm>
          <a:prstGeom prst="roundRect">
            <a:avLst>
              <a:gd name="adj" fmla="val 50000"/>
            </a:avLst>
          </a:prstGeom>
          <a:solidFill>
            <a:srgbClr val="1E1E1E"/>
          </a:solidFill>
          <a:ln w="12700">
            <a:solidFill>
              <a:srgbClr val="1E1E1E"/>
            </a:solidFill>
            <a:prstDash val="solid"/>
          </a:ln>
        </p:spPr>
      </p:sp>
      <p:sp>
        <p:nvSpPr>
          <p:cNvPr id="16" name="Shape 13"/>
          <p:cNvSpPr/>
          <p:nvPr/>
        </p:nvSpPr>
        <p:spPr>
          <a:xfrm>
            <a:off x="4096512" y="1143000"/>
            <a:ext cx="347472" cy="347472"/>
          </a:xfrm>
          <a:prstGeom prst="ellipse">
            <a:avLst/>
          </a:prstGeom>
          <a:solidFill>
            <a:srgbClr val="EA4335"/>
          </a:solidFill>
          <a:ln w="15875">
            <a:solidFill>
              <a:srgbClr val="FFFFFF"/>
            </a:solidFill>
            <a:prstDash val="solid"/>
          </a:ln>
        </p:spPr>
      </p:sp>
      <p:sp>
        <p:nvSpPr>
          <p:cNvPr id="17" name="Text 14"/>
          <p:cNvSpPr txBox="1"/>
          <p:nvPr/>
        </p:nvSpPr>
        <p:spPr>
          <a:xfrm>
            <a:off x="4096512" y="11430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8" name="Text 15"/>
          <p:cNvSpPr txBox="1"/>
          <p:nvPr/>
        </p:nvSpPr>
        <p:spPr>
          <a:xfrm>
            <a:off x="4617720" y="1078992"/>
            <a:ext cx="3749040" cy="47548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Meet the team</a:t>
            </a:r>
            <a:endParaRPr lang="en-US" sz="1400" dirty="0"/>
          </a:p>
        </p:txBody>
      </p:sp>
      <p:sp>
        <p:nvSpPr>
          <p:cNvPr id="19" name="Shape 16"/>
          <p:cNvSpPr/>
          <p:nvPr/>
        </p:nvSpPr>
        <p:spPr>
          <a:xfrm>
            <a:off x="4023360" y="1655064"/>
            <a:ext cx="4572000" cy="475488"/>
          </a:xfrm>
          <a:prstGeom prst="roundRect">
            <a:avLst>
              <a:gd name="adj" fmla="val 50000"/>
            </a:avLst>
          </a:prstGeom>
          <a:solidFill>
            <a:srgbClr val="1E1E1E"/>
          </a:solidFill>
          <a:ln w="12700">
            <a:solidFill>
              <a:srgbClr val="1E1E1E"/>
            </a:solidFill>
            <a:prstDash val="solid"/>
          </a:ln>
        </p:spPr>
      </p:sp>
      <p:sp>
        <p:nvSpPr>
          <p:cNvPr id="20" name="Shape 17"/>
          <p:cNvSpPr/>
          <p:nvPr/>
        </p:nvSpPr>
        <p:spPr>
          <a:xfrm>
            <a:off x="4096512" y="1719072"/>
            <a:ext cx="347472" cy="347472"/>
          </a:xfrm>
          <a:prstGeom prst="ellipse">
            <a:avLst/>
          </a:prstGeom>
          <a:solidFill>
            <a:srgbClr val="34A853"/>
          </a:solidFill>
          <a:ln w="15875">
            <a:solidFill>
              <a:srgbClr val="FFFFFF"/>
            </a:solidFill>
            <a:prstDash val="solid"/>
          </a:ln>
        </p:spPr>
      </p:sp>
      <p:sp>
        <p:nvSpPr>
          <p:cNvPr id="21" name="Text 18"/>
          <p:cNvSpPr txBox="1"/>
          <p:nvPr/>
        </p:nvSpPr>
        <p:spPr>
          <a:xfrm>
            <a:off x="4096512" y="171907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19"/>
          <p:cNvSpPr txBox="1"/>
          <p:nvPr/>
        </p:nvSpPr>
        <p:spPr>
          <a:xfrm>
            <a:off x="4617720" y="1655064"/>
            <a:ext cx="3749040" cy="47548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Why join</a:t>
            </a:r>
            <a:endParaRPr lang="en-US" sz="1400" dirty="0"/>
          </a:p>
        </p:txBody>
      </p:sp>
      <p:sp>
        <p:nvSpPr>
          <p:cNvPr id="23" name="Shape 20"/>
          <p:cNvSpPr/>
          <p:nvPr/>
        </p:nvSpPr>
        <p:spPr>
          <a:xfrm>
            <a:off x="4023360" y="2231136"/>
            <a:ext cx="4572000" cy="475488"/>
          </a:xfrm>
          <a:prstGeom prst="roundRect">
            <a:avLst>
              <a:gd name="adj" fmla="val 50000"/>
            </a:avLst>
          </a:prstGeom>
          <a:solidFill>
            <a:srgbClr val="1E1E1E"/>
          </a:solidFill>
          <a:ln w="12700">
            <a:solidFill>
              <a:srgbClr val="1E1E1E"/>
            </a:solidFill>
            <a:prstDash val="solid"/>
          </a:ln>
        </p:spPr>
      </p:sp>
      <p:sp>
        <p:nvSpPr>
          <p:cNvPr id="24" name="Shape 21"/>
          <p:cNvSpPr/>
          <p:nvPr/>
        </p:nvSpPr>
        <p:spPr>
          <a:xfrm>
            <a:off x="4096512" y="2295144"/>
            <a:ext cx="347472" cy="347472"/>
          </a:xfrm>
          <a:prstGeom prst="ellipse">
            <a:avLst/>
          </a:prstGeom>
          <a:solidFill>
            <a:srgbClr val="F9AB00"/>
          </a:solidFill>
          <a:ln w="15875">
            <a:solidFill>
              <a:srgbClr val="FFFFFF"/>
            </a:solidFill>
            <a:prstDash val="solid"/>
          </a:ln>
        </p:spPr>
      </p:sp>
      <p:sp>
        <p:nvSpPr>
          <p:cNvPr id="25" name="Text 22"/>
          <p:cNvSpPr txBox="1"/>
          <p:nvPr/>
        </p:nvSpPr>
        <p:spPr>
          <a:xfrm>
            <a:off x="4096512" y="22951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6" name="Text 23"/>
          <p:cNvSpPr txBox="1"/>
          <p:nvPr/>
        </p:nvSpPr>
        <p:spPr>
          <a:xfrm>
            <a:off x="4617720" y="2231136"/>
            <a:ext cx="3749040" cy="47548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What's coming up this term</a:t>
            </a:r>
            <a:endParaRPr lang="en-US" sz="1400" dirty="0"/>
          </a:p>
        </p:txBody>
      </p:sp>
      <p:sp>
        <p:nvSpPr>
          <p:cNvPr id="27" name="Shape 24"/>
          <p:cNvSpPr/>
          <p:nvPr/>
        </p:nvSpPr>
        <p:spPr>
          <a:xfrm>
            <a:off x="4023360" y="2807208"/>
            <a:ext cx="4572000" cy="475488"/>
          </a:xfrm>
          <a:prstGeom prst="roundRect">
            <a:avLst>
              <a:gd name="adj" fmla="val 50000"/>
            </a:avLst>
          </a:prstGeom>
          <a:solidFill>
            <a:srgbClr val="1E1E1E"/>
          </a:solidFill>
          <a:ln w="12700">
            <a:solidFill>
              <a:srgbClr val="1E1E1E"/>
            </a:solidFill>
            <a:prstDash val="solid"/>
          </a:ln>
        </p:spPr>
      </p:sp>
      <p:sp>
        <p:nvSpPr>
          <p:cNvPr id="28" name="Shape 25"/>
          <p:cNvSpPr/>
          <p:nvPr/>
        </p:nvSpPr>
        <p:spPr>
          <a:xfrm>
            <a:off x="4096512" y="2871216"/>
            <a:ext cx="347472" cy="347472"/>
          </a:xfrm>
          <a:prstGeom prst="ellipse">
            <a:avLst/>
          </a:prstGeom>
          <a:solidFill>
            <a:srgbClr val="4285F4"/>
          </a:solidFill>
          <a:ln w="15875">
            <a:solidFill>
              <a:srgbClr val="FFFFFF"/>
            </a:solidFill>
            <a:prstDash val="solid"/>
          </a:ln>
        </p:spPr>
      </p:sp>
      <p:sp>
        <p:nvSpPr>
          <p:cNvPr id="29" name="Text 26"/>
          <p:cNvSpPr txBox="1"/>
          <p:nvPr/>
        </p:nvSpPr>
        <p:spPr>
          <a:xfrm>
            <a:off x="4096512" y="287121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7"/>
          <p:cNvSpPr txBox="1"/>
          <p:nvPr/>
        </p:nvSpPr>
        <p:spPr>
          <a:xfrm>
            <a:off x="4617720" y="2807208"/>
            <a:ext cx="3749040" cy="47548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Quick live demo</a:t>
            </a:r>
            <a:endParaRPr lang="en-US" sz="1400" dirty="0"/>
          </a:p>
        </p:txBody>
      </p:sp>
      <p:sp>
        <p:nvSpPr>
          <p:cNvPr id="31" name="Shape 28"/>
          <p:cNvSpPr/>
          <p:nvPr/>
        </p:nvSpPr>
        <p:spPr>
          <a:xfrm>
            <a:off x="4023360" y="3383280"/>
            <a:ext cx="4572000" cy="475488"/>
          </a:xfrm>
          <a:prstGeom prst="roundRect">
            <a:avLst>
              <a:gd name="adj" fmla="val 50000"/>
            </a:avLst>
          </a:prstGeom>
          <a:solidFill>
            <a:srgbClr val="1E1E1E"/>
          </a:solidFill>
          <a:ln w="12700">
            <a:solidFill>
              <a:srgbClr val="1E1E1E"/>
            </a:solidFill>
            <a:prstDash val="solid"/>
          </a:ln>
        </p:spPr>
      </p:sp>
      <p:sp>
        <p:nvSpPr>
          <p:cNvPr id="32" name="Shape 29"/>
          <p:cNvSpPr/>
          <p:nvPr/>
        </p:nvSpPr>
        <p:spPr>
          <a:xfrm>
            <a:off x="4096512" y="3447288"/>
            <a:ext cx="347472" cy="347472"/>
          </a:xfrm>
          <a:prstGeom prst="ellipse">
            <a:avLst/>
          </a:prstGeom>
          <a:solidFill>
            <a:srgbClr val="EA4335"/>
          </a:solidFill>
          <a:ln w="15875">
            <a:solidFill>
              <a:srgbClr val="FFFFFF"/>
            </a:solidFill>
            <a:prstDash val="solid"/>
          </a:ln>
        </p:spPr>
      </p:sp>
      <p:sp>
        <p:nvSpPr>
          <p:cNvPr id="33" name="Text 30"/>
          <p:cNvSpPr txBox="1"/>
          <p:nvPr/>
        </p:nvSpPr>
        <p:spPr>
          <a:xfrm>
            <a:off x="4096512" y="344728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4" name="Text 31"/>
          <p:cNvSpPr txBox="1"/>
          <p:nvPr/>
        </p:nvSpPr>
        <p:spPr>
          <a:xfrm>
            <a:off x="4617720" y="3383280"/>
            <a:ext cx="3749040" cy="47548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How to join</a:t>
            </a:r>
            <a:endParaRPr lang="en-US" sz="1400" dirty="0"/>
          </a:p>
        </p:txBody>
      </p:sp>
      <p:sp>
        <p:nvSpPr>
          <p:cNvPr id="35" name="Shape 32"/>
          <p:cNvSpPr/>
          <p:nvPr/>
        </p:nvSpPr>
        <p:spPr>
          <a:xfrm>
            <a:off x="4023360" y="3959352"/>
            <a:ext cx="4572000" cy="475488"/>
          </a:xfrm>
          <a:prstGeom prst="roundRect">
            <a:avLst>
              <a:gd name="adj" fmla="val 50000"/>
            </a:avLst>
          </a:prstGeom>
          <a:solidFill>
            <a:srgbClr val="1E1E1E"/>
          </a:solidFill>
          <a:ln w="12700">
            <a:solidFill>
              <a:srgbClr val="1E1E1E"/>
            </a:solidFill>
            <a:prstDash val="solid"/>
          </a:ln>
        </p:spPr>
      </p:sp>
      <p:sp>
        <p:nvSpPr>
          <p:cNvPr id="36" name="Shape 33"/>
          <p:cNvSpPr/>
          <p:nvPr/>
        </p:nvSpPr>
        <p:spPr>
          <a:xfrm>
            <a:off x="4096512" y="4023360"/>
            <a:ext cx="347472" cy="347472"/>
          </a:xfrm>
          <a:prstGeom prst="ellipse">
            <a:avLst/>
          </a:prstGeom>
          <a:solidFill>
            <a:srgbClr val="34A853"/>
          </a:solidFill>
          <a:ln w="15875">
            <a:solidFill>
              <a:srgbClr val="FFFFFF"/>
            </a:solidFill>
            <a:prstDash val="solid"/>
          </a:ln>
        </p:spPr>
      </p:sp>
      <p:sp>
        <p:nvSpPr>
          <p:cNvPr id="37" name="Text 34"/>
          <p:cNvSpPr txBox="1"/>
          <p:nvPr/>
        </p:nvSpPr>
        <p:spPr>
          <a:xfrm>
            <a:off x="4096512" y="40233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38" name="Text 35"/>
          <p:cNvSpPr txBox="1"/>
          <p:nvPr/>
        </p:nvSpPr>
        <p:spPr>
          <a:xfrm>
            <a:off x="4617720" y="3959352"/>
            <a:ext cx="3749040" cy="47548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Q&amp;A</a:t>
            </a:r>
            <a:endParaRPr lang="en-US" sz="1400" dirty="0"/>
          </a:p>
        </p:txBody>
      </p:sp>
      <p:pic>
        <p:nvPicPr>
          <p:cNvPr id="39" name="Image 0" descr="/Users/datta/Developer/gdg-seneca/deck-builder/brand/mark.png">    </p:cNvPr>
          <p:cNvPicPr>
            <a:picLocks noChangeAspect="1"/>
          </p:cNvPicPr>
          <p:nvPr/>
        </p:nvPicPr>
        <p:blipFill>
          <a:blip r:embed="rId1"/>
          <a:stretch>
            <a:fillRect/>
          </a:stretch>
        </p:blipFill>
        <p:spPr>
          <a:xfrm>
            <a:off x="548640" y="4727448"/>
            <a:ext cx="201168" cy="201168"/>
          </a:xfrm>
          <a:prstGeom prst="rect">
            <a:avLst/>
          </a:prstGeom>
        </p:spPr>
      </p:pic>
      <p:sp>
        <p:nvSpPr>
          <p:cNvPr id="40" name="Text 36"/>
          <p:cNvSpPr txBox="1"/>
          <p:nvPr/>
        </p:nvSpPr>
        <p:spPr>
          <a:xfrm>
            <a:off x="822960" y="4727448"/>
            <a:ext cx="3657600" cy="201168"/>
          </a:xfrm>
          <a:prstGeom prst="rect">
            <a:avLst/>
          </a:prstGeom>
          <a:noFill/>
          <a:ln/>
        </p:spPr>
        <p:txBody>
          <a:bodyPr wrap="square" lIns="0" tIns="0" rIns="0" bIns="0" rtlCol="0" anchor="ctr"/>
          <a:lstStyle/>
          <a:p>
            <a:pPr indent="0" marL="0">
              <a:buNone/>
            </a:pPr>
            <a:r>
              <a:rPr lang="en-US" sz="900" dirty="0">
                <a:solidFill>
                  <a:srgbClr val="5F6368"/>
                </a:solidFill>
                <a:latin typeface="Arial" pitchFamily="34" charset="0"/>
                <a:ea typeface="Arial" pitchFamily="34" charset="-122"/>
                <a:cs typeface="Arial" pitchFamily="34" charset="-120"/>
              </a:rPr>
              <a:t>GDG on Campus  ·  Seneca Polytechnic</a:t>
            </a:r>
            <a:endParaRPr lang="en-US" sz="900" dirty="0"/>
          </a:p>
        </p:txBody>
      </p:sp>
      <p:sp>
        <p:nvSpPr>
          <p:cNvPr id="41" name="Text 37"/>
          <p:cNvSpPr txBox="1"/>
          <p:nvPr/>
        </p:nvSpPr>
        <p:spPr>
          <a:xfrm>
            <a:off x="8138160" y="4727448"/>
            <a:ext cx="457200" cy="201168"/>
          </a:xfrm>
          <a:prstGeom prst="rect">
            <a:avLst/>
          </a:prstGeom>
          <a:noFill/>
          <a:ln/>
        </p:spPr>
        <p:txBody>
          <a:bodyPr wrap="square" lIns="0" tIns="0" rIns="0" bIns="0" rtlCol="0" anchor="ctr"/>
          <a:lstStyle/>
          <a:p>
            <a:pPr algn="r" indent="0" marL="0">
              <a:buNone/>
            </a:pPr>
            <a:r>
              <a:rPr lang="en-US" sz="900" b="1" dirty="0">
                <a:solidFill>
                  <a:srgbClr val="5F6368"/>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411480"/>
            <a:ext cx="1188720" cy="292608"/>
          </a:xfrm>
          <a:prstGeom prst="roundRect">
            <a:avLst>
              <a:gd name="adj" fmla="val 50000"/>
            </a:avLst>
          </a:prstGeom>
          <a:solidFill>
            <a:srgbClr val="FCE8E6"/>
          </a:solidFill>
          <a:ln w="15875">
            <a:solidFill>
              <a:srgbClr val="EA4335"/>
            </a:solidFill>
            <a:prstDash val="solid"/>
          </a:ln>
        </p:spPr>
      </p:sp>
      <p:sp>
        <p:nvSpPr>
          <p:cNvPr id="4" name="Text 1"/>
          <p:cNvSpPr txBox="1"/>
          <p:nvPr/>
        </p:nvSpPr>
        <p:spPr>
          <a:xfrm>
            <a:off x="548640" y="411480"/>
            <a:ext cx="1188720" cy="292608"/>
          </a:xfrm>
          <a:prstGeom prst="rect">
            <a:avLst/>
          </a:prstGeom>
          <a:noFill/>
          <a:ln/>
        </p:spPr>
        <p:txBody>
          <a:bodyPr wrap="square" lIns="0" tIns="0" rIns="0" bIns="0" rtlCol="0" anchor="ctr"/>
          <a:lstStyle/>
          <a:p>
            <a:pPr algn="ctr" indent="0" marL="0">
              <a:buNone/>
            </a:pPr>
            <a:r>
              <a:rPr lang="en-US" sz="900" b="1" spc="150" kern="0" dirty="0">
                <a:solidFill>
                  <a:srgbClr val="1E1E1E"/>
                </a:solidFill>
                <a:latin typeface="Arial" pitchFamily="34" charset="0"/>
                <a:ea typeface="Arial" pitchFamily="34" charset="-122"/>
                <a:cs typeface="Arial" pitchFamily="34" charset="-120"/>
              </a:rPr>
              <a:t>01  ABOUT</a:t>
            </a:r>
            <a:endParaRPr lang="en-US" sz="900" dirty="0"/>
          </a:p>
        </p:txBody>
      </p:sp>
      <p:sp>
        <p:nvSpPr>
          <p:cNvPr id="5" name="Text 2"/>
          <p:cNvSpPr txBox="1"/>
          <p:nvPr/>
        </p:nvSpPr>
        <p:spPr>
          <a:xfrm>
            <a:off x="548640" y="868680"/>
            <a:ext cx="3931920" cy="1234440"/>
          </a:xfrm>
          <a:prstGeom prst="rect">
            <a:avLst/>
          </a:prstGeom>
          <a:noFill/>
          <a:ln/>
        </p:spPr>
        <p:txBody>
          <a:bodyPr wrap="square" lIns="0" tIns="0" rIns="0" bIns="0" rtlCol="0" anchor="t"/>
          <a:lstStyle/>
          <a:p>
            <a:pPr indent="0" marL="0">
              <a:buNone/>
            </a:pPr>
            <a:r>
              <a:rPr lang="en-US" sz="2800" b="1" dirty="0">
                <a:solidFill>
                  <a:srgbClr val="1E1E1E"/>
                </a:solidFill>
                <a:latin typeface="Arial" pitchFamily="34" charset="0"/>
                <a:ea typeface="Arial" pitchFamily="34" charset="-122"/>
                <a:cs typeface="Arial" pitchFamily="34" charset="-120"/>
              </a:rPr>
              <a:t>A student club, supported by Google</a:t>
            </a:r>
            <a:endParaRPr lang="en-US" sz="2800" dirty="0"/>
          </a:p>
        </p:txBody>
      </p:sp>
      <p:sp>
        <p:nvSpPr>
          <p:cNvPr id="6" name="Text 3"/>
          <p:cNvSpPr txBox="1"/>
          <p:nvPr/>
        </p:nvSpPr>
        <p:spPr>
          <a:xfrm>
            <a:off x="548640" y="2240280"/>
            <a:ext cx="3657600" cy="822960"/>
          </a:xfrm>
          <a:prstGeom prst="rect">
            <a:avLst/>
          </a:prstGeom>
          <a:noFill/>
          <a:ln/>
        </p:spPr>
        <p:txBody>
          <a:bodyPr wrap="square" lIns="0" tIns="0" rIns="0" bIns="0" rtlCol="0" anchor="ctr"/>
          <a:lstStyle/>
          <a:p>
            <a:pPr indent="0" marL="0">
              <a:buNone/>
            </a:pPr>
            <a:r>
              <a:rPr lang="en-US" sz="1400" dirty="0">
                <a:solidFill>
                  <a:srgbClr val="5F6368"/>
                </a:solidFill>
                <a:latin typeface="Arial" pitchFamily="34" charset="0"/>
                <a:ea typeface="Arial" pitchFamily="34" charset="-122"/>
                <a:cs typeface="Arial" pitchFamily="34" charset="-120"/>
              </a:rPr>
              <a:t>There are GDG on Campus chapters at schools all over the world. We're the one at Seneca.</a:t>
            </a:r>
            <a:endParaRPr lang="en-US" sz="1400" dirty="0"/>
          </a:p>
        </p:txBody>
      </p:sp>
      <p:sp>
        <p:nvSpPr>
          <p:cNvPr id="7" name="Shape 4"/>
          <p:cNvSpPr/>
          <p:nvPr/>
        </p:nvSpPr>
        <p:spPr>
          <a:xfrm>
            <a:off x="548640" y="3200400"/>
            <a:ext cx="3657600" cy="1097280"/>
          </a:xfrm>
          <a:prstGeom prst="roundRect">
            <a:avLst>
              <a:gd name="adj" fmla="val 11667"/>
            </a:avLst>
          </a:prstGeom>
          <a:solidFill>
            <a:srgbClr val="FEF7E0"/>
          </a:solidFill>
          <a:ln w="12700">
            <a:solidFill>
              <a:srgbClr val="FEF7E0"/>
            </a:solidFill>
            <a:prstDash val="solid"/>
          </a:ln>
        </p:spPr>
      </p:sp>
      <p:sp>
        <p:nvSpPr>
          <p:cNvPr id="8" name="Text 5"/>
          <p:cNvSpPr txBox="1"/>
          <p:nvPr/>
        </p:nvSpPr>
        <p:spPr>
          <a:xfrm>
            <a:off x="731520" y="3291840"/>
            <a:ext cx="3337560" cy="640080"/>
          </a:xfrm>
          <a:prstGeom prst="rect">
            <a:avLst/>
          </a:prstGeom>
          <a:noFill/>
          <a:ln/>
        </p:spPr>
        <p:txBody>
          <a:bodyPr wrap="square" lIns="0" tIns="0" rIns="0" bIns="0" rtlCol="0" anchor="t"/>
          <a:lstStyle/>
          <a:p>
            <a:pPr indent="0" marL="0">
              <a:buNone/>
            </a:pPr>
            <a:r>
              <a:rPr lang="en-US" sz="1200" b="1" dirty="0">
                <a:solidFill>
                  <a:srgbClr val="1E1E1E"/>
                </a:solidFill>
                <a:latin typeface="Arial" pitchFamily="34" charset="0"/>
                <a:ea typeface="Arial" pitchFamily="34" charset="-122"/>
                <a:cs typeface="Arial" pitchFamily="34" charset="-120"/>
              </a:rPr>
              <a:t>Heard of GDSC?</a:t>
            </a:r>
            <a:endParaRPr lang="en-US" sz="1200" dirty="0"/>
          </a:p>
          <a:p>
            <a:pPr indent="0" marL="0">
              <a:buNone/>
            </a:pPr>
            <a:r>
              <a:rPr lang="en-US" sz="1200" dirty="0">
                <a:solidFill>
                  <a:srgbClr val="1E1E1E"/>
                </a:solidFill>
                <a:latin typeface="Arial" pitchFamily="34" charset="0"/>
                <a:ea typeface="Arial" pitchFamily="34" charset="-122"/>
                <a:cs typeface="Arial" pitchFamily="34" charset="-120"/>
              </a:rPr>
              <a:t>That's us. Google Developer Student Clubs got renamed to GDG on Campus in 2024.</a:t>
            </a:r>
            <a:endParaRPr lang="en-US" sz="1200" dirty="0"/>
          </a:p>
        </p:txBody>
      </p:sp>
      <p:sp>
        <p:nvSpPr>
          <p:cNvPr id="9" name="Text 6"/>
          <p:cNvSpPr txBox="1"/>
          <p:nvPr/>
        </p:nvSpPr>
        <p:spPr>
          <a:xfrm>
            <a:off x="731520" y="3959352"/>
            <a:ext cx="3291840" cy="228600"/>
          </a:xfrm>
          <a:prstGeom prst="rect">
            <a:avLst/>
          </a:prstGeom>
          <a:noFill/>
          <a:ln/>
        </p:spPr>
        <p:txBody>
          <a:bodyPr wrap="square" lIns="0" tIns="0" rIns="0" bIns="0" rtlCol="0" anchor="ctr"/>
          <a:lstStyle/>
          <a:p>
            <a:pPr indent="0" marL="0">
              <a:buNone/>
            </a:pPr>
            <a:r>
              <a:rPr lang="en-US" sz="1050" b="1" u="sng" dirty="0">
                <a:solidFill>
                  <a:srgbClr val="4285F4"/>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See other chapters  →</a:t>
            </a:r>
            <a:endParaRPr lang="en-US" sz="1050" dirty="0"/>
          </a:p>
        </p:txBody>
      </p:sp>
      <p:sp>
        <p:nvSpPr>
          <p:cNvPr id="10" name="Shape 7"/>
          <p:cNvSpPr/>
          <p:nvPr/>
        </p:nvSpPr>
        <p:spPr>
          <a:xfrm>
            <a:off x="4663440" y="548640"/>
            <a:ext cx="3931920" cy="1170432"/>
          </a:xfrm>
          <a:prstGeom prst="roundRect">
            <a:avLst>
              <a:gd name="adj" fmla="val 10938"/>
            </a:avLst>
          </a:prstGeom>
          <a:solidFill>
            <a:srgbClr val="E8F0FE"/>
          </a:solidFill>
          <a:ln w="12700">
            <a:solidFill>
              <a:srgbClr val="E8F0FE"/>
            </a:solidFill>
            <a:prstDash val="solid"/>
          </a:ln>
        </p:spPr>
      </p:sp>
      <p:sp>
        <p:nvSpPr>
          <p:cNvPr id="11" name="Shape 8"/>
          <p:cNvSpPr/>
          <p:nvPr/>
        </p:nvSpPr>
        <p:spPr>
          <a:xfrm>
            <a:off x="4846320" y="877824"/>
            <a:ext cx="502920" cy="502920"/>
          </a:xfrm>
          <a:prstGeom prst="ellipse">
            <a:avLst/>
          </a:prstGeom>
          <a:solidFill>
            <a:srgbClr val="4285F4"/>
          </a:solidFill>
          <a:ln w="12700">
            <a:solidFill>
              <a:srgbClr val="4285F4"/>
            </a:solidFill>
            <a:prstDash val="solid"/>
          </a:ln>
        </p:spPr>
      </p:sp>
      <p:pic>
        <p:nvPicPr>
          <p:cNvPr id="12" name="Image 0" descr="preencoded.png">    </p:cNvPr>
          <p:cNvPicPr>
            <a:picLocks noChangeAspect="1"/>
          </p:cNvPicPr>
          <p:nvPr/>
        </p:nvPicPr>
        <p:blipFill>
          <a:blip r:embed="rId2"/>
          <a:stretch>
            <a:fillRect/>
          </a:stretch>
        </p:blipFill>
        <p:spPr>
          <a:xfrm>
            <a:off x="4924776" y="956280"/>
            <a:ext cx="346009" cy="346009"/>
          </a:xfrm>
          <a:prstGeom prst="rect">
            <a:avLst/>
          </a:prstGeom>
        </p:spPr>
      </p:pic>
      <p:sp>
        <p:nvSpPr>
          <p:cNvPr id="13" name="Text 9"/>
          <p:cNvSpPr txBox="1"/>
          <p:nvPr/>
        </p:nvSpPr>
        <p:spPr>
          <a:xfrm>
            <a:off x="5532120" y="658368"/>
            <a:ext cx="2926080" cy="292608"/>
          </a:xfrm>
          <a:prstGeom prst="rect">
            <a:avLst/>
          </a:prstGeom>
          <a:noFill/>
          <a:ln/>
        </p:spPr>
        <p:txBody>
          <a:bodyPr wrap="square" lIns="0" tIns="0" rIns="0" bIns="0" rtlCol="0" anchor="ctr"/>
          <a:lstStyle/>
          <a:p>
            <a:pPr indent="0" marL="0">
              <a:buNone/>
            </a:pPr>
            <a:r>
              <a:rPr lang="en-US" sz="1500" b="1" dirty="0">
                <a:solidFill>
                  <a:srgbClr val="1E1E1E"/>
                </a:solidFill>
                <a:latin typeface="Arial" pitchFamily="34" charset="0"/>
                <a:ea typeface="Arial" pitchFamily="34" charset="-122"/>
                <a:cs typeface="Arial" pitchFamily="34" charset="-120"/>
              </a:rPr>
              <a:t>Supported by Google</a:t>
            </a:r>
            <a:endParaRPr lang="en-US" sz="1500" dirty="0"/>
          </a:p>
        </p:txBody>
      </p:sp>
      <p:sp>
        <p:nvSpPr>
          <p:cNvPr id="14" name="Text 10"/>
          <p:cNvSpPr txBox="1"/>
          <p:nvPr/>
        </p:nvSpPr>
        <p:spPr>
          <a:xfrm>
            <a:off x="5532120" y="950976"/>
            <a:ext cx="2926080" cy="457200"/>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Google gives us the program, the branding, and some resources for events.</a:t>
            </a:r>
            <a:endParaRPr lang="en-US" sz="1100" dirty="0"/>
          </a:p>
        </p:txBody>
      </p:sp>
      <p:sp>
        <p:nvSpPr>
          <p:cNvPr id="15" name="Text 11"/>
          <p:cNvSpPr txBox="1"/>
          <p:nvPr/>
        </p:nvSpPr>
        <p:spPr>
          <a:xfrm>
            <a:off x="5532120" y="1426464"/>
            <a:ext cx="2926080" cy="219456"/>
          </a:xfrm>
          <a:prstGeom prst="rect">
            <a:avLst/>
          </a:prstGeom>
          <a:noFill/>
          <a:ln/>
        </p:spPr>
        <p:txBody>
          <a:bodyPr wrap="square" lIns="0" tIns="0" rIns="0" bIns="0" rtlCol="0" anchor="ctr"/>
          <a:lstStyle/>
          <a:p>
            <a:pPr indent="0" marL="0">
              <a:buNone/>
            </a:pPr>
            <a:r>
              <a:rPr lang="en-US" sz="1050" b="1" u="sng" dirty="0">
                <a:solidFill>
                  <a:srgbClr val="4285F4"/>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Google's community programs  →</a:t>
            </a:r>
            <a:endParaRPr lang="en-US" sz="1050" dirty="0"/>
          </a:p>
        </p:txBody>
      </p:sp>
      <p:sp>
        <p:nvSpPr>
          <p:cNvPr id="16" name="Shape 12"/>
          <p:cNvSpPr/>
          <p:nvPr/>
        </p:nvSpPr>
        <p:spPr>
          <a:xfrm>
            <a:off x="4663440" y="1847088"/>
            <a:ext cx="3931920" cy="1170432"/>
          </a:xfrm>
          <a:prstGeom prst="roundRect">
            <a:avLst>
              <a:gd name="adj" fmla="val 10938"/>
            </a:avLst>
          </a:prstGeom>
          <a:solidFill>
            <a:srgbClr val="E6F4EA"/>
          </a:solidFill>
          <a:ln w="12700">
            <a:solidFill>
              <a:srgbClr val="E6F4EA"/>
            </a:solidFill>
            <a:prstDash val="solid"/>
          </a:ln>
        </p:spPr>
      </p:sp>
      <p:sp>
        <p:nvSpPr>
          <p:cNvPr id="17" name="Shape 13"/>
          <p:cNvSpPr/>
          <p:nvPr/>
        </p:nvSpPr>
        <p:spPr>
          <a:xfrm>
            <a:off x="4846320" y="2176272"/>
            <a:ext cx="502920" cy="502920"/>
          </a:xfrm>
          <a:prstGeom prst="ellipse">
            <a:avLst/>
          </a:prstGeom>
          <a:solidFill>
            <a:srgbClr val="34A853"/>
          </a:solidFill>
          <a:ln w="12700">
            <a:solidFill>
              <a:srgbClr val="34A853"/>
            </a:solidFill>
            <a:prstDash val="solid"/>
          </a:ln>
        </p:spPr>
      </p:sp>
      <p:pic>
        <p:nvPicPr>
          <p:cNvPr id="18" name="Image 1" descr="preencoded.png">    </p:cNvPr>
          <p:cNvPicPr>
            <a:picLocks noChangeAspect="1"/>
          </p:cNvPicPr>
          <p:nvPr/>
        </p:nvPicPr>
        <p:blipFill>
          <a:blip r:embed="rId4"/>
          <a:stretch>
            <a:fillRect/>
          </a:stretch>
        </p:blipFill>
        <p:spPr>
          <a:xfrm>
            <a:off x="4924776" y="2254728"/>
            <a:ext cx="346009" cy="346009"/>
          </a:xfrm>
          <a:prstGeom prst="rect">
            <a:avLst/>
          </a:prstGeom>
        </p:spPr>
      </p:pic>
      <p:sp>
        <p:nvSpPr>
          <p:cNvPr id="19" name="Text 14"/>
          <p:cNvSpPr txBox="1"/>
          <p:nvPr/>
        </p:nvSpPr>
        <p:spPr>
          <a:xfrm>
            <a:off x="5532120" y="1956816"/>
            <a:ext cx="2926080" cy="292608"/>
          </a:xfrm>
          <a:prstGeom prst="rect">
            <a:avLst/>
          </a:prstGeom>
          <a:noFill/>
          <a:ln/>
        </p:spPr>
        <p:txBody>
          <a:bodyPr wrap="square" lIns="0" tIns="0" rIns="0" bIns="0" rtlCol="0" anchor="ctr"/>
          <a:lstStyle/>
          <a:p>
            <a:pPr indent="0" marL="0">
              <a:buNone/>
            </a:pPr>
            <a:r>
              <a:rPr lang="en-US" sz="1500" b="1" dirty="0">
                <a:solidFill>
                  <a:srgbClr val="1E1E1E"/>
                </a:solidFill>
                <a:latin typeface="Arial" pitchFamily="34" charset="0"/>
                <a:ea typeface="Arial" pitchFamily="34" charset="-122"/>
                <a:cs typeface="Arial" pitchFamily="34" charset="-120"/>
              </a:rPr>
              <a:t>Run by students</a:t>
            </a:r>
            <a:endParaRPr lang="en-US" sz="1500" dirty="0"/>
          </a:p>
        </p:txBody>
      </p:sp>
      <p:sp>
        <p:nvSpPr>
          <p:cNvPr id="20" name="Text 15"/>
          <p:cNvSpPr txBox="1"/>
          <p:nvPr/>
        </p:nvSpPr>
        <p:spPr>
          <a:xfrm>
            <a:off x="5532120" y="2249424"/>
            <a:ext cx="2926080" cy="457200"/>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Students run everything, so we get to pick the events and projects.</a:t>
            </a:r>
            <a:endParaRPr lang="en-US" sz="1100" dirty="0"/>
          </a:p>
        </p:txBody>
      </p:sp>
      <p:sp>
        <p:nvSpPr>
          <p:cNvPr id="21" name="Text 16"/>
          <p:cNvSpPr txBox="1"/>
          <p:nvPr/>
        </p:nvSpPr>
        <p:spPr>
          <a:xfrm>
            <a:off x="5532120" y="2724912"/>
            <a:ext cx="2926080" cy="219456"/>
          </a:xfrm>
          <a:prstGeom prst="rect">
            <a:avLst/>
          </a:prstGeom>
          <a:noFill/>
          <a:ln/>
        </p:spPr>
        <p:txBody>
          <a:bodyPr wrap="square" lIns="0" tIns="0" rIns="0" bIns="0" rtlCol="0" anchor="ctr"/>
          <a:lstStyle/>
          <a:p>
            <a:pPr indent="0" marL="0">
              <a:buNone/>
            </a:pPr>
            <a:r>
              <a:rPr lang="en-US" sz="1050" b="1" u="sng" dirty="0">
                <a:solidFill>
                  <a:srgbClr val="4285F4"/>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Our chapter page  →</a:t>
            </a:r>
            <a:endParaRPr lang="en-US" sz="1050" dirty="0"/>
          </a:p>
        </p:txBody>
      </p:sp>
      <p:sp>
        <p:nvSpPr>
          <p:cNvPr id="22" name="Shape 17"/>
          <p:cNvSpPr/>
          <p:nvPr/>
        </p:nvSpPr>
        <p:spPr>
          <a:xfrm>
            <a:off x="4663440" y="3145536"/>
            <a:ext cx="3931920" cy="1170432"/>
          </a:xfrm>
          <a:prstGeom prst="roundRect">
            <a:avLst>
              <a:gd name="adj" fmla="val 10938"/>
            </a:avLst>
          </a:prstGeom>
          <a:solidFill>
            <a:srgbClr val="FCE8E6"/>
          </a:solidFill>
          <a:ln w="12700">
            <a:solidFill>
              <a:srgbClr val="FCE8E6"/>
            </a:solidFill>
            <a:prstDash val="solid"/>
          </a:ln>
        </p:spPr>
      </p:sp>
      <p:sp>
        <p:nvSpPr>
          <p:cNvPr id="23" name="Shape 18"/>
          <p:cNvSpPr/>
          <p:nvPr/>
        </p:nvSpPr>
        <p:spPr>
          <a:xfrm>
            <a:off x="4846320" y="3474720"/>
            <a:ext cx="502920" cy="502920"/>
          </a:xfrm>
          <a:prstGeom prst="ellipse">
            <a:avLst/>
          </a:prstGeom>
          <a:solidFill>
            <a:srgbClr val="EA4335"/>
          </a:solidFill>
          <a:ln w="12700">
            <a:solidFill>
              <a:srgbClr val="EA4335"/>
            </a:solidFill>
            <a:prstDash val="solid"/>
          </a:ln>
        </p:spPr>
      </p:sp>
      <p:pic>
        <p:nvPicPr>
          <p:cNvPr id="24" name="Image 2" descr="preencoded.png">    </p:cNvPr>
          <p:cNvPicPr>
            <a:picLocks noChangeAspect="1"/>
          </p:cNvPicPr>
          <p:nvPr/>
        </p:nvPicPr>
        <p:blipFill>
          <a:blip r:embed="rId6"/>
          <a:stretch>
            <a:fillRect/>
          </a:stretch>
        </p:blipFill>
        <p:spPr>
          <a:xfrm>
            <a:off x="4924776" y="3553176"/>
            <a:ext cx="346009" cy="346009"/>
          </a:xfrm>
          <a:prstGeom prst="rect">
            <a:avLst/>
          </a:prstGeom>
        </p:spPr>
      </p:pic>
      <p:sp>
        <p:nvSpPr>
          <p:cNvPr id="25" name="Text 19"/>
          <p:cNvSpPr txBox="1"/>
          <p:nvPr/>
        </p:nvSpPr>
        <p:spPr>
          <a:xfrm>
            <a:off x="5532120" y="3255264"/>
            <a:ext cx="2926080" cy="292608"/>
          </a:xfrm>
          <a:prstGeom prst="rect">
            <a:avLst/>
          </a:prstGeom>
          <a:noFill/>
          <a:ln/>
        </p:spPr>
        <p:txBody>
          <a:bodyPr wrap="square" lIns="0" tIns="0" rIns="0" bIns="0" rtlCol="0" anchor="ctr"/>
          <a:lstStyle/>
          <a:p>
            <a:pPr indent="0" marL="0">
              <a:buNone/>
            </a:pPr>
            <a:r>
              <a:rPr lang="en-US" sz="1500" b="1" dirty="0">
                <a:solidFill>
                  <a:srgbClr val="1E1E1E"/>
                </a:solidFill>
                <a:latin typeface="Arial" pitchFamily="34" charset="0"/>
                <a:ea typeface="Arial" pitchFamily="34" charset="-122"/>
                <a:cs typeface="Arial" pitchFamily="34" charset="-120"/>
              </a:rPr>
              <a:t>Learn by doing</a:t>
            </a:r>
            <a:endParaRPr lang="en-US" sz="1500" dirty="0"/>
          </a:p>
        </p:txBody>
      </p:sp>
      <p:sp>
        <p:nvSpPr>
          <p:cNvPr id="26" name="Text 20"/>
          <p:cNvSpPr txBox="1"/>
          <p:nvPr/>
        </p:nvSpPr>
        <p:spPr>
          <a:xfrm>
            <a:off x="5532120" y="3547872"/>
            <a:ext cx="2926080" cy="457200"/>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We learn Google tech by making things and helping each other out.</a:t>
            </a:r>
            <a:endParaRPr lang="en-US" sz="1100" dirty="0"/>
          </a:p>
        </p:txBody>
      </p:sp>
      <p:sp>
        <p:nvSpPr>
          <p:cNvPr id="27" name="Text 21"/>
          <p:cNvSpPr txBox="1"/>
          <p:nvPr/>
        </p:nvSpPr>
        <p:spPr>
          <a:xfrm>
            <a:off x="5532120" y="4023360"/>
            <a:ext cx="2926080" cy="219456"/>
          </a:xfrm>
          <a:prstGeom prst="rect">
            <a:avLst/>
          </a:prstGeom>
          <a:noFill/>
          <a:ln/>
        </p:spPr>
        <p:txBody>
          <a:bodyPr wrap="square" lIns="0" tIns="0" rIns="0" bIns="0" rtlCol="0" anchor="ctr"/>
          <a:lstStyle/>
          <a:p>
            <a:pPr indent="0" marL="0">
              <a:buNone/>
            </a:pPr>
            <a:r>
              <a:rPr lang="en-US" sz="1050" b="1" u="sng" dirty="0">
                <a:solidFill>
                  <a:srgbClr val="4285F4"/>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Google Developer Program  →</a:t>
            </a:r>
            <a:endParaRPr lang="en-US" sz="1050" dirty="0"/>
          </a:p>
        </p:txBody>
      </p:sp>
      <p:pic>
        <p:nvPicPr>
          <p:cNvPr id="28" name="Image 3" descr="/Users/datta/Developer/gdg-seneca/deck-builder/brand/mark.png">    </p:cNvPr>
          <p:cNvPicPr>
            <a:picLocks noChangeAspect="1"/>
          </p:cNvPicPr>
          <p:nvPr/>
        </p:nvPicPr>
        <p:blipFill>
          <a:blip r:embed="rId8"/>
          <a:stretch>
            <a:fillRect/>
          </a:stretch>
        </p:blipFill>
        <p:spPr>
          <a:xfrm>
            <a:off x="548640" y="4727448"/>
            <a:ext cx="201168" cy="201168"/>
          </a:xfrm>
          <a:prstGeom prst="rect">
            <a:avLst/>
          </a:prstGeom>
        </p:spPr>
      </p:pic>
      <p:sp>
        <p:nvSpPr>
          <p:cNvPr id="29" name="Text 22"/>
          <p:cNvSpPr txBox="1"/>
          <p:nvPr/>
        </p:nvSpPr>
        <p:spPr>
          <a:xfrm>
            <a:off x="822960" y="4727448"/>
            <a:ext cx="3657600" cy="201168"/>
          </a:xfrm>
          <a:prstGeom prst="rect">
            <a:avLst/>
          </a:prstGeom>
          <a:noFill/>
          <a:ln/>
        </p:spPr>
        <p:txBody>
          <a:bodyPr wrap="square" lIns="0" tIns="0" rIns="0" bIns="0" rtlCol="0" anchor="ctr"/>
          <a:lstStyle/>
          <a:p>
            <a:pPr indent="0" marL="0">
              <a:buNone/>
            </a:pPr>
            <a:r>
              <a:rPr lang="en-US" sz="900" dirty="0">
                <a:solidFill>
                  <a:srgbClr val="5F6368"/>
                </a:solidFill>
                <a:latin typeface="Arial" pitchFamily="34" charset="0"/>
                <a:ea typeface="Arial" pitchFamily="34" charset="-122"/>
                <a:cs typeface="Arial" pitchFamily="34" charset="-120"/>
              </a:rPr>
              <a:t>GDG on Campus  ·  Seneca Polytechnic</a:t>
            </a:r>
            <a:endParaRPr lang="en-US" sz="900" dirty="0"/>
          </a:p>
        </p:txBody>
      </p:sp>
      <p:sp>
        <p:nvSpPr>
          <p:cNvPr id="30" name="Text 23"/>
          <p:cNvSpPr txBox="1"/>
          <p:nvPr/>
        </p:nvSpPr>
        <p:spPr>
          <a:xfrm>
            <a:off x="8138160" y="4727448"/>
            <a:ext cx="457200" cy="201168"/>
          </a:xfrm>
          <a:prstGeom prst="rect">
            <a:avLst/>
          </a:prstGeom>
          <a:noFill/>
          <a:ln/>
        </p:spPr>
        <p:txBody>
          <a:bodyPr wrap="square" lIns="0" tIns="0" rIns="0" bIns="0" rtlCol="0" anchor="ctr"/>
          <a:lstStyle/>
          <a:p>
            <a:pPr algn="r" indent="0" marL="0">
              <a:buNone/>
            </a:pPr>
            <a:r>
              <a:rPr lang="en-US" sz="900" b="1" dirty="0">
                <a:solidFill>
                  <a:srgbClr val="5F6368"/>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411480"/>
            <a:ext cx="1645920" cy="292608"/>
          </a:xfrm>
          <a:prstGeom prst="roundRect">
            <a:avLst>
              <a:gd name="adj" fmla="val 50000"/>
            </a:avLst>
          </a:prstGeom>
          <a:solidFill>
            <a:srgbClr val="E6F4EA"/>
          </a:solidFill>
          <a:ln w="15875">
            <a:solidFill>
              <a:srgbClr val="34A853"/>
            </a:solidFill>
            <a:prstDash val="solid"/>
          </a:ln>
        </p:spPr>
      </p:sp>
      <p:sp>
        <p:nvSpPr>
          <p:cNvPr id="4" name="Text 1"/>
          <p:cNvSpPr txBox="1"/>
          <p:nvPr/>
        </p:nvSpPr>
        <p:spPr>
          <a:xfrm>
            <a:off x="548640" y="411480"/>
            <a:ext cx="1645920" cy="292608"/>
          </a:xfrm>
          <a:prstGeom prst="rect">
            <a:avLst/>
          </a:prstGeom>
          <a:noFill/>
          <a:ln/>
        </p:spPr>
        <p:txBody>
          <a:bodyPr wrap="square" lIns="0" tIns="0" rIns="0" bIns="0" rtlCol="0" anchor="ctr"/>
          <a:lstStyle/>
          <a:p>
            <a:pPr algn="ctr" indent="0" marL="0">
              <a:buNone/>
            </a:pPr>
            <a:r>
              <a:rPr lang="en-US" sz="900" b="1" spc="150" kern="0" dirty="0">
                <a:solidFill>
                  <a:srgbClr val="1E1E1E"/>
                </a:solidFill>
                <a:latin typeface="Arial" pitchFamily="34" charset="0"/>
                <a:ea typeface="Arial" pitchFamily="34" charset="-122"/>
                <a:cs typeface="Arial" pitchFamily="34" charset="-120"/>
              </a:rPr>
              <a:t>02  WHO WE ARE</a:t>
            </a:r>
            <a:endParaRPr lang="en-US" sz="900" dirty="0"/>
          </a:p>
        </p:txBody>
      </p:sp>
      <p:sp>
        <p:nvSpPr>
          <p:cNvPr id="5" name="Text 2"/>
          <p:cNvSpPr txBox="1"/>
          <p:nvPr/>
        </p:nvSpPr>
        <p:spPr>
          <a:xfrm>
            <a:off x="548640" y="868680"/>
            <a:ext cx="8046720" cy="731520"/>
          </a:xfrm>
          <a:prstGeom prst="rect">
            <a:avLst/>
          </a:prstGeom>
          <a:noFill/>
          <a:ln/>
        </p:spPr>
        <p:txBody>
          <a:bodyPr wrap="square" lIns="0" tIns="0" rIns="0" bIns="0" rtlCol="0" anchor="t"/>
          <a:lstStyle/>
          <a:p>
            <a:pPr indent="0" marL="0">
              <a:buNone/>
            </a:pPr>
            <a:r>
              <a:rPr lang="en-US" sz="3200" b="1" dirty="0">
                <a:solidFill>
                  <a:srgbClr val="1E1E1E"/>
                </a:solidFill>
                <a:latin typeface="Arial" pitchFamily="34" charset="0"/>
                <a:ea typeface="Arial" pitchFamily="34" charset="-122"/>
                <a:cs typeface="Arial" pitchFamily="34" charset="-120"/>
              </a:rPr>
              <a:t>Meet the team</a:t>
            </a:r>
            <a:endParaRPr lang="en-US" sz="3200" dirty="0"/>
          </a:p>
        </p:txBody>
      </p:sp>
      <p:sp>
        <p:nvSpPr>
          <p:cNvPr id="6" name="Shape 3"/>
          <p:cNvSpPr/>
          <p:nvPr/>
        </p:nvSpPr>
        <p:spPr>
          <a:xfrm>
            <a:off x="484632" y="1764792"/>
            <a:ext cx="1115568" cy="1115568"/>
          </a:xfrm>
          <a:prstGeom prst="ellipse">
            <a:avLst/>
          </a:prstGeom>
          <a:solidFill>
            <a:srgbClr val="4285F4"/>
          </a:solidFill>
          <a:ln w="19050">
            <a:solidFill>
              <a:srgbClr val="1E1E1E"/>
            </a:solidFill>
            <a:prstDash val="solid"/>
          </a:ln>
        </p:spPr>
      </p:sp>
      <p:sp>
        <p:nvSpPr>
          <p:cNvPr id="7" name="Shape 4"/>
          <p:cNvSpPr/>
          <p:nvPr/>
        </p:nvSpPr>
        <p:spPr>
          <a:xfrm>
            <a:off x="548640" y="1828800"/>
            <a:ext cx="987552" cy="987552"/>
          </a:xfrm>
          <a:prstGeom prst="ellipse">
            <a:avLst/>
          </a:prstGeom>
          <a:solidFill>
            <a:srgbClr val="1E1E1E"/>
          </a:solidFill>
          <a:ln w="12700">
            <a:solidFill>
              <a:srgbClr val="1E1E1E"/>
            </a:solidFill>
            <a:prstDash val="solid"/>
          </a:ln>
        </p:spPr>
      </p:sp>
      <p:sp>
        <p:nvSpPr>
          <p:cNvPr id="8" name="Text 5"/>
          <p:cNvSpPr txBox="1"/>
          <p:nvPr/>
        </p:nvSpPr>
        <p:spPr>
          <a:xfrm>
            <a:off x="548640" y="1828800"/>
            <a:ext cx="987552" cy="987552"/>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OK</a:t>
            </a:r>
            <a:endParaRPr lang="en-US" sz="2600" dirty="0"/>
          </a:p>
        </p:txBody>
      </p:sp>
      <p:sp>
        <p:nvSpPr>
          <p:cNvPr id="9" name="Text 6"/>
          <p:cNvSpPr txBox="1"/>
          <p:nvPr/>
        </p:nvSpPr>
        <p:spPr>
          <a:xfrm>
            <a:off x="274320" y="3017520"/>
            <a:ext cx="1536192" cy="274320"/>
          </a:xfrm>
          <a:prstGeom prst="rect">
            <a:avLst/>
          </a:prstGeom>
          <a:noFill/>
          <a:ln/>
        </p:spPr>
        <p:txBody>
          <a:bodyPr wrap="square" lIns="0" tIns="0" rIns="0" bIns="0" rtlCol="0" anchor="t"/>
          <a:lstStyle/>
          <a:p>
            <a:pPr algn="ctr" indent="0" marL="0">
              <a:buNone/>
            </a:pPr>
            <a:r>
              <a:rPr lang="en-US" sz="1100" b="1" dirty="0">
                <a:solidFill>
                  <a:srgbClr val="1E1E1E"/>
                </a:solidFill>
                <a:latin typeface="Arial" pitchFamily="34" charset="0"/>
                <a:ea typeface="Arial" pitchFamily="34" charset="-122"/>
                <a:cs typeface="Arial" pitchFamily="34" charset="-120"/>
              </a:rPr>
              <a:t>Osman Kahraman</a:t>
            </a:r>
            <a:endParaRPr lang="en-US" sz="1100" dirty="0"/>
          </a:p>
        </p:txBody>
      </p:sp>
      <p:sp>
        <p:nvSpPr>
          <p:cNvPr id="10" name="Text 7"/>
          <p:cNvSpPr txBox="1"/>
          <p:nvPr/>
        </p:nvSpPr>
        <p:spPr>
          <a:xfrm>
            <a:off x="274320" y="3291840"/>
            <a:ext cx="1536192" cy="274320"/>
          </a:xfrm>
          <a:prstGeom prst="rect">
            <a:avLst/>
          </a:prstGeom>
          <a:noFill/>
          <a:ln/>
        </p:spPr>
        <p:txBody>
          <a:bodyPr wrap="square" lIns="0" tIns="0" rIns="0" bIns="0" rtlCol="0" anchor="ctr"/>
          <a:lstStyle/>
          <a:p>
            <a:pPr algn="ctr" indent="0" marL="0">
              <a:buNone/>
            </a:pPr>
            <a:r>
              <a:rPr lang="en-US" sz="1050" dirty="0">
                <a:solidFill>
                  <a:srgbClr val="5F6368"/>
                </a:solidFill>
                <a:latin typeface="Arial" pitchFamily="34" charset="0"/>
                <a:ea typeface="Arial" pitchFamily="34" charset="-122"/>
                <a:cs typeface="Arial" pitchFamily="34" charset="-120"/>
              </a:rPr>
              <a:t>Chapter Lead</a:t>
            </a:r>
            <a:endParaRPr lang="en-US" sz="1050" dirty="0"/>
          </a:p>
        </p:txBody>
      </p:sp>
      <p:sp>
        <p:nvSpPr>
          <p:cNvPr id="11" name="Shape 8"/>
          <p:cNvSpPr/>
          <p:nvPr/>
        </p:nvSpPr>
        <p:spPr>
          <a:xfrm>
            <a:off x="1896466" y="1764792"/>
            <a:ext cx="1115568" cy="1115568"/>
          </a:xfrm>
          <a:prstGeom prst="ellipse">
            <a:avLst/>
          </a:prstGeom>
          <a:solidFill>
            <a:srgbClr val="EA4335"/>
          </a:solidFill>
          <a:ln w="19050">
            <a:solidFill>
              <a:srgbClr val="1E1E1E"/>
            </a:solidFill>
            <a:prstDash val="solid"/>
          </a:ln>
        </p:spPr>
      </p:sp>
      <p:sp>
        <p:nvSpPr>
          <p:cNvPr id="12" name="Shape 9"/>
          <p:cNvSpPr/>
          <p:nvPr/>
        </p:nvSpPr>
        <p:spPr>
          <a:xfrm>
            <a:off x="1960474" y="1828800"/>
            <a:ext cx="987552" cy="987552"/>
          </a:xfrm>
          <a:prstGeom prst="ellipse">
            <a:avLst/>
          </a:prstGeom>
          <a:solidFill>
            <a:srgbClr val="1E1E1E"/>
          </a:solidFill>
          <a:ln w="12700">
            <a:solidFill>
              <a:srgbClr val="1E1E1E"/>
            </a:solidFill>
            <a:prstDash val="solid"/>
          </a:ln>
        </p:spPr>
      </p:sp>
      <p:sp>
        <p:nvSpPr>
          <p:cNvPr id="13" name="Text 10"/>
          <p:cNvSpPr txBox="1"/>
          <p:nvPr/>
        </p:nvSpPr>
        <p:spPr>
          <a:xfrm>
            <a:off x="1960474" y="1828800"/>
            <a:ext cx="987552" cy="987552"/>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TN</a:t>
            </a:r>
            <a:endParaRPr lang="en-US" sz="2600" dirty="0"/>
          </a:p>
        </p:txBody>
      </p:sp>
      <p:sp>
        <p:nvSpPr>
          <p:cNvPr id="14" name="Text 11"/>
          <p:cNvSpPr txBox="1"/>
          <p:nvPr/>
        </p:nvSpPr>
        <p:spPr>
          <a:xfrm>
            <a:off x="1686154" y="3017520"/>
            <a:ext cx="1536192" cy="274320"/>
          </a:xfrm>
          <a:prstGeom prst="rect">
            <a:avLst/>
          </a:prstGeom>
          <a:noFill/>
          <a:ln/>
        </p:spPr>
        <p:txBody>
          <a:bodyPr wrap="square" lIns="0" tIns="0" rIns="0" bIns="0" rtlCol="0" anchor="t"/>
          <a:lstStyle/>
          <a:p>
            <a:pPr algn="ctr" indent="0" marL="0">
              <a:buNone/>
            </a:pPr>
            <a:r>
              <a:rPr lang="en-US" sz="1100" b="1" dirty="0">
                <a:solidFill>
                  <a:srgbClr val="1E1E1E"/>
                </a:solidFill>
                <a:latin typeface="Arial" pitchFamily="34" charset="0"/>
                <a:ea typeface="Arial" pitchFamily="34" charset="-122"/>
                <a:cs typeface="Arial" pitchFamily="34" charset="-120"/>
              </a:rPr>
              <a:t>Thai Nguyen</a:t>
            </a:r>
            <a:endParaRPr lang="en-US" sz="1100" dirty="0"/>
          </a:p>
        </p:txBody>
      </p:sp>
      <p:sp>
        <p:nvSpPr>
          <p:cNvPr id="15" name="Text 12"/>
          <p:cNvSpPr txBox="1"/>
          <p:nvPr/>
        </p:nvSpPr>
        <p:spPr>
          <a:xfrm>
            <a:off x="1686154" y="3291840"/>
            <a:ext cx="1536192" cy="274320"/>
          </a:xfrm>
          <a:prstGeom prst="rect">
            <a:avLst/>
          </a:prstGeom>
          <a:noFill/>
          <a:ln/>
        </p:spPr>
        <p:txBody>
          <a:bodyPr wrap="square" lIns="0" tIns="0" rIns="0" bIns="0" rtlCol="0" anchor="ctr"/>
          <a:lstStyle/>
          <a:p>
            <a:pPr algn="ctr" indent="0" marL="0">
              <a:buNone/>
            </a:pPr>
            <a:r>
              <a:rPr lang="en-US" sz="1050" dirty="0">
                <a:solidFill>
                  <a:srgbClr val="5F6368"/>
                </a:solidFill>
                <a:latin typeface="Arial" pitchFamily="34" charset="0"/>
                <a:ea typeface="Arial" pitchFamily="34" charset="-122"/>
                <a:cs typeface="Arial" pitchFamily="34" charset="-120"/>
              </a:rPr>
              <a:t>Event Coordinator</a:t>
            </a:r>
            <a:endParaRPr lang="en-US" sz="1050" dirty="0"/>
          </a:p>
        </p:txBody>
      </p:sp>
      <p:sp>
        <p:nvSpPr>
          <p:cNvPr id="16" name="Shape 13"/>
          <p:cNvSpPr/>
          <p:nvPr/>
        </p:nvSpPr>
        <p:spPr>
          <a:xfrm>
            <a:off x="3308299" y="1764792"/>
            <a:ext cx="1115568" cy="1115568"/>
          </a:xfrm>
          <a:prstGeom prst="ellipse">
            <a:avLst/>
          </a:prstGeom>
          <a:solidFill>
            <a:srgbClr val="34A853"/>
          </a:solidFill>
          <a:ln w="19050">
            <a:solidFill>
              <a:srgbClr val="1E1E1E"/>
            </a:solidFill>
            <a:prstDash val="solid"/>
          </a:ln>
        </p:spPr>
      </p:sp>
      <p:sp>
        <p:nvSpPr>
          <p:cNvPr id="17" name="Shape 14"/>
          <p:cNvSpPr/>
          <p:nvPr/>
        </p:nvSpPr>
        <p:spPr>
          <a:xfrm>
            <a:off x="3372307" y="1828800"/>
            <a:ext cx="987552" cy="987552"/>
          </a:xfrm>
          <a:prstGeom prst="ellipse">
            <a:avLst/>
          </a:prstGeom>
          <a:solidFill>
            <a:srgbClr val="1E1E1E"/>
          </a:solidFill>
          <a:ln w="12700">
            <a:solidFill>
              <a:srgbClr val="1E1E1E"/>
            </a:solidFill>
            <a:prstDash val="solid"/>
          </a:ln>
        </p:spPr>
      </p:sp>
      <p:sp>
        <p:nvSpPr>
          <p:cNvPr id="18" name="Text 15"/>
          <p:cNvSpPr txBox="1"/>
          <p:nvPr/>
        </p:nvSpPr>
        <p:spPr>
          <a:xfrm>
            <a:off x="3372307" y="1828800"/>
            <a:ext cx="987552" cy="987552"/>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SC</a:t>
            </a:r>
            <a:endParaRPr lang="en-US" sz="2600" dirty="0"/>
          </a:p>
        </p:txBody>
      </p:sp>
      <p:sp>
        <p:nvSpPr>
          <p:cNvPr id="19" name="Text 16"/>
          <p:cNvSpPr txBox="1"/>
          <p:nvPr/>
        </p:nvSpPr>
        <p:spPr>
          <a:xfrm>
            <a:off x="3097987" y="3017520"/>
            <a:ext cx="1536192" cy="274320"/>
          </a:xfrm>
          <a:prstGeom prst="rect">
            <a:avLst/>
          </a:prstGeom>
          <a:noFill/>
          <a:ln/>
        </p:spPr>
        <p:txBody>
          <a:bodyPr wrap="square" lIns="0" tIns="0" rIns="0" bIns="0" rtlCol="0" anchor="t"/>
          <a:lstStyle/>
          <a:p>
            <a:pPr algn="ctr" indent="0" marL="0">
              <a:buNone/>
            </a:pPr>
            <a:r>
              <a:rPr lang="en-US" sz="1100" b="1" dirty="0">
                <a:solidFill>
                  <a:srgbClr val="1E1E1E"/>
                </a:solidFill>
                <a:latin typeface="Arial" pitchFamily="34" charset="0"/>
                <a:ea typeface="Arial" pitchFamily="34" charset="-122"/>
                <a:cs typeface="Arial" pitchFamily="34" charset="-120"/>
              </a:rPr>
              <a:t>Stephanie Chinaza</a:t>
            </a:r>
            <a:endParaRPr lang="en-US" sz="1100" dirty="0"/>
          </a:p>
        </p:txBody>
      </p:sp>
      <p:sp>
        <p:nvSpPr>
          <p:cNvPr id="20" name="Text 17"/>
          <p:cNvSpPr txBox="1"/>
          <p:nvPr/>
        </p:nvSpPr>
        <p:spPr>
          <a:xfrm>
            <a:off x="3097987" y="3291840"/>
            <a:ext cx="1536192" cy="274320"/>
          </a:xfrm>
          <a:prstGeom prst="rect">
            <a:avLst/>
          </a:prstGeom>
          <a:noFill/>
          <a:ln/>
        </p:spPr>
        <p:txBody>
          <a:bodyPr wrap="square" lIns="0" tIns="0" rIns="0" bIns="0" rtlCol="0" anchor="ctr"/>
          <a:lstStyle/>
          <a:p>
            <a:pPr algn="ctr" indent="0" marL="0">
              <a:buNone/>
            </a:pPr>
            <a:r>
              <a:rPr lang="en-US" sz="1050" dirty="0">
                <a:solidFill>
                  <a:srgbClr val="5F6368"/>
                </a:solidFill>
                <a:latin typeface="Arial" pitchFamily="34" charset="0"/>
                <a:ea typeface="Arial" pitchFamily="34" charset="-122"/>
                <a:cs typeface="Arial" pitchFamily="34" charset="-120"/>
              </a:rPr>
              <a:t>Event Coordinator</a:t>
            </a:r>
            <a:endParaRPr lang="en-US" sz="1050" dirty="0"/>
          </a:p>
        </p:txBody>
      </p:sp>
      <p:sp>
        <p:nvSpPr>
          <p:cNvPr id="21" name="Shape 18"/>
          <p:cNvSpPr/>
          <p:nvPr/>
        </p:nvSpPr>
        <p:spPr>
          <a:xfrm>
            <a:off x="4720133" y="1764792"/>
            <a:ext cx="1115568" cy="1115568"/>
          </a:xfrm>
          <a:prstGeom prst="ellipse">
            <a:avLst/>
          </a:prstGeom>
          <a:solidFill>
            <a:srgbClr val="F9AB00"/>
          </a:solidFill>
          <a:ln w="19050">
            <a:solidFill>
              <a:srgbClr val="1E1E1E"/>
            </a:solidFill>
            <a:prstDash val="solid"/>
          </a:ln>
        </p:spPr>
      </p:sp>
      <p:sp>
        <p:nvSpPr>
          <p:cNvPr id="22" name="Shape 19"/>
          <p:cNvSpPr/>
          <p:nvPr/>
        </p:nvSpPr>
        <p:spPr>
          <a:xfrm>
            <a:off x="4784141" y="1828800"/>
            <a:ext cx="987552" cy="987552"/>
          </a:xfrm>
          <a:prstGeom prst="ellipse">
            <a:avLst/>
          </a:prstGeom>
          <a:solidFill>
            <a:srgbClr val="1E1E1E"/>
          </a:solidFill>
          <a:ln w="12700">
            <a:solidFill>
              <a:srgbClr val="1E1E1E"/>
            </a:solidFill>
            <a:prstDash val="solid"/>
          </a:ln>
        </p:spPr>
      </p:sp>
      <p:sp>
        <p:nvSpPr>
          <p:cNvPr id="23" name="Text 20"/>
          <p:cNvSpPr txBox="1"/>
          <p:nvPr/>
        </p:nvSpPr>
        <p:spPr>
          <a:xfrm>
            <a:off x="4784141" y="1828800"/>
            <a:ext cx="987552" cy="987552"/>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LK</a:t>
            </a:r>
            <a:endParaRPr lang="en-US" sz="2600" dirty="0"/>
          </a:p>
        </p:txBody>
      </p:sp>
      <p:sp>
        <p:nvSpPr>
          <p:cNvPr id="24" name="Text 21"/>
          <p:cNvSpPr txBox="1"/>
          <p:nvPr/>
        </p:nvSpPr>
        <p:spPr>
          <a:xfrm>
            <a:off x="4509821" y="3017520"/>
            <a:ext cx="1536192" cy="274320"/>
          </a:xfrm>
          <a:prstGeom prst="rect">
            <a:avLst/>
          </a:prstGeom>
          <a:noFill/>
          <a:ln/>
        </p:spPr>
        <p:txBody>
          <a:bodyPr wrap="square" lIns="0" tIns="0" rIns="0" bIns="0" rtlCol="0" anchor="t"/>
          <a:lstStyle/>
          <a:p>
            <a:pPr algn="ctr" indent="0" marL="0">
              <a:buNone/>
            </a:pPr>
            <a:r>
              <a:rPr lang="en-US" sz="1100" b="1" dirty="0">
                <a:solidFill>
                  <a:srgbClr val="1E1E1E"/>
                </a:solidFill>
                <a:latin typeface="Arial" pitchFamily="34" charset="0"/>
                <a:ea typeface="Arial" pitchFamily="34" charset="-122"/>
                <a:cs typeface="Arial" pitchFamily="34" charset="-120"/>
              </a:rPr>
              <a:t>Lucas Krawczak</a:t>
            </a:r>
            <a:endParaRPr lang="en-US" sz="1100" dirty="0"/>
          </a:p>
        </p:txBody>
      </p:sp>
      <p:sp>
        <p:nvSpPr>
          <p:cNvPr id="25" name="Text 22"/>
          <p:cNvSpPr txBox="1"/>
          <p:nvPr/>
        </p:nvSpPr>
        <p:spPr>
          <a:xfrm>
            <a:off x="4509821" y="3291840"/>
            <a:ext cx="1536192" cy="274320"/>
          </a:xfrm>
          <a:prstGeom prst="rect">
            <a:avLst/>
          </a:prstGeom>
          <a:noFill/>
          <a:ln/>
        </p:spPr>
        <p:txBody>
          <a:bodyPr wrap="square" lIns="0" tIns="0" rIns="0" bIns="0" rtlCol="0" anchor="ctr"/>
          <a:lstStyle/>
          <a:p>
            <a:pPr algn="ctr" indent="0" marL="0">
              <a:buNone/>
            </a:pPr>
            <a:r>
              <a:rPr lang="en-US" sz="1050" dirty="0">
                <a:solidFill>
                  <a:srgbClr val="5F6368"/>
                </a:solidFill>
                <a:latin typeface="Arial" pitchFamily="34" charset="0"/>
                <a:ea typeface="Arial" pitchFamily="34" charset="-122"/>
                <a:cs typeface="Arial" pitchFamily="34" charset="-120"/>
              </a:rPr>
              <a:t>Tech Lead</a:t>
            </a:r>
            <a:endParaRPr lang="en-US" sz="1050" dirty="0"/>
          </a:p>
        </p:txBody>
      </p:sp>
      <p:sp>
        <p:nvSpPr>
          <p:cNvPr id="26" name="Shape 23"/>
          <p:cNvSpPr/>
          <p:nvPr/>
        </p:nvSpPr>
        <p:spPr>
          <a:xfrm>
            <a:off x="6131966" y="1764792"/>
            <a:ext cx="1115568" cy="1115568"/>
          </a:xfrm>
          <a:prstGeom prst="ellipse">
            <a:avLst/>
          </a:prstGeom>
          <a:solidFill>
            <a:srgbClr val="4285F4"/>
          </a:solidFill>
          <a:ln w="19050">
            <a:solidFill>
              <a:srgbClr val="1E1E1E"/>
            </a:solidFill>
            <a:prstDash val="solid"/>
          </a:ln>
        </p:spPr>
      </p:sp>
      <p:sp>
        <p:nvSpPr>
          <p:cNvPr id="27" name="Shape 24"/>
          <p:cNvSpPr/>
          <p:nvPr/>
        </p:nvSpPr>
        <p:spPr>
          <a:xfrm>
            <a:off x="6195974" y="1828800"/>
            <a:ext cx="987552" cy="987552"/>
          </a:xfrm>
          <a:prstGeom prst="ellipse">
            <a:avLst/>
          </a:prstGeom>
          <a:solidFill>
            <a:srgbClr val="1E1E1E"/>
          </a:solidFill>
          <a:ln w="12700">
            <a:solidFill>
              <a:srgbClr val="1E1E1E"/>
            </a:solidFill>
            <a:prstDash val="solid"/>
          </a:ln>
        </p:spPr>
      </p:sp>
      <p:sp>
        <p:nvSpPr>
          <p:cNvPr id="28" name="Text 25"/>
          <p:cNvSpPr txBox="1"/>
          <p:nvPr/>
        </p:nvSpPr>
        <p:spPr>
          <a:xfrm>
            <a:off x="6195974" y="1828800"/>
            <a:ext cx="987552" cy="987552"/>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TD</a:t>
            </a:r>
            <a:endParaRPr lang="en-US" sz="2600" dirty="0"/>
          </a:p>
        </p:txBody>
      </p:sp>
      <p:sp>
        <p:nvSpPr>
          <p:cNvPr id="29" name="Text 26"/>
          <p:cNvSpPr txBox="1"/>
          <p:nvPr/>
        </p:nvSpPr>
        <p:spPr>
          <a:xfrm>
            <a:off x="5921654" y="3017520"/>
            <a:ext cx="1536192" cy="274320"/>
          </a:xfrm>
          <a:prstGeom prst="rect">
            <a:avLst/>
          </a:prstGeom>
          <a:noFill/>
          <a:ln/>
        </p:spPr>
        <p:txBody>
          <a:bodyPr wrap="square" lIns="0" tIns="0" rIns="0" bIns="0" rtlCol="0" anchor="t"/>
          <a:lstStyle/>
          <a:p>
            <a:pPr algn="ctr" indent="0" marL="0">
              <a:buNone/>
            </a:pPr>
            <a:r>
              <a:rPr lang="en-US" sz="1100" b="1" dirty="0">
                <a:solidFill>
                  <a:srgbClr val="1E1E1E"/>
                </a:solidFill>
                <a:latin typeface="Arial" pitchFamily="34" charset="0"/>
                <a:ea typeface="Arial" pitchFamily="34" charset="-122"/>
                <a:cs typeface="Arial" pitchFamily="34" charset="-120"/>
              </a:rPr>
              <a:t>Tan Dat Ta</a:t>
            </a:r>
            <a:endParaRPr lang="en-US" sz="1100" dirty="0"/>
          </a:p>
        </p:txBody>
      </p:sp>
      <p:sp>
        <p:nvSpPr>
          <p:cNvPr id="30" name="Text 27"/>
          <p:cNvSpPr txBox="1"/>
          <p:nvPr/>
        </p:nvSpPr>
        <p:spPr>
          <a:xfrm>
            <a:off x="5921654" y="3291840"/>
            <a:ext cx="1536192" cy="274320"/>
          </a:xfrm>
          <a:prstGeom prst="rect">
            <a:avLst/>
          </a:prstGeom>
          <a:noFill/>
          <a:ln/>
        </p:spPr>
        <p:txBody>
          <a:bodyPr wrap="square" lIns="0" tIns="0" rIns="0" bIns="0" rtlCol="0" anchor="ctr"/>
          <a:lstStyle/>
          <a:p>
            <a:pPr algn="ctr" indent="0" marL="0">
              <a:buNone/>
            </a:pPr>
            <a:r>
              <a:rPr lang="en-US" sz="1050" dirty="0">
                <a:solidFill>
                  <a:srgbClr val="5F6368"/>
                </a:solidFill>
                <a:latin typeface="Arial" pitchFamily="34" charset="0"/>
                <a:ea typeface="Arial" pitchFamily="34" charset="-122"/>
                <a:cs typeface="Arial" pitchFamily="34" charset="-120"/>
              </a:rPr>
              <a:t>Tech Lead</a:t>
            </a:r>
            <a:endParaRPr lang="en-US" sz="1050" dirty="0"/>
          </a:p>
        </p:txBody>
      </p:sp>
      <p:sp>
        <p:nvSpPr>
          <p:cNvPr id="31" name="Shape 28"/>
          <p:cNvSpPr/>
          <p:nvPr/>
        </p:nvSpPr>
        <p:spPr>
          <a:xfrm>
            <a:off x="7543800" y="1764792"/>
            <a:ext cx="1115568" cy="1115568"/>
          </a:xfrm>
          <a:prstGeom prst="ellipse">
            <a:avLst/>
          </a:prstGeom>
          <a:solidFill>
            <a:srgbClr val="EA4335"/>
          </a:solidFill>
          <a:ln w="19050">
            <a:solidFill>
              <a:srgbClr val="1E1E1E"/>
            </a:solidFill>
            <a:prstDash val="solid"/>
          </a:ln>
        </p:spPr>
      </p:sp>
      <p:sp>
        <p:nvSpPr>
          <p:cNvPr id="32" name="Shape 29"/>
          <p:cNvSpPr/>
          <p:nvPr/>
        </p:nvSpPr>
        <p:spPr>
          <a:xfrm>
            <a:off x="7607808" y="1828800"/>
            <a:ext cx="987552" cy="987552"/>
          </a:xfrm>
          <a:prstGeom prst="ellipse">
            <a:avLst/>
          </a:prstGeom>
          <a:solidFill>
            <a:srgbClr val="1E1E1E"/>
          </a:solidFill>
          <a:ln w="12700">
            <a:solidFill>
              <a:srgbClr val="1E1E1E"/>
            </a:solidFill>
            <a:prstDash val="solid"/>
          </a:ln>
        </p:spPr>
      </p:sp>
      <p:sp>
        <p:nvSpPr>
          <p:cNvPr id="33" name="Text 30"/>
          <p:cNvSpPr txBox="1"/>
          <p:nvPr/>
        </p:nvSpPr>
        <p:spPr>
          <a:xfrm>
            <a:off x="7607808" y="1828800"/>
            <a:ext cx="987552" cy="987552"/>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BJ</a:t>
            </a:r>
            <a:endParaRPr lang="en-US" sz="2600" dirty="0"/>
          </a:p>
        </p:txBody>
      </p:sp>
      <p:sp>
        <p:nvSpPr>
          <p:cNvPr id="34" name="Text 31"/>
          <p:cNvSpPr txBox="1"/>
          <p:nvPr/>
        </p:nvSpPr>
        <p:spPr>
          <a:xfrm>
            <a:off x="7333488" y="3017520"/>
            <a:ext cx="1536192" cy="274320"/>
          </a:xfrm>
          <a:prstGeom prst="rect">
            <a:avLst/>
          </a:prstGeom>
          <a:noFill/>
          <a:ln/>
        </p:spPr>
        <p:txBody>
          <a:bodyPr wrap="square" lIns="0" tIns="0" rIns="0" bIns="0" rtlCol="0" anchor="t"/>
          <a:lstStyle/>
          <a:p>
            <a:pPr algn="ctr" indent="0" marL="0">
              <a:buNone/>
            </a:pPr>
            <a:r>
              <a:rPr lang="en-US" sz="1100" b="1" dirty="0">
                <a:solidFill>
                  <a:srgbClr val="1E1E1E"/>
                </a:solidFill>
                <a:latin typeface="Arial" pitchFamily="34" charset="0"/>
                <a:ea typeface="Arial" pitchFamily="34" charset="-122"/>
                <a:cs typeface="Arial" pitchFamily="34" charset="-120"/>
              </a:rPr>
              <a:t>Betjoy Jacob</a:t>
            </a:r>
            <a:endParaRPr lang="en-US" sz="1100" dirty="0"/>
          </a:p>
        </p:txBody>
      </p:sp>
      <p:sp>
        <p:nvSpPr>
          <p:cNvPr id="35" name="Text 32"/>
          <p:cNvSpPr txBox="1"/>
          <p:nvPr/>
        </p:nvSpPr>
        <p:spPr>
          <a:xfrm>
            <a:off x="7333488" y="3291840"/>
            <a:ext cx="1536192" cy="274320"/>
          </a:xfrm>
          <a:prstGeom prst="rect">
            <a:avLst/>
          </a:prstGeom>
          <a:noFill/>
          <a:ln/>
        </p:spPr>
        <p:txBody>
          <a:bodyPr wrap="square" lIns="0" tIns="0" rIns="0" bIns="0" rtlCol="0" anchor="ctr"/>
          <a:lstStyle/>
          <a:p>
            <a:pPr algn="ctr" indent="0" marL="0">
              <a:buNone/>
            </a:pPr>
            <a:r>
              <a:rPr lang="en-US" sz="1050" dirty="0">
                <a:solidFill>
                  <a:srgbClr val="5F6368"/>
                </a:solidFill>
                <a:latin typeface="Arial" pitchFamily="34" charset="0"/>
                <a:ea typeface="Arial" pitchFamily="34" charset="-122"/>
                <a:cs typeface="Arial" pitchFamily="34" charset="-120"/>
              </a:rPr>
              <a:t>Marketing</a:t>
            </a:r>
            <a:endParaRPr lang="en-US" sz="1050" dirty="0"/>
          </a:p>
        </p:txBody>
      </p:sp>
      <p:sp>
        <p:nvSpPr>
          <p:cNvPr id="36" name="Shape 33"/>
          <p:cNvSpPr/>
          <p:nvPr/>
        </p:nvSpPr>
        <p:spPr>
          <a:xfrm>
            <a:off x="548640" y="3977640"/>
            <a:ext cx="8046720" cy="502920"/>
          </a:xfrm>
          <a:prstGeom prst="roundRect">
            <a:avLst>
              <a:gd name="adj" fmla="val 50000"/>
            </a:avLst>
          </a:prstGeom>
          <a:solidFill>
            <a:srgbClr val="E6F4EA"/>
          </a:solidFill>
          <a:ln w="12700">
            <a:solidFill>
              <a:srgbClr val="E6F4EA"/>
            </a:solidFill>
            <a:prstDash val="solid"/>
          </a:ln>
        </p:spPr>
      </p:sp>
      <p:sp>
        <p:nvSpPr>
          <p:cNvPr id="37" name="Text 34"/>
          <p:cNvSpPr txBox="1"/>
          <p:nvPr/>
        </p:nvSpPr>
        <p:spPr>
          <a:xfrm>
            <a:off x="777240" y="3977640"/>
            <a:ext cx="7589520" cy="502920"/>
          </a:xfrm>
          <a:prstGeom prst="rect">
            <a:avLst/>
          </a:prstGeom>
          <a:noFill/>
          <a:ln/>
        </p:spPr>
        <p:txBody>
          <a:bodyPr wrap="square" lIns="0" tIns="0" rIns="0" bIns="0" rtlCol="0" anchor="ctr"/>
          <a:lstStyle/>
          <a:p>
            <a:pPr indent="0" marL="0">
              <a:buNone/>
            </a:pPr>
            <a:r>
              <a:rPr lang="en-US" sz="1300" b="1" dirty="0">
                <a:solidFill>
                  <a:srgbClr val="1E1E1E"/>
                </a:solidFill>
                <a:latin typeface="Arial" pitchFamily="34" charset="0"/>
                <a:ea typeface="Arial" pitchFamily="34" charset="-122"/>
                <a:cs typeface="Arial" pitchFamily="34" charset="-120"/>
              </a:rPr>
              <a:t>Want to join the team?  </a:t>
            </a:r>
            <a:pPr indent="0" marL="0">
              <a:buNone/>
            </a:pPr>
            <a:r>
              <a:rPr lang="en-US" sz="1300" dirty="0">
                <a:solidFill>
                  <a:srgbClr val="1E1E1E"/>
                </a:solidFill>
                <a:latin typeface="Arial" pitchFamily="34" charset="0"/>
                <a:ea typeface="Arial" pitchFamily="34" charset="-122"/>
                <a:cs typeface="Arial" pitchFamily="34" charset="-120"/>
              </a:rPr>
              <a:t>We're looking for people every term. Come talk to us after.</a:t>
            </a:r>
            <a:endParaRPr lang="en-US" sz="1300" dirty="0"/>
          </a:p>
        </p:txBody>
      </p:sp>
      <p:pic>
        <p:nvPicPr>
          <p:cNvPr id="38" name="Image 0" descr="/Users/datta/Developer/gdg-seneca/deck-builder/brand/mark.png">    </p:cNvPr>
          <p:cNvPicPr>
            <a:picLocks noChangeAspect="1"/>
          </p:cNvPicPr>
          <p:nvPr/>
        </p:nvPicPr>
        <p:blipFill>
          <a:blip r:embed="rId1"/>
          <a:stretch>
            <a:fillRect/>
          </a:stretch>
        </p:blipFill>
        <p:spPr>
          <a:xfrm>
            <a:off x="548640" y="4727448"/>
            <a:ext cx="201168" cy="201168"/>
          </a:xfrm>
          <a:prstGeom prst="rect">
            <a:avLst/>
          </a:prstGeom>
        </p:spPr>
      </p:pic>
      <p:sp>
        <p:nvSpPr>
          <p:cNvPr id="39" name="Text 35"/>
          <p:cNvSpPr txBox="1"/>
          <p:nvPr/>
        </p:nvSpPr>
        <p:spPr>
          <a:xfrm>
            <a:off x="822960" y="4727448"/>
            <a:ext cx="3657600" cy="201168"/>
          </a:xfrm>
          <a:prstGeom prst="rect">
            <a:avLst/>
          </a:prstGeom>
          <a:noFill/>
          <a:ln/>
        </p:spPr>
        <p:txBody>
          <a:bodyPr wrap="square" lIns="0" tIns="0" rIns="0" bIns="0" rtlCol="0" anchor="ctr"/>
          <a:lstStyle/>
          <a:p>
            <a:pPr indent="0" marL="0">
              <a:buNone/>
            </a:pPr>
            <a:r>
              <a:rPr lang="en-US" sz="900" dirty="0">
                <a:solidFill>
                  <a:srgbClr val="5F6368"/>
                </a:solidFill>
                <a:latin typeface="Arial" pitchFamily="34" charset="0"/>
                <a:ea typeface="Arial" pitchFamily="34" charset="-122"/>
                <a:cs typeface="Arial" pitchFamily="34" charset="-120"/>
              </a:rPr>
              <a:t>GDG on Campus  ·  Seneca Polytechnic</a:t>
            </a:r>
            <a:endParaRPr lang="en-US" sz="900" dirty="0"/>
          </a:p>
        </p:txBody>
      </p:sp>
      <p:sp>
        <p:nvSpPr>
          <p:cNvPr id="40" name="Text 36"/>
          <p:cNvSpPr txBox="1"/>
          <p:nvPr/>
        </p:nvSpPr>
        <p:spPr>
          <a:xfrm>
            <a:off x="8138160" y="4727448"/>
            <a:ext cx="457200" cy="201168"/>
          </a:xfrm>
          <a:prstGeom prst="rect">
            <a:avLst/>
          </a:prstGeom>
          <a:noFill/>
          <a:ln/>
        </p:spPr>
        <p:txBody>
          <a:bodyPr wrap="square" lIns="0" tIns="0" rIns="0" bIns="0" rtlCol="0" anchor="ctr"/>
          <a:lstStyle/>
          <a:p>
            <a:pPr algn="r" indent="0" marL="0">
              <a:buNone/>
            </a:pPr>
            <a:r>
              <a:rPr lang="en-US" sz="900" b="1" dirty="0">
                <a:solidFill>
                  <a:srgbClr val="5F6368"/>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411480"/>
            <a:ext cx="1463040" cy="292608"/>
          </a:xfrm>
          <a:prstGeom prst="roundRect">
            <a:avLst>
              <a:gd name="adj" fmla="val 50000"/>
            </a:avLst>
          </a:prstGeom>
          <a:solidFill>
            <a:srgbClr val="FEF7E0"/>
          </a:solidFill>
          <a:ln w="15875">
            <a:solidFill>
              <a:srgbClr val="F9AB00"/>
            </a:solidFill>
            <a:prstDash val="solid"/>
          </a:ln>
        </p:spPr>
      </p:sp>
      <p:sp>
        <p:nvSpPr>
          <p:cNvPr id="4" name="Text 1"/>
          <p:cNvSpPr txBox="1"/>
          <p:nvPr/>
        </p:nvSpPr>
        <p:spPr>
          <a:xfrm>
            <a:off x="548640" y="411480"/>
            <a:ext cx="1463040" cy="292608"/>
          </a:xfrm>
          <a:prstGeom prst="rect">
            <a:avLst/>
          </a:prstGeom>
          <a:noFill/>
          <a:ln/>
        </p:spPr>
        <p:txBody>
          <a:bodyPr wrap="square" lIns="0" tIns="0" rIns="0" bIns="0" rtlCol="0" anchor="ctr"/>
          <a:lstStyle/>
          <a:p>
            <a:pPr algn="ctr" indent="0" marL="0">
              <a:buNone/>
            </a:pPr>
            <a:r>
              <a:rPr lang="en-US" sz="900" b="1" spc="150" kern="0" dirty="0">
                <a:solidFill>
                  <a:srgbClr val="1E1E1E"/>
                </a:solidFill>
                <a:latin typeface="Arial" pitchFamily="34" charset="0"/>
                <a:ea typeface="Arial" pitchFamily="34" charset="-122"/>
                <a:cs typeface="Arial" pitchFamily="34" charset="-120"/>
              </a:rPr>
              <a:t>03  WHY JOIN</a:t>
            </a:r>
            <a:endParaRPr lang="en-US" sz="900" dirty="0"/>
          </a:p>
        </p:txBody>
      </p:sp>
      <p:sp>
        <p:nvSpPr>
          <p:cNvPr id="5" name="Text 2"/>
          <p:cNvSpPr txBox="1"/>
          <p:nvPr/>
        </p:nvSpPr>
        <p:spPr>
          <a:xfrm>
            <a:off x="548640" y="868680"/>
            <a:ext cx="8046720" cy="731520"/>
          </a:xfrm>
          <a:prstGeom prst="rect">
            <a:avLst/>
          </a:prstGeom>
          <a:noFill/>
          <a:ln/>
        </p:spPr>
        <p:txBody>
          <a:bodyPr wrap="square" lIns="0" tIns="0" rIns="0" bIns="0" rtlCol="0" anchor="t"/>
          <a:lstStyle/>
          <a:p>
            <a:pPr indent="0" marL="0">
              <a:buNone/>
            </a:pPr>
            <a:r>
              <a:rPr lang="en-US" sz="3200" b="1" dirty="0">
                <a:solidFill>
                  <a:srgbClr val="1E1E1E"/>
                </a:solidFill>
                <a:latin typeface="Arial" pitchFamily="34" charset="0"/>
                <a:ea typeface="Arial" pitchFamily="34" charset="-122"/>
                <a:cs typeface="Arial" pitchFamily="34" charset="-120"/>
              </a:rPr>
              <a:t>What's in it for you</a:t>
            </a:r>
            <a:endParaRPr lang="en-US" sz="3200" dirty="0"/>
          </a:p>
        </p:txBody>
      </p:sp>
      <p:sp>
        <p:nvSpPr>
          <p:cNvPr id="6" name="Shape 3"/>
          <p:cNvSpPr/>
          <p:nvPr/>
        </p:nvSpPr>
        <p:spPr>
          <a:xfrm>
            <a:off x="548640" y="1554480"/>
            <a:ext cx="2560320" cy="1170432"/>
          </a:xfrm>
          <a:prstGeom prst="roundRect">
            <a:avLst>
              <a:gd name="adj" fmla="val 10938"/>
            </a:avLst>
          </a:prstGeom>
          <a:solidFill>
            <a:srgbClr val="FFFFFF"/>
          </a:solidFill>
          <a:ln w="12700">
            <a:solidFill>
              <a:srgbClr val="DADCE0"/>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731520" y="1719072"/>
            <a:ext cx="384048" cy="384048"/>
          </a:xfrm>
          <a:prstGeom prst="ellipse">
            <a:avLst/>
          </a:prstGeom>
          <a:solidFill>
            <a:srgbClr val="4285F4"/>
          </a:solidFill>
          <a:ln w="12700">
            <a:solidFill>
              <a:srgbClr val="4285F4"/>
            </a:solidFill>
            <a:prstDash val="solid"/>
          </a:ln>
        </p:spPr>
      </p:sp>
      <p:pic>
        <p:nvPicPr>
          <p:cNvPr id="8" name="Image 0" descr="preencoded.png">    </p:cNvPr>
          <p:cNvPicPr>
            <a:picLocks noChangeAspect="1"/>
          </p:cNvPicPr>
          <p:nvPr/>
        </p:nvPicPr>
        <p:blipFill>
          <a:blip r:embed="rId1"/>
          <a:stretch>
            <a:fillRect/>
          </a:stretch>
        </p:blipFill>
        <p:spPr>
          <a:xfrm>
            <a:off x="791431" y="1778983"/>
            <a:ext cx="264225" cy="264225"/>
          </a:xfrm>
          <a:prstGeom prst="rect">
            <a:avLst/>
          </a:prstGeom>
        </p:spPr>
      </p:pic>
      <p:sp>
        <p:nvSpPr>
          <p:cNvPr id="9" name="Text 5"/>
          <p:cNvSpPr txBox="1"/>
          <p:nvPr/>
        </p:nvSpPr>
        <p:spPr>
          <a:xfrm>
            <a:off x="1207008" y="1719072"/>
            <a:ext cx="1737360" cy="384048"/>
          </a:xfrm>
          <a:prstGeom prst="rect">
            <a:avLst/>
          </a:prstGeom>
          <a:noFill/>
          <a:ln/>
        </p:spPr>
        <p:txBody>
          <a:bodyPr wrap="square" lIns="0" tIns="0" rIns="0" bIns="0" rtlCol="0" anchor="ctr"/>
          <a:lstStyle/>
          <a:p>
            <a:pPr indent="0" marL="0">
              <a:buNone/>
            </a:pPr>
            <a:r>
              <a:rPr lang="en-US" sz="1300" b="1" dirty="0">
                <a:solidFill>
                  <a:srgbClr val="1E1E1E"/>
                </a:solidFill>
                <a:latin typeface="Arial" pitchFamily="34" charset="0"/>
                <a:ea typeface="Arial" pitchFamily="34" charset="-122"/>
                <a:cs typeface="Arial" pitchFamily="34" charset="-120"/>
              </a:rPr>
              <a:t>Workshops and a code jam</a:t>
            </a:r>
            <a:endParaRPr lang="en-US" sz="1300" dirty="0"/>
          </a:p>
        </p:txBody>
      </p:sp>
      <p:sp>
        <p:nvSpPr>
          <p:cNvPr id="10" name="Text 6"/>
          <p:cNvSpPr txBox="1"/>
          <p:nvPr/>
        </p:nvSpPr>
        <p:spPr>
          <a:xfrm>
            <a:off x="731520" y="2194560"/>
            <a:ext cx="2194560" cy="438912"/>
          </a:xfrm>
          <a:prstGeom prst="rect">
            <a:avLst/>
          </a:prstGeom>
          <a:noFill/>
          <a:ln/>
        </p:spPr>
        <p:txBody>
          <a:bodyPr wrap="square" lIns="0" tIns="0" rIns="0" bIns="0" rtlCol="0" anchor="t"/>
          <a:lstStyle/>
          <a:p>
            <a:pPr indent="0" marL="0">
              <a:buNone/>
            </a:pPr>
            <a:r>
              <a:rPr lang="en-US" sz="1050" dirty="0">
                <a:solidFill>
                  <a:srgbClr val="5F6368"/>
                </a:solidFill>
                <a:latin typeface="Arial" pitchFamily="34" charset="0"/>
                <a:ea typeface="Arial" pitchFamily="34" charset="-122"/>
                <a:cs typeface="Arial" pitchFamily="34" charset="-120"/>
              </a:rPr>
              <a:t>Hands-on stuff you can actually put on your resume.</a:t>
            </a:r>
            <a:endParaRPr lang="en-US" sz="1050" dirty="0"/>
          </a:p>
        </p:txBody>
      </p:sp>
      <p:sp>
        <p:nvSpPr>
          <p:cNvPr id="11" name="Shape 7"/>
          <p:cNvSpPr/>
          <p:nvPr/>
        </p:nvSpPr>
        <p:spPr>
          <a:xfrm>
            <a:off x="3291840" y="1554480"/>
            <a:ext cx="2560320" cy="1170432"/>
          </a:xfrm>
          <a:prstGeom prst="roundRect">
            <a:avLst>
              <a:gd name="adj" fmla="val 10938"/>
            </a:avLst>
          </a:prstGeom>
          <a:solidFill>
            <a:srgbClr val="FFFFFF"/>
          </a:solidFill>
          <a:ln w="12700">
            <a:solidFill>
              <a:srgbClr val="DADCE0"/>
            </a:solidFill>
            <a:prstDash val="solid"/>
          </a:ln>
          <a:effectLst>
            <a:outerShdw sx="100000" sy="100000" kx="0" ky="0" algn="bl" rotWithShape="0" blurRad="101600" dist="25400" dir="5400000">
              <a:srgbClr val="000000">
                <a:alpha val="12000"/>
              </a:srgbClr>
            </a:outerShdw>
          </a:effectLst>
        </p:spPr>
      </p:sp>
      <p:sp>
        <p:nvSpPr>
          <p:cNvPr id="12" name="Shape 8"/>
          <p:cNvSpPr/>
          <p:nvPr/>
        </p:nvSpPr>
        <p:spPr>
          <a:xfrm>
            <a:off x="3474720" y="1719072"/>
            <a:ext cx="384048" cy="384048"/>
          </a:xfrm>
          <a:prstGeom prst="ellipse">
            <a:avLst/>
          </a:prstGeom>
          <a:solidFill>
            <a:srgbClr val="EA4335"/>
          </a:solidFill>
          <a:ln w="12700">
            <a:solidFill>
              <a:srgbClr val="EA4335"/>
            </a:solidFill>
            <a:prstDash val="solid"/>
          </a:ln>
        </p:spPr>
      </p:sp>
      <p:pic>
        <p:nvPicPr>
          <p:cNvPr id="13" name="Image 1" descr="preencoded.png">    </p:cNvPr>
          <p:cNvPicPr>
            <a:picLocks noChangeAspect="1"/>
          </p:cNvPicPr>
          <p:nvPr/>
        </p:nvPicPr>
        <p:blipFill>
          <a:blip r:embed="rId2"/>
          <a:stretch>
            <a:fillRect/>
          </a:stretch>
        </p:blipFill>
        <p:spPr>
          <a:xfrm>
            <a:off x="3534631" y="1778983"/>
            <a:ext cx="264225" cy="264225"/>
          </a:xfrm>
          <a:prstGeom prst="rect">
            <a:avLst/>
          </a:prstGeom>
        </p:spPr>
      </p:pic>
      <p:sp>
        <p:nvSpPr>
          <p:cNvPr id="14" name="Text 9"/>
          <p:cNvSpPr txBox="1"/>
          <p:nvPr/>
        </p:nvSpPr>
        <p:spPr>
          <a:xfrm>
            <a:off x="3950208" y="1719072"/>
            <a:ext cx="1737360" cy="384048"/>
          </a:xfrm>
          <a:prstGeom prst="rect">
            <a:avLst/>
          </a:prstGeom>
          <a:noFill/>
          <a:ln/>
        </p:spPr>
        <p:txBody>
          <a:bodyPr wrap="square" lIns="0" tIns="0" rIns="0" bIns="0" rtlCol="0" anchor="ctr"/>
          <a:lstStyle/>
          <a:p>
            <a:pPr indent="0" marL="0">
              <a:buNone/>
            </a:pPr>
            <a:r>
              <a:rPr lang="en-US" sz="1300" b="1" dirty="0">
                <a:solidFill>
                  <a:srgbClr val="1E1E1E"/>
                </a:solidFill>
                <a:latin typeface="Arial" pitchFamily="34" charset="0"/>
                <a:ea typeface="Arial" pitchFamily="34" charset="-122"/>
                <a:cs typeface="Arial" pitchFamily="34" charset="-120"/>
              </a:rPr>
              <a:t>A hackathon</a:t>
            </a:r>
            <a:endParaRPr lang="en-US" sz="1300" dirty="0"/>
          </a:p>
        </p:txBody>
      </p:sp>
      <p:sp>
        <p:nvSpPr>
          <p:cNvPr id="15" name="Text 10"/>
          <p:cNvSpPr txBox="1"/>
          <p:nvPr/>
        </p:nvSpPr>
        <p:spPr>
          <a:xfrm>
            <a:off x="3474720" y="2194560"/>
            <a:ext cx="2194560" cy="438912"/>
          </a:xfrm>
          <a:prstGeom prst="rect">
            <a:avLst/>
          </a:prstGeom>
          <a:noFill/>
          <a:ln/>
        </p:spPr>
        <p:txBody>
          <a:bodyPr wrap="square" lIns="0" tIns="0" rIns="0" bIns="0" rtlCol="0" anchor="t"/>
          <a:lstStyle/>
          <a:p>
            <a:pPr indent="0" marL="0">
              <a:buNone/>
            </a:pPr>
            <a:r>
              <a:rPr lang="en-US" sz="1050" dirty="0">
                <a:solidFill>
                  <a:srgbClr val="5F6368"/>
                </a:solidFill>
                <a:latin typeface="Arial" pitchFamily="34" charset="0"/>
                <a:ea typeface="Arial" pitchFamily="34" charset="-122"/>
                <a:cs typeface="Arial" pitchFamily="34" charset="-120"/>
              </a:rPr>
              <a:t>We're hoping to run one this term. More info soon.</a:t>
            </a:r>
            <a:endParaRPr lang="en-US" sz="1050" dirty="0"/>
          </a:p>
        </p:txBody>
      </p:sp>
      <p:sp>
        <p:nvSpPr>
          <p:cNvPr id="16" name="Shape 11"/>
          <p:cNvSpPr/>
          <p:nvPr/>
        </p:nvSpPr>
        <p:spPr>
          <a:xfrm>
            <a:off x="6035040" y="1554480"/>
            <a:ext cx="2560320" cy="1170432"/>
          </a:xfrm>
          <a:prstGeom prst="roundRect">
            <a:avLst>
              <a:gd name="adj" fmla="val 10938"/>
            </a:avLst>
          </a:prstGeom>
          <a:solidFill>
            <a:srgbClr val="FFFFFF"/>
          </a:solidFill>
          <a:ln w="12700">
            <a:solidFill>
              <a:srgbClr val="DADCE0"/>
            </a:solidFill>
            <a:prstDash val="solid"/>
          </a:ln>
          <a:effectLst>
            <a:outerShdw sx="100000" sy="100000" kx="0" ky="0" algn="bl" rotWithShape="0" blurRad="101600" dist="25400" dir="5400000">
              <a:srgbClr val="000000">
                <a:alpha val="12000"/>
              </a:srgbClr>
            </a:outerShdw>
          </a:effectLst>
        </p:spPr>
      </p:sp>
      <p:sp>
        <p:nvSpPr>
          <p:cNvPr id="17" name="Shape 12"/>
          <p:cNvSpPr/>
          <p:nvPr/>
        </p:nvSpPr>
        <p:spPr>
          <a:xfrm>
            <a:off x="6217920" y="1719072"/>
            <a:ext cx="384048" cy="384048"/>
          </a:xfrm>
          <a:prstGeom prst="ellipse">
            <a:avLst/>
          </a:prstGeom>
          <a:solidFill>
            <a:srgbClr val="34A853"/>
          </a:solidFill>
          <a:ln w="12700">
            <a:solidFill>
              <a:srgbClr val="34A853"/>
            </a:solidFill>
            <a:prstDash val="solid"/>
          </a:ln>
        </p:spPr>
      </p:sp>
      <p:pic>
        <p:nvPicPr>
          <p:cNvPr id="18" name="Image 2" descr="preencoded.png">    </p:cNvPr>
          <p:cNvPicPr>
            <a:picLocks noChangeAspect="1"/>
          </p:cNvPicPr>
          <p:nvPr/>
        </p:nvPicPr>
        <p:blipFill>
          <a:blip r:embed="rId3"/>
          <a:stretch>
            <a:fillRect/>
          </a:stretch>
        </p:blipFill>
        <p:spPr>
          <a:xfrm>
            <a:off x="6277831" y="1778983"/>
            <a:ext cx="264225" cy="264225"/>
          </a:xfrm>
          <a:prstGeom prst="rect">
            <a:avLst/>
          </a:prstGeom>
        </p:spPr>
      </p:pic>
      <p:sp>
        <p:nvSpPr>
          <p:cNvPr id="19" name="Text 13"/>
          <p:cNvSpPr txBox="1"/>
          <p:nvPr/>
        </p:nvSpPr>
        <p:spPr>
          <a:xfrm>
            <a:off x="6693408" y="1719072"/>
            <a:ext cx="1737360" cy="384048"/>
          </a:xfrm>
          <a:prstGeom prst="rect">
            <a:avLst/>
          </a:prstGeom>
          <a:noFill/>
          <a:ln/>
        </p:spPr>
        <p:txBody>
          <a:bodyPr wrap="square" lIns="0" tIns="0" rIns="0" bIns="0" rtlCol="0" anchor="ctr"/>
          <a:lstStyle/>
          <a:p>
            <a:pPr indent="0" marL="0">
              <a:buNone/>
            </a:pPr>
            <a:r>
              <a:rPr lang="en-US" sz="1300" b="1" dirty="0">
                <a:solidFill>
                  <a:srgbClr val="1E1E1E"/>
                </a:solidFill>
                <a:latin typeface="Arial" pitchFamily="34" charset="0"/>
                <a:ea typeface="Arial" pitchFamily="34" charset="-122"/>
                <a:cs typeface="Arial" pitchFamily="34" charset="-120"/>
              </a:rPr>
              <a:t>People to build with</a:t>
            </a:r>
            <a:endParaRPr lang="en-US" sz="1300" dirty="0"/>
          </a:p>
        </p:txBody>
      </p:sp>
      <p:sp>
        <p:nvSpPr>
          <p:cNvPr id="20" name="Text 14"/>
          <p:cNvSpPr txBox="1"/>
          <p:nvPr/>
        </p:nvSpPr>
        <p:spPr>
          <a:xfrm>
            <a:off x="6217920" y="2194560"/>
            <a:ext cx="2194560" cy="438912"/>
          </a:xfrm>
          <a:prstGeom prst="rect">
            <a:avLst/>
          </a:prstGeom>
          <a:noFill/>
          <a:ln/>
        </p:spPr>
        <p:txBody>
          <a:bodyPr wrap="square" lIns="0" tIns="0" rIns="0" bIns="0" rtlCol="0" anchor="t"/>
          <a:lstStyle/>
          <a:p>
            <a:pPr indent="0" marL="0">
              <a:buNone/>
            </a:pPr>
            <a:r>
              <a:rPr lang="en-US" sz="1050" dirty="0">
                <a:solidFill>
                  <a:srgbClr val="5F6368"/>
                </a:solidFill>
                <a:latin typeface="Arial" pitchFamily="34" charset="0"/>
                <a:ea typeface="Arial" pitchFamily="34" charset="-122"/>
                <a:cs typeface="Arial" pitchFamily="34" charset="-120"/>
              </a:rPr>
              <a:t>Side projects are a lot easier when you're not doing it alone.</a:t>
            </a:r>
            <a:endParaRPr lang="en-US" sz="1050" dirty="0"/>
          </a:p>
        </p:txBody>
      </p:sp>
      <p:sp>
        <p:nvSpPr>
          <p:cNvPr id="21" name="Shape 15"/>
          <p:cNvSpPr/>
          <p:nvPr/>
        </p:nvSpPr>
        <p:spPr>
          <a:xfrm>
            <a:off x="548640" y="2889504"/>
            <a:ext cx="2560320" cy="1170432"/>
          </a:xfrm>
          <a:prstGeom prst="roundRect">
            <a:avLst>
              <a:gd name="adj" fmla="val 10938"/>
            </a:avLst>
          </a:prstGeom>
          <a:solidFill>
            <a:srgbClr val="FFFFFF"/>
          </a:solidFill>
          <a:ln w="12700">
            <a:solidFill>
              <a:srgbClr val="DADCE0"/>
            </a:solidFill>
            <a:prstDash val="solid"/>
          </a:ln>
          <a:effectLst>
            <a:outerShdw sx="100000" sy="100000" kx="0" ky="0" algn="bl" rotWithShape="0" blurRad="101600" dist="25400" dir="5400000">
              <a:srgbClr val="000000">
                <a:alpha val="12000"/>
              </a:srgbClr>
            </a:outerShdw>
          </a:effectLst>
        </p:spPr>
      </p:sp>
      <p:sp>
        <p:nvSpPr>
          <p:cNvPr id="22" name="Shape 16"/>
          <p:cNvSpPr/>
          <p:nvPr/>
        </p:nvSpPr>
        <p:spPr>
          <a:xfrm>
            <a:off x="731520" y="3054096"/>
            <a:ext cx="384048" cy="384048"/>
          </a:xfrm>
          <a:prstGeom prst="ellipse">
            <a:avLst/>
          </a:prstGeom>
          <a:solidFill>
            <a:srgbClr val="F9AB00"/>
          </a:solidFill>
          <a:ln w="12700">
            <a:solidFill>
              <a:srgbClr val="F9AB00"/>
            </a:solidFill>
            <a:prstDash val="solid"/>
          </a:ln>
        </p:spPr>
      </p:sp>
      <p:pic>
        <p:nvPicPr>
          <p:cNvPr id="23" name="Image 3" descr="preencoded.png">    </p:cNvPr>
          <p:cNvPicPr>
            <a:picLocks noChangeAspect="1"/>
          </p:cNvPicPr>
          <p:nvPr/>
        </p:nvPicPr>
        <p:blipFill>
          <a:blip r:embed="rId4"/>
          <a:stretch>
            <a:fillRect/>
          </a:stretch>
        </p:blipFill>
        <p:spPr>
          <a:xfrm>
            <a:off x="791431" y="3114007"/>
            <a:ext cx="264225" cy="264225"/>
          </a:xfrm>
          <a:prstGeom prst="rect">
            <a:avLst/>
          </a:prstGeom>
        </p:spPr>
      </p:pic>
      <p:sp>
        <p:nvSpPr>
          <p:cNvPr id="24" name="Text 17"/>
          <p:cNvSpPr txBox="1"/>
          <p:nvPr/>
        </p:nvSpPr>
        <p:spPr>
          <a:xfrm>
            <a:off x="1207008" y="3054096"/>
            <a:ext cx="1737360" cy="384048"/>
          </a:xfrm>
          <a:prstGeom prst="rect">
            <a:avLst/>
          </a:prstGeom>
          <a:noFill/>
          <a:ln/>
        </p:spPr>
        <p:txBody>
          <a:bodyPr wrap="square" lIns="0" tIns="0" rIns="0" bIns="0" rtlCol="0" anchor="ctr"/>
          <a:lstStyle/>
          <a:p>
            <a:pPr indent="0" marL="0">
              <a:buNone/>
            </a:pPr>
            <a:r>
              <a:rPr lang="en-US" sz="1300" b="1" dirty="0">
                <a:solidFill>
                  <a:srgbClr val="1E1E1E"/>
                </a:solidFill>
                <a:latin typeface="Arial" pitchFamily="34" charset="0"/>
                <a:ea typeface="Arial" pitchFamily="34" charset="-122"/>
                <a:cs typeface="Arial" pitchFamily="34" charset="-120"/>
              </a:rPr>
              <a:t>Google tools and credits</a:t>
            </a:r>
            <a:endParaRPr lang="en-US" sz="1300" dirty="0"/>
          </a:p>
        </p:txBody>
      </p:sp>
      <p:sp>
        <p:nvSpPr>
          <p:cNvPr id="25" name="Text 18"/>
          <p:cNvSpPr txBox="1"/>
          <p:nvPr/>
        </p:nvSpPr>
        <p:spPr>
          <a:xfrm>
            <a:off x="731520" y="3529584"/>
            <a:ext cx="2194560" cy="438912"/>
          </a:xfrm>
          <a:prstGeom prst="rect">
            <a:avLst/>
          </a:prstGeom>
          <a:noFill/>
          <a:ln/>
        </p:spPr>
        <p:txBody>
          <a:bodyPr wrap="square" lIns="0" tIns="0" rIns="0" bIns="0" rtlCol="0" anchor="t"/>
          <a:lstStyle/>
          <a:p>
            <a:pPr indent="0" marL="0">
              <a:buNone/>
            </a:pPr>
            <a:r>
              <a:rPr lang="en-US" sz="1050" dirty="0">
                <a:solidFill>
                  <a:srgbClr val="5F6368"/>
                </a:solidFill>
                <a:latin typeface="Arial" pitchFamily="34" charset="0"/>
                <a:ea typeface="Arial" pitchFamily="34" charset="-122"/>
                <a:cs typeface="Arial" pitchFamily="34" charset="-120"/>
              </a:rPr>
              <a:t>We'll share whatever we get access to through the chapter.</a:t>
            </a:r>
            <a:endParaRPr lang="en-US" sz="1050" dirty="0"/>
          </a:p>
        </p:txBody>
      </p:sp>
      <p:sp>
        <p:nvSpPr>
          <p:cNvPr id="26" name="Shape 19"/>
          <p:cNvSpPr/>
          <p:nvPr/>
        </p:nvSpPr>
        <p:spPr>
          <a:xfrm>
            <a:off x="3291840" y="2889504"/>
            <a:ext cx="2560320" cy="1170432"/>
          </a:xfrm>
          <a:prstGeom prst="roundRect">
            <a:avLst>
              <a:gd name="adj" fmla="val 10938"/>
            </a:avLst>
          </a:prstGeom>
          <a:solidFill>
            <a:srgbClr val="FFFFFF"/>
          </a:solidFill>
          <a:ln w="12700">
            <a:solidFill>
              <a:srgbClr val="DADCE0"/>
            </a:solidFill>
            <a:prstDash val="solid"/>
          </a:ln>
          <a:effectLst>
            <a:outerShdw sx="100000" sy="100000" kx="0" ky="0" algn="bl" rotWithShape="0" blurRad="101600" dist="25400" dir="5400000">
              <a:srgbClr val="000000">
                <a:alpha val="12000"/>
              </a:srgbClr>
            </a:outerShdw>
          </a:effectLst>
        </p:spPr>
      </p:sp>
      <p:sp>
        <p:nvSpPr>
          <p:cNvPr id="27" name="Shape 20"/>
          <p:cNvSpPr/>
          <p:nvPr/>
        </p:nvSpPr>
        <p:spPr>
          <a:xfrm>
            <a:off x="3474720" y="3054096"/>
            <a:ext cx="384048" cy="384048"/>
          </a:xfrm>
          <a:prstGeom prst="ellipse">
            <a:avLst/>
          </a:prstGeom>
          <a:solidFill>
            <a:srgbClr val="4285F4"/>
          </a:solidFill>
          <a:ln w="12700">
            <a:solidFill>
              <a:srgbClr val="4285F4"/>
            </a:solidFill>
            <a:prstDash val="solid"/>
          </a:ln>
        </p:spPr>
      </p:sp>
      <p:pic>
        <p:nvPicPr>
          <p:cNvPr id="28" name="Image 4" descr="preencoded.png">    </p:cNvPr>
          <p:cNvPicPr>
            <a:picLocks noChangeAspect="1"/>
          </p:cNvPicPr>
          <p:nvPr/>
        </p:nvPicPr>
        <p:blipFill>
          <a:blip r:embed="rId5"/>
          <a:stretch>
            <a:fillRect/>
          </a:stretch>
        </p:blipFill>
        <p:spPr>
          <a:xfrm>
            <a:off x="3534631" y="3114007"/>
            <a:ext cx="264225" cy="264225"/>
          </a:xfrm>
          <a:prstGeom prst="rect">
            <a:avLst/>
          </a:prstGeom>
        </p:spPr>
      </p:pic>
      <p:sp>
        <p:nvSpPr>
          <p:cNvPr id="29" name="Text 21"/>
          <p:cNvSpPr txBox="1"/>
          <p:nvPr/>
        </p:nvSpPr>
        <p:spPr>
          <a:xfrm>
            <a:off x="3950208" y="3054096"/>
            <a:ext cx="1737360" cy="384048"/>
          </a:xfrm>
          <a:prstGeom prst="rect">
            <a:avLst/>
          </a:prstGeom>
          <a:noFill/>
          <a:ln/>
        </p:spPr>
        <p:txBody>
          <a:bodyPr wrap="square" lIns="0" tIns="0" rIns="0" bIns="0" rtlCol="0" anchor="ctr"/>
          <a:lstStyle/>
          <a:p>
            <a:pPr indent="0" marL="0">
              <a:buNone/>
            </a:pPr>
            <a:r>
              <a:rPr lang="en-US" sz="1300" b="1" dirty="0">
                <a:solidFill>
                  <a:srgbClr val="1E1E1E"/>
                </a:solidFill>
                <a:latin typeface="Arial" pitchFamily="34" charset="0"/>
                <a:ea typeface="Arial" pitchFamily="34" charset="-122"/>
                <a:cs typeface="Arial" pitchFamily="34" charset="-120"/>
              </a:rPr>
              <a:t>Solution Challenge</a:t>
            </a:r>
            <a:endParaRPr lang="en-US" sz="1300" dirty="0"/>
          </a:p>
        </p:txBody>
      </p:sp>
      <p:sp>
        <p:nvSpPr>
          <p:cNvPr id="30" name="Text 22"/>
          <p:cNvSpPr txBox="1"/>
          <p:nvPr/>
        </p:nvSpPr>
        <p:spPr>
          <a:xfrm>
            <a:off x="3474720" y="3529584"/>
            <a:ext cx="2194560" cy="438912"/>
          </a:xfrm>
          <a:prstGeom prst="rect">
            <a:avLst/>
          </a:prstGeom>
          <a:noFill/>
          <a:ln/>
        </p:spPr>
        <p:txBody>
          <a:bodyPr wrap="square" lIns="0" tIns="0" rIns="0" bIns="0" rtlCol="0" anchor="t"/>
          <a:lstStyle/>
          <a:p>
            <a:pPr indent="0" marL="0">
              <a:buNone/>
            </a:pPr>
            <a:r>
              <a:rPr lang="en-US" sz="1050" dirty="0">
                <a:solidFill>
                  <a:srgbClr val="5F6368"/>
                </a:solidFill>
                <a:latin typeface="Arial" pitchFamily="34" charset="0"/>
                <a:ea typeface="Arial" pitchFamily="34" charset="-122"/>
                <a:cs typeface="Arial" pitchFamily="34" charset="-120"/>
              </a:rPr>
              <a:t>Google's yearly student competition. Find teammates here.</a:t>
            </a:r>
            <a:endParaRPr lang="en-US" sz="1050" dirty="0"/>
          </a:p>
        </p:txBody>
      </p:sp>
      <p:sp>
        <p:nvSpPr>
          <p:cNvPr id="31" name="Shape 23"/>
          <p:cNvSpPr/>
          <p:nvPr/>
        </p:nvSpPr>
        <p:spPr>
          <a:xfrm>
            <a:off x="6035040" y="2889504"/>
            <a:ext cx="2560320" cy="1170432"/>
          </a:xfrm>
          <a:prstGeom prst="roundRect">
            <a:avLst>
              <a:gd name="adj" fmla="val 10938"/>
            </a:avLst>
          </a:prstGeom>
          <a:solidFill>
            <a:srgbClr val="FFFFFF"/>
          </a:solidFill>
          <a:ln w="12700">
            <a:solidFill>
              <a:srgbClr val="DADCE0"/>
            </a:solidFill>
            <a:prstDash val="solid"/>
          </a:ln>
          <a:effectLst>
            <a:outerShdw sx="100000" sy="100000" kx="0" ky="0" algn="bl" rotWithShape="0" blurRad="101600" dist="25400" dir="5400000">
              <a:srgbClr val="000000">
                <a:alpha val="12000"/>
              </a:srgbClr>
            </a:outerShdw>
          </a:effectLst>
        </p:spPr>
      </p:sp>
      <p:sp>
        <p:nvSpPr>
          <p:cNvPr id="32" name="Shape 24"/>
          <p:cNvSpPr/>
          <p:nvPr/>
        </p:nvSpPr>
        <p:spPr>
          <a:xfrm>
            <a:off x="6217920" y="3054096"/>
            <a:ext cx="384048" cy="384048"/>
          </a:xfrm>
          <a:prstGeom prst="ellipse">
            <a:avLst/>
          </a:prstGeom>
          <a:solidFill>
            <a:srgbClr val="EA4335"/>
          </a:solidFill>
          <a:ln w="12700">
            <a:solidFill>
              <a:srgbClr val="EA4335"/>
            </a:solidFill>
            <a:prstDash val="solid"/>
          </a:ln>
        </p:spPr>
      </p:sp>
      <p:pic>
        <p:nvPicPr>
          <p:cNvPr id="33" name="Image 5" descr="preencoded.png">    </p:cNvPr>
          <p:cNvPicPr>
            <a:picLocks noChangeAspect="1"/>
          </p:cNvPicPr>
          <p:nvPr/>
        </p:nvPicPr>
        <p:blipFill>
          <a:blip r:embed="rId6"/>
          <a:stretch>
            <a:fillRect/>
          </a:stretch>
        </p:blipFill>
        <p:spPr>
          <a:xfrm>
            <a:off x="6277831" y="3114007"/>
            <a:ext cx="264225" cy="264225"/>
          </a:xfrm>
          <a:prstGeom prst="rect">
            <a:avLst/>
          </a:prstGeom>
        </p:spPr>
      </p:pic>
      <p:sp>
        <p:nvSpPr>
          <p:cNvPr id="34" name="Text 25"/>
          <p:cNvSpPr txBox="1"/>
          <p:nvPr/>
        </p:nvSpPr>
        <p:spPr>
          <a:xfrm>
            <a:off x="6693408" y="3054096"/>
            <a:ext cx="1737360" cy="384048"/>
          </a:xfrm>
          <a:prstGeom prst="rect">
            <a:avLst/>
          </a:prstGeom>
          <a:noFill/>
          <a:ln/>
        </p:spPr>
        <p:txBody>
          <a:bodyPr wrap="square" lIns="0" tIns="0" rIns="0" bIns="0" rtlCol="0" anchor="ctr"/>
          <a:lstStyle/>
          <a:p>
            <a:pPr indent="0" marL="0">
              <a:buNone/>
            </a:pPr>
            <a:r>
              <a:rPr lang="en-US" sz="1300" b="1" dirty="0">
                <a:solidFill>
                  <a:srgbClr val="1E1E1E"/>
                </a:solidFill>
                <a:latin typeface="Arial" pitchFamily="34" charset="0"/>
                <a:ea typeface="Arial" pitchFamily="34" charset="-122"/>
                <a:cs typeface="Arial" pitchFamily="34" charset="-120"/>
              </a:rPr>
              <a:t>Run events yourself</a:t>
            </a:r>
            <a:endParaRPr lang="en-US" sz="1300" dirty="0"/>
          </a:p>
        </p:txBody>
      </p:sp>
      <p:sp>
        <p:nvSpPr>
          <p:cNvPr id="35" name="Text 26"/>
          <p:cNvSpPr txBox="1"/>
          <p:nvPr/>
        </p:nvSpPr>
        <p:spPr>
          <a:xfrm>
            <a:off x="6217920" y="3529584"/>
            <a:ext cx="2194560" cy="438912"/>
          </a:xfrm>
          <a:prstGeom prst="rect">
            <a:avLst/>
          </a:prstGeom>
          <a:noFill/>
          <a:ln/>
        </p:spPr>
        <p:txBody>
          <a:bodyPr wrap="square" lIns="0" tIns="0" rIns="0" bIns="0" rtlCol="0" anchor="t"/>
          <a:lstStyle/>
          <a:p>
            <a:pPr indent="0" marL="0">
              <a:buNone/>
            </a:pPr>
            <a:r>
              <a:rPr lang="en-US" sz="1050" dirty="0">
                <a:solidFill>
                  <a:srgbClr val="5F6368"/>
                </a:solidFill>
                <a:latin typeface="Arial" pitchFamily="34" charset="0"/>
                <a:ea typeface="Arial" pitchFamily="34" charset="-122"/>
                <a:cs typeface="Arial" pitchFamily="34" charset="-120"/>
              </a:rPr>
              <a:t>Want experience organizing? We open spots every term.</a:t>
            </a:r>
            <a:endParaRPr lang="en-US" sz="1050" dirty="0"/>
          </a:p>
        </p:txBody>
      </p:sp>
      <p:sp>
        <p:nvSpPr>
          <p:cNvPr id="36" name="Shape 27"/>
          <p:cNvSpPr/>
          <p:nvPr/>
        </p:nvSpPr>
        <p:spPr>
          <a:xfrm>
            <a:off x="548640" y="4261104"/>
            <a:ext cx="237744" cy="237744"/>
          </a:xfrm>
          <a:prstGeom prst="ellipse">
            <a:avLst/>
          </a:prstGeom>
          <a:solidFill>
            <a:srgbClr val="FFFFFF"/>
          </a:solidFill>
          <a:ln w="12700">
            <a:solidFill>
              <a:srgbClr val="FFFFFF"/>
            </a:solidFill>
            <a:prstDash val="solid"/>
          </a:ln>
        </p:spPr>
      </p:sp>
      <p:pic>
        <p:nvPicPr>
          <p:cNvPr id="37" name="Image 6" descr="preencoded.png">    </p:cNvPr>
          <p:cNvPicPr>
            <a:picLocks noChangeAspect="1"/>
          </p:cNvPicPr>
          <p:nvPr/>
        </p:nvPicPr>
        <p:blipFill>
          <a:blip r:embed="rId7"/>
          <a:stretch>
            <a:fillRect/>
          </a:stretch>
        </p:blipFill>
        <p:spPr>
          <a:xfrm>
            <a:off x="548640" y="4261104"/>
            <a:ext cx="237744" cy="237744"/>
          </a:xfrm>
          <a:prstGeom prst="rect">
            <a:avLst/>
          </a:prstGeom>
        </p:spPr>
      </p:pic>
      <p:sp>
        <p:nvSpPr>
          <p:cNvPr id="38" name="Text 28"/>
          <p:cNvSpPr txBox="1"/>
          <p:nvPr/>
        </p:nvSpPr>
        <p:spPr>
          <a:xfrm>
            <a:off x="868680" y="4261104"/>
            <a:ext cx="7498080" cy="237744"/>
          </a:xfrm>
          <a:prstGeom prst="rect">
            <a:avLst/>
          </a:prstGeom>
          <a:noFill/>
          <a:ln/>
        </p:spPr>
        <p:txBody>
          <a:bodyPr wrap="square" lIns="0" tIns="0" rIns="0" bIns="0" rtlCol="0" anchor="ctr"/>
          <a:lstStyle/>
          <a:p>
            <a:pPr indent="0" marL="0">
              <a:buNone/>
            </a:pPr>
            <a:r>
              <a:rPr lang="en-US" sz="1100" dirty="0">
                <a:solidFill>
                  <a:srgbClr val="5F6368"/>
                </a:solidFill>
                <a:latin typeface="Arial" pitchFamily="34" charset="0"/>
                <a:ea typeface="Arial" pitchFamily="34" charset="-122"/>
                <a:cs typeface="Arial" pitchFamily="34" charset="-120"/>
              </a:rPr>
              <a:t>All our events are free and open to every Seneca student, no matter your program.</a:t>
            </a:r>
            <a:endParaRPr lang="en-US" sz="1100" dirty="0"/>
          </a:p>
        </p:txBody>
      </p:sp>
      <p:pic>
        <p:nvPicPr>
          <p:cNvPr id="39" name="Image 7" descr="/Users/datta/Developer/gdg-seneca/deck-builder/brand/mark.png">    </p:cNvPr>
          <p:cNvPicPr>
            <a:picLocks noChangeAspect="1"/>
          </p:cNvPicPr>
          <p:nvPr/>
        </p:nvPicPr>
        <p:blipFill>
          <a:blip r:embed="rId8"/>
          <a:stretch>
            <a:fillRect/>
          </a:stretch>
        </p:blipFill>
        <p:spPr>
          <a:xfrm>
            <a:off x="548640" y="4727448"/>
            <a:ext cx="201168" cy="201168"/>
          </a:xfrm>
          <a:prstGeom prst="rect">
            <a:avLst/>
          </a:prstGeom>
        </p:spPr>
      </p:pic>
      <p:sp>
        <p:nvSpPr>
          <p:cNvPr id="40" name="Text 29"/>
          <p:cNvSpPr txBox="1"/>
          <p:nvPr/>
        </p:nvSpPr>
        <p:spPr>
          <a:xfrm>
            <a:off x="822960" y="4727448"/>
            <a:ext cx="3657600" cy="201168"/>
          </a:xfrm>
          <a:prstGeom prst="rect">
            <a:avLst/>
          </a:prstGeom>
          <a:noFill/>
          <a:ln/>
        </p:spPr>
        <p:txBody>
          <a:bodyPr wrap="square" lIns="0" tIns="0" rIns="0" bIns="0" rtlCol="0" anchor="ctr"/>
          <a:lstStyle/>
          <a:p>
            <a:pPr indent="0" marL="0">
              <a:buNone/>
            </a:pPr>
            <a:r>
              <a:rPr lang="en-US" sz="900" dirty="0">
                <a:solidFill>
                  <a:srgbClr val="5F6368"/>
                </a:solidFill>
                <a:latin typeface="Arial" pitchFamily="34" charset="0"/>
                <a:ea typeface="Arial" pitchFamily="34" charset="-122"/>
                <a:cs typeface="Arial" pitchFamily="34" charset="-120"/>
              </a:rPr>
              <a:t>GDG on Campus  ·  Seneca Polytechnic</a:t>
            </a:r>
            <a:endParaRPr lang="en-US" sz="900" dirty="0"/>
          </a:p>
        </p:txBody>
      </p:sp>
      <p:sp>
        <p:nvSpPr>
          <p:cNvPr id="41" name="Text 30"/>
          <p:cNvSpPr txBox="1"/>
          <p:nvPr/>
        </p:nvSpPr>
        <p:spPr>
          <a:xfrm>
            <a:off x="8138160" y="4727448"/>
            <a:ext cx="457200" cy="201168"/>
          </a:xfrm>
          <a:prstGeom prst="rect">
            <a:avLst/>
          </a:prstGeom>
          <a:noFill/>
          <a:ln/>
        </p:spPr>
        <p:txBody>
          <a:bodyPr wrap="square" lIns="0" tIns="0" rIns="0" bIns="0" rtlCol="0" anchor="ctr"/>
          <a:lstStyle/>
          <a:p>
            <a:pPr algn="r" indent="0" marL="0">
              <a:buNone/>
            </a:pPr>
            <a:r>
              <a:rPr lang="en-US" sz="900" b="1" dirty="0">
                <a:solidFill>
                  <a:srgbClr val="5F6368"/>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411480"/>
            <a:ext cx="2377440" cy="292608"/>
          </a:xfrm>
          <a:prstGeom prst="roundRect">
            <a:avLst>
              <a:gd name="adj" fmla="val 50000"/>
            </a:avLst>
          </a:prstGeom>
          <a:solidFill>
            <a:srgbClr val="E8F0FE"/>
          </a:solidFill>
          <a:ln w="15875">
            <a:solidFill>
              <a:srgbClr val="4285F4"/>
            </a:solidFill>
            <a:prstDash val="solid"/>
          </a:ln>
        </p:spPr>
      </p:sp>
      <p:sp>
        <p:nvSpPr>
          <p:cNvPr id="4" name="Text 1"/>
          <p:cNvSpPr txBox="1"/>
          <p:nvPr/>
        </p:nvSpPr>
        <p:spPr>
          <a:xfrm>
            <a:off x="548640" y="411480"/>
            <a:ext cx="2377440" cy="292608"/>
          </a:xfrm>
          <a:prstGeom prst="rect">
            <a:avLst/>
          </a:prstGeom>
          <a:noFill/>
          <a:ln/>
        </p:spPr>
        <p:txBody>
          <a:bodyPr wrap="square" lIns="0" tIns="0" rIns="0" bIns="0" rtlCol="0" anchor="ctr"/>
          <a:lstStyle/>
          <a:p>
            <a:pPr algn="ctr" indent="0" marL="0">
              <a:buNone/>
            </a:pPr>
            <a:r>
              <a:rPr lang="en-US" sz="900" b="1" spc="150" kern="0" dirty="0">
                <a:solidFill>
                  <a:srgbClr val="1E1E1E"/>
                </a:solidFill>
                <a:latin typeface="Arial" pitchFamily="34" charset="0"/>
                <a:ea typeface="Arial" pitchFamily="34" charset="-122"/>
                <a:cs typeface="Arial" pitchFamily="34" charset="-120"/>
              </a:rPr>
              <a:t>03  FREE TOOLS, GOOGLE</a:t>
            </a:r>
            <a:endParaRPr lang="en-US" sz="900" dirty="0"/>
          </a:p>
        </p:txBody>
      </p:sp>
      <p:sp>
        <p:nvSpPr>
          <p:cNvPr id="5" name="Text 2"/>
          <p:cNvSpPr txBox="1"/>
          <p:nvPr/>
        </p:nvSpPr>
        <p:spPr>
          <a:xfrm>
            <a:off x="548640" y="868680"/>
            <a:ext cx="8046720" cy="548640"/>
          </a:xfrm>
          <a:prstGeom prst="rect">
            <a:avLst/>
          </a:prstGeom>
          <a:noFill/>
          <a:ln/>
        </p:spPr>
        <p:txBody>
          <a:bodyPr wrap="square" lIns="0" tIns="0" rIns="0" bIns="0" rtlCol="0" anchor="t"/>
          <a:lstStyle/>
          <a:p>
            <a:pPr indent="0" marL="0">
              <a:buNone/>
            </a:pPr>
            <a:r>
              <a:rPr lang="en-US" sz="2800" b="1" dirty="0">
                <a:solidFill>
                  <a:srgbClr val="1E1E1E"/>
                </a:solidFill>
                <a:latin typeface="Arial" pitchFamily="34" charset="0"/>
                <a:ea typeface="Arial" pitchFamily="34" charset="-122"/>
                <a:cs typeface="Arial" pitchFamily="34" charset="-120"/>
              </a:rPr>
              <a:t>Free stuff you can use right now</a:t>
            </a:r>
            <a:endParaRPr lang="en-US" sz="2800" dirty="0"/>
          </a:p>
        </p:txBody>
      </p:sp>
      <p:sp>
        <p:nvSpPr>
          <p:cNvPr id="6" name="Shape 3"/>
          <p:cNvSpPr/>
          <p:nvPr/>
        </p:nvSpPr>
        <p:spPr>
          <a:xfrm>
            <a:off x="548640" y="1645920"/>
            <a:ext cx="3291840" cy="2697480"/>
          </a:xfrm>
          <a:prstGeom prst="roundRect">
            <a:avLst>
              <a:gd name="adj" fmla="val 4746"/>
            </a:avLst>
          </a:prstGeom>
          <a:solidFill>
            <a:srgbClr val="4285F4"/>
          </a:solidFill>
          <a:ln w="12700">
            <a:solidFill>
              <a:srgbClr val="1E1E1E"/>
            </a:solidFill>
            <a:prstDash val="solid"/>
          </a:ln>
        </p:spPr>
      </p:sp>
      <p:sp>
        <p:nvSpPr>
          <p:cNvPr id="7" name="Shape 4"/>
          <p:cNvSpPr/>
          <p:nvPr/>
        </p:nvSpPr>
        <p:spPr>
          <a:xfrm>
            <a:off x="3154680" y="1828800"/>
            <a:ext cx="502920" cy="502920"/>
          </a:xfrm>
          <a:prstGeom prst="roundRect">
            <a:avLst>
              <a:gd name="adj" fmla="val 22000"/>
            </a:avLst>
          </a:prstGeom>
          <a:solidFill>
            <a:srgbClr val="FFFFFF"/>
          </a:solidFill>
          <a:ln w="9525">
            <a:solidFill>
              <a:srgbClr val="DADCE0"/>
            </a:solidFill>
            <a:prstDash val="solid"/>
          </a:ln>
        </p:spPr>
      </p:sp>
      <p:pic>
        <p:nvPicPr>
          <p:cNvPr id="8" name="Image 0" descr="preencoded.png">
            <a:hlinkClick r:id="rId2" tooltip=""/>
          </p:cNvPr>
          <p:cNvPicPr>
            <a:picLocks noChangeAspect="1"/>
          </p:cNvPicPr>
          <p:nvPr/>
        </p:nvPicPr>
        <p:blipFill>
          <a:blip r:embed="rId1"/>
          <a:stretch>
            <a:fillRect/>
          </a:stretch>
        </p:blipFill>
        <p:spPr>
          <a:xfrm>
            <a:off x="3225089" y="1899209"/>
            <a:ext cx="362102" cy="362102"/>
          </a:xfrm>
          <a:prstGeom prst="rect">
            <a:avLst/>
          </a:prstGeom>
        </p:spPr>
      </p:pic>
      <p:sp>
        <p:nvSpPr>
          <p:cNvPr id="9" name="Text 5"/>
          <p:cNvSpPr txBox="1"/>
          <p:nvPr/>
        </p:nvSpPr>
        <p:spPr>
          <a:xfrm>
            <a:off x="777240" y="1828800"/>
            <a:ext cx="2377440" cy="1005840"/>
          </a:xfrm>
          <a:prstGeom prst="rect">
            <a:avLst/>
          </a:prstGeom>
          <a:noFill/>
          <a:ln/>
        </p:spPr>
        <p:txBody>
          <a:bodyPr wrap="square" lIns="0" tIns="0" rIns="0" bIns="0" rtlCol="0" anchor="ctr"/>
          <a:lstStyle/>
          <a:p>
            <a:pPr indent="0" marL="0">
              <a:buNone/>
            </a:pPr>
            <a:r>
              <a:rPr lang="en-US" sz="6400" b="1" dirty="0">
                <a:solidFill>
                  <a:srgbClr val="FFFFFF"/>
                </a:solidFill>
                <a:latin typeface="Arial" pitchFamily="34" charset="0"/>
                <a:ea typeface="Arial" pitchFamily="34" charset="-122"/>
                <a:cs typeface="Arial" pitchFamily="34" charset="-120"/>
              </a:rPr>
              <a:t>$300</a:t>
            </a:r>
            <a:endParaRPr lang="en-US" sz="6400" dirty="0"/>
          </a:p>
        </p:txBody>
      </p:sp>
      <p:sp>
        <p:nvSpPr>
          <p:cNvPr id="10" name="Text 6"/>
          <p:cNvSpPr txBox="1"/>
          <p:nvPr/>
        </p:nvSpPr>
        <p:spPr>
          <a:xfrm>
            <a:off x="777240" y="2834640"/>
            <a:ext cx="283464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in Google Cloud credits for new accounts</a:t>
            </a:r>
            <a:endParaRPr lang="en-US" sz="1500" dirty="0"/>
          </a:p>
        </p:txBody>
      </p:sp>
      <p:sp>
        <p:nvSpPr>
          <p:cNvPr id="11" name="Text 7"/>
          <p:cNvSpPr txBox="1"/>
          <p:nvPr/>
        </p:nvSpPr>
        <p:spPr>
          <a:xfrm>
            <a:off x="777240" y="3429000"/>
            <a:ext cx="2834640" cy="77724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And there's an always-free tier that sticks around after the credits are gone.  </a:t>
            </a:r>
            <a:endParaRPr lang="en-US" sz="1150" dirty="0"/>
          </a:p>
          <a:p>
            <a:pPr indent="0" marL="0">
              <a:buNone/>
            </a:pPr>
            <a:r>
              <a:rPr lang="en-US" sz="1150" b="1" u="sng" dirty="0">
                <a:solidFill>
                  <a:srgbClr val="FFFFFF"/>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cloud.google.com/free</a:t>
            </a:r>
            <a:endParaRPr lang="en-US" sz="1150" dirty="0"/>
          </a:p>
        </p:txBody>
      </p:sp>
      <p:sp>
        <p:nvSpPr>
          <p:cNvPr id="12" name="Shape 8"/>
          <p:cNvSpPr/>
          <p:nvPr/>
        </p:nvSpPr>
        <p:spPr>
          <a:xfrm>
            <a:off x="4114800" y="1645920"/>
            <a:ext cx="2194560" cy="804672"/>
          </a:xfrm>
          <a:prstGeom prst="roundRect">
            <a:avLst>
              <a:gd name="adj" fmla="val 15909"/>
            </a:avLst>
          </a:prstGeom>
          <a:solidFill>
            <a:srgbClr val="E8F0FE"/>
          </a:solidFill>
          <a:ln w="12700">
            <a:solidFill>
              <a:srgbClr val="E8F0FE"/>
            </a:solidFill>
            <a:prstDash val="solid"/>
          </a:ln>
        </p:spPr>
      </p:sp>
      <p:sp>
        <p:nvSpPr>
          <p:cNvPr id="13" name="Shape 9"/>
          <p:cNvSpPr/>
          <p:nvPr/>
        </p:nvSpPr>
        <p:spPr>
          <a:xfrm>
            <a:off x="4242816" y="1801368"/>
            <a:ext cx="493776" cy="493776"/>
          </a:xfrm>
          <a:prstGeom prst="roundRect">
            <a:avLst>
              <a:gd name="adj" fmla="val 22000"/>
            </a:avLst>
          </a:prstGeom>
          <a:solidFill>
            <a:srgbClr val="FFFFFF"/>
          </a:solidFill>
          <a:ln w="9525">
            <a:solidFill>
              <a:srgbClr val="DADCE0"/>
            </a:solidFill>
            <a:prstDash val="solid"/>
          </a:ln>
        </p:spPr>
      </p:sp>
      <p:pic>
        <p:nvPicPr>
          <p:cNvPr id="14" name="Image 1" descr="preencoded.png">
            <a:hlinkClick r:id="rId5" tooltip=""/>
          </p:cNvPr>
          <p:cNvPicPr>
            <a:picLocks noChangeAspect="1"/>
          </p:cNvPicPr>
          <p:nvPr/>
        </p:nvPicPr>
        <p:blipFill>
          <a:blip r:embed="rId4"/>
          <a:stretch>
            <a:fillRect/>
          </a:stretch>
        </p:blipFill>
        <p:spPr>
          <a:xfrm>
            <a:off x="4311945" y="1870497"/>
            <a:ext cx="355519" cy="355519"/>
          </a:xfrm>
          <a:prstGeom prst="rect">
            <a:avLst/>
          </a:prstGeom>
        </p:spPr>
      </p:pic>
      <p:sp>
        <p:nvSpPr>
          <p:cNvPr id="15" name="Text 10"/>
          <p:cNvSpPr txBox="1"/>
          <p:nvPr/>
        </p:nvSpPr>
        <p:spPr>
          <a:xfrm>
            <a:off x="4846320" y="1737360"/>
            <a:ext cx="1417320" cy="274320"/>
          </a:xfrm>
          <a:prstGeom prst="rect">
            <a:avLst/>
          </a:prstGeom>
          <a:noFill/>
          <a:ln/>
        </p:spPr>
        <p:txBody>
          <a:bodyPr wrap="square" lIns="0" tIns="0" rIns="0" bIns="0" rtlCol="0" anchor="ctr"/>
          <a:lstStyle/>
          <a:p>
            <a:pPr indent="0" marL="0">
              <a:buNone/>
            </a:pPr>
            <a:r>
              <a:rPr lang="en-US" sz="1200" b="1" u="sng" dirty="0">
                <a:solidFill>
                  <a:srgbClr val="1E1E1E"/>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Google AI Studio</a:t>
            </a:r>
            <a:endParaRPr lang="en-US" sz="1200" dirty="0"/>
          </a:p>
        </p:txBody>
      </p:sp>
      <p:sp>
        <p:nvSpPr>
          <p:cNvPr id="16" name="Text 11"/>
          <p:cNvSpPr txBox="1"/>
          <p:nvPr/>
        </p:nvSpPr>
        <p:spPr>
          <a:xfrm>
            <a:off x="4846320" y="2011680"/>
            <a:ext cx="1417320" cy="384048"/>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Use the Gemini API for free, no card needed</a:t>
            </a:r>
            <a:endParaRPr lang="en-US" sz="950" dirty="0"/>
          </a:p>
        </p:txBody>
      </p:sp>
      <p:sp>
        <p:nvSpPr>
          <p:cNvPr id="17" name="Shape 12"/>
          <p:cNvSpPr/>
          <p:nvPr/>
        </p:nvSpPr>
        <p:spPr>
          <a:xfrm>
            <a:off x="6400800" y="1645920"/>
            <a:ext cx="2194560" cy="804672"/>
          </a:xfrm>
          <a:prstGeom prst="roundRect">
            <a:avLst>
              <a:gd name="adj" fmla="val 15909"/>
            </a:avLst>
          </a:prstGeom>
          <a:solidFill>
            <a:srgbClr val="FEF7E0"/>
          </a:solidFill>
          <a:ln w="12700">
            <a:solidFill>
              <a:srgbClr val="FEF7E0"/>
            </a:solidFill>
            <a:prstDash val="solid"/>
          </a:ln>
        </p:spPr>
      </p:sp>
      <p:sp>
        <p:nvSpPr>
          <p:cNvPr id="18" name="Shape 13"/>
          <p:cNvSpPr/>
          <p:nvPr/>
        </p:nvSpPr>
        <p:spPr>
          <a:xfrm>
            <a:off x="6528816" y="1801368"/>
            <a:ext cx="493776" cy="493776"/>
          </a:xfrm>
          <a:prstGeom prst="roundRect">
            <a:avLst>
              <a:gd name="adj" fmla="val 22000"/>
            </a:avLst>
          </a:prstGeom>
          <a:solidFill>
            <a:srgbClr val="FFFFFF"/>
          </a:solidFill>
          <a:ln w="9525">
            <a:solidFill>
              <a:srgbClr val="DADCE0"/>
            </a:solidFill>
            <a:prstDash val="solid"/>
          </a:ln>
        </p:spPr>
      </p:sp>
      <p:pic>
        <p:nvPicPr>
          <p:cNvPr id="19" name="Image 2" descr="preencoded.png">
            <a:hlinkClick r:id="rId8" tooltip=""/>
          </p:cNvPr>
          <p:cNvPicPr>
            <a:picLocks noChangeAspect="1"/>
          </p:cNvPicPr>
          <p:nvPr/>
        </p:nvPicPr>
        <p:blipFill>
          <a:blip r:embed="rId7"/>
          <a:stretch>
            <a:fillRect/>
          </a:stretch>
        </p:blipFill>
        <p:spPr>
          <a:xfrm>
            <a:off x="6597945" y="1870497"/>
            <a:ext cx="355519" cy="355519"/>
          </a:xfrm>
          <a:prstGeom prst="rect">
            <a:avLst/>
          </a:prstGeom>
        </p:spPr>
      </p:pic>
      <p:sp>
        <p:nvSpPr>
          <p:cNvPr id="20" name="Text 14"/>
          <p:cNvSpPr txBox="1"/>
          <p:nvPr/>
        </p:nvSpPr>
        <p:spPr>
          <a:xfrm>
            <a:off x="7132320" y="1737360"/>
            <a:ext cx="1417320" cy="274320"/>
          </a:xfrm>
          <a:prstGeom prst="rect">
            <a:avLst/>
          </a:prstGeom>
          <a:noFill/>
          <a:ln/>
        </p:spPr>
        <p:txBody>
          <a:bodyPr wrap="square" lIns="0" tIns="0" rIns="0" bIns="0" rtlCol="0" anchor="ctr"/>
          <a:lstStyle/>
          <a:p>
            <a:pPr indent="0" marL="0">
              <a:buNone/>
            </a:pPr>
            <a:r>
              <a:rPr lang="en-US" sz="1200" b="1" u="sng" dirty="0">
                <a:solidFill>
                  <a:srgbClr val="1E1E1E"/>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Google Colab</a:t>
            </a:r>
            <a:endParaRPr lang="en-US" sz="1200" dirty="0"/>
          </a:p>
        </p:txBody>
      </p:sp>
      <p:sp>
        <p:nvSpPr>
          <p:cNvPr id="21" name="Text 15"/>
          <p:cNvSpPr txBox="1"/>
          <p:nvPr/>
        </p:nvSpPr>
        <p:spPr>
          <a:xfrm>
            <a:off x="7132320" y="2011680"/>
            <a:ext cx="1417320" cy="384048"/>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Run Python on a free GPU</a:t>
            </a:r>
            <a:endParaRPr lang="en-US" sz="950" dirty="0"/>
          </a:p>
        </p:txBody>
      </p:sp>
      <p:sp>
        <p:nvSpPr>
          <p:cNvPr id="22" name="Shape 16"/>
          <p:cNvSpPr/>
          <p:nvPr/>
        </p:nvSpPr>
        <p:spPr>
          <a:xfrm>
            <a:off x="4114800" y="2560320"/>
            <a:ext cx="2194560" cy="804672"/>
          </a:xfrm>
          <a:prstGeom prst="roundRect">
            <a:avLst>
              <a:gd name="adj" fmla="val 15909"/>
            </a:avLst>
          </a:prstGeom>
          <a:solidFill>
            <a:srgbClr val="E8F0FE"/>
          </a:solidFill>
          <a:ln w="12700">
            <a:solidFill>
              <a:srgbClr val="E8F0FE"/>
            </a:solidFill>
            <a:prstDash val="solid"/>
          </a:ln>
        </p:spPr>
      </p:sp>
      <p:sp>
        <p:nvSpPr>
          <p:cNvPr id="23" name="Shape 17"/>
          <p:cNvSpPr/>
          <p:nvPr/>
        </p:nvSpPr>
        <p:spPr>
          <a:xfrm>
            <a:off x="4242816" y="2715768"/>
            <a:ext cx="493776" cy="493776"/>
          </a:xfrm>
          <a:prstGeom prst="roundRect">
            <a:avLst>
              <a:gd name="adj" fmla="val 22000"/>
            </a:avLst>
          </a:prstGeom>
          <a:solidFill>
            <a:srgbClr val="FFFFFF"/>
          </a:solidFill>
          <a:ln w="9525">
            <a:solidFill>
              <a:srgbClr val="DADCE0"/>
            </a:solidFill>
            <a:prstDash val="solid"/>
          </a:ln>
        </p:spPr>
      </p:sp>
      <p:pic>
        <p:nvPicPr>
          <p:cNvPr id="24" name="Image 3" descr="preencoded.png">
            <a:hlinkClick r:id="rId11" tooltip=""/>
          </p:cNvPr>
          <p:cNvPicPr>
            <a:picLocks noChangeAspect="1"/>
          </p:cNvPicPr>
          <p:nvPr/>
        </p:nvPicPr>
        <p:blipFill>
          <a:blip r:embed="rId10"/>
          <a:stretch>
            <a:fillRect/>
          </a:stretch>
        </p:blipFill>
        <p:spPr>
          <a:xfrm>
            <a:off x="4311945" y="2784897"/>
            <a:ext cx="355519" cy="355519"/>
          </a:xfrm>
          <a:prstGeom prst="rect">
            <a:avLst/>
          </a:prstGeom>
        </p:spPr>
      </p:pic>
      <p:sp>
        <p:nvSpPr>
          <p:cNvPr id="25" name="Text 18"/>
          <p:cNvSpPr txBox="1"/>
          <p:nvPr/>
        </p:nvSpPr>
        <p:spPr>
          <a:xfrm>
            <a:off x="4846320" y="2651760"/>
            <a:ext cx="1417320" cy="274320"/>
          </a:xfrm>
          <a:prstGeom prst="rect">
            <a:avLst/>
          </a:prstGeom>
          <a:noFill/>
          <a:ln/>
        </p:spPr>
        <p:txBody>
          <a:bodyPr wrap="square" lIns="0" tIns="0" rIns="0" bIns="0" rtlCol="0" anchor="ctr"/>
          <a:lstStyle/>
          <a:p>
            <a:pPr indent="0" marL="0">
              <a:buNone/>
            </a:pPr>
            <a:r>
              <a:rPr lang="en-US" sz="1200" b="1" u="sng" dirty="0">
                <a:solidFill>
                  <a:srgbClr val="1E1E1E"/>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Kaggle</a:t>
            </a:r>
            <a:endParaRPr lang="en-US" sz="1200" dirty="0"/>
          </a:p>
        </p:txBody>
      </p:sp>
      <p:sp>
        <p:nvSpPr>
          <p:cNvPr id="26" name="Text 19"/>
          <p:cNvSpPr txBox="1"/>
          <p:nvPr/>
        </p:nvSpPr>
        <p:spPr>
          <a:xfrm>
            <a:off x="4846320" y="2926080"/>
            <a:ext cx="1417320" cy="384048"/>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Free GPU hours every week, plus short courses</a:t>
            </a:r>
            <a:endParaRPr lang="en-US" sz="950" dirty="0"/>
          </a:p>
        </p:txBody>
      </p:sp>
      <p:sp>
        <p:nvSpPr>
          <p:cNvPr id="27" name="Shape 20"/>
          <p:cNvSpPr/>
          <p:nvPr/>
        </p:nvSpPr>
        <p:spPr>
          <a:xfrm>
            <a:off x="6400800" y="2560320"/>
            <a:ext cx="2194560" cy="804672"/>
          </a:xfrm>
          <a:prstGeom prst="roundRect">
            <a:avLst>
              <a:gd name="adj" fmla="val 15909"/>
            </a:avLst>
          </a:prstGeom>
          <a:solidFill>
            <a:srgbClr val="FCE8E6"/>
          </a:solidFill>
          <a:ln w="12700">
            <a:solidFill>
              <a:srgbClr val="FCE8E6"/>
            </a:solidFill>
            <a:prstDash val="solid"/>
          </a:ln>
        </p:spPr>
      </p:sp>
      <p:sp>
        <p:nvSpPr>
          <p:cNvPr id="28" name="Shape 21"/>
          <p:cNvSpPr/>
          <p:nvPr/>
        </p:nvSpPr>
        <p:spPr>
          <a:xfrm>
            <a:off x="6528816" y="2715768"/>
            <a:ext cx="493776" cy="493776"/>
          </a:xfrm>
          <a:prstGeom prst="roundRect">
            <a:avLst>
              <a:gd name="adj" fmla="val 22000"/>
            </a:avLst>
          </a:prstGeom>
          <a:solidFill>
            <a:srgbClr val="FFFFFF"/>
          </a:solidFill>
          <a:ln w="9525">
            <a:solidFill>
              <a:srgbClr val="DADCE0"/>
            </a:solidFill>
            <a:prstDash val="solid"/>
          </a:ln>
        </p:spPr>
      </p:sp>
      <p:pic>
        <p:nvPicPr>
          <p:cNvPr id="29" name="Image 4" descr="preencoded.png">
            <a:hlinkClick r:id="rId14" tooltip=""/>
          </p:cNvPr>
          <p:cNvPicPr>
            <a:picLocks noChangeAspect="1"/>
          </p:cNvPicPr>
          <p:nvPr/>
        </p:nvPicPr>
        <p:blipFill>
          <a:blip r:embed="rId13"/>
          <a:stretch>
            <a:fillRect/>
          </a:stretch>
        </p:blipFill>
        <p:spPr>
          <a:xfrm>
            <a:off x="6597945" y="2784897"/>
            <a:ext cx="355519" cy="355519"/>
          </a:xfrm>
          <a:prstGeom prst="rect">
            <a:avLst/>
          </a:prstGeom>
        </p:spPr>
      </p:pic>
      <p:sp>
        <p:nvSpPr>
          <p:cNvPr id="30" name="Text 22"/>
          <p:cNvSpPr txBox="1"/>
          <p:nvPr/>
        </p:nvSpPr>
        <p:spPr>
          <a:xfrm>
            <a:off x="7132320" y="2651760"/>
            <a:ext cx="1417320" cy="274320"/>
          </a:xfrm>
          <a:prstGeom prst="rect">
            <a:avLst/>
          </a:prstGeom>
          <a:noFill/>
          <a:ln/>
        </p:spPr>
        <p:txBody>
          <a:bodyPr wrap="square" lIns="0" tIns="0" rIns="0" bIns="0" rtlCol="0" anchor="ctr"/>
          <a:lstStyle/>
          <a:p>
            <a:pPr indent="0" marL="0">
              <a:buNone/>
            </a:pPr>
            <a:r>
              <a:rPr lang="en-US" sz="1200" b="1" u="sng" dirty="0">
                <a:solidFill>
                  <a:srgbClr val="1E1E1E"/>
                </a:solidFill>
                <a:latin typeface="Arial" pitchFamily="34" charset="0"/>
                <a:ea typeface="Arial" pitchFamily="34" charset="-122"/>
                <a:cs typeface="Arial" pitchFamily="34" charset="-120"/>
                <a:hlinkClick r:id="rId15" invalidUrl="" action="" tgtFrame="" tooltip="" history="1" highlightClick="0" endSnd="0">
                  <a:extLst>
                    <a:ext uri="{A12FA001-AC4F-418D-AE19-62706E023703}">
                      <ahyp:hlinkClr xmlns:ahyp="http://schemas.microsoft.com/office/drawing/2018/hyperlinkcolor" val="tx"/>
                    </a:ext>
                  </a:extLst>
                </a:hlinkClick>
              </a:rPr>
              <a:t>Firebase Spark</a:t>
            </a:r>
            <a:endParaRPr lang="en-US" sz="1200" dirty="0"/>
          </a:p>
        </p:txBody>
      </p:sp>
      <p:sp>
        <p:nvSpPr>
          <p:cNvPr id="31" name="Text 23"/>
          <p:cNvSpPr txBox="1"/>
          <p:nvPr/>
        </p:nvSpPr>
        <p:spPr>
          <a:xfrm>
            <a:off x="7132320" y="2926080"/>
            <a:ext cx="1417320" cy="384048"/>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Free database and hosting for side projects</a:t>
            </a:r>
            <a:endParaRPr lang="en-US" sz="950" dirty="0"/>
          </a:p>
        </p:txBody>
      </p:sp>
      <p:sp>
        <p:nvSpPr>
          <p:cNvPr id="32" name="Shape 24"/>
          <p:cNvSpPr/>
          <p:nvPr/>
        </p:nvSpPr>
        <p:spPr>
          <a:xfrm>
            <a:off x="4114800" y="3474720"/>
            <a:ext cx="2194560" cy="804672"/>
          </a:xfrm>
          <a:prstGeom prst="roundRect">
            <a:avLst>
              <a:gd name="adj" fmla="val 15909"/>
            </a:avLst>
          </a:prstGeom>
          <a:solidFill>
            <a:srgbClr val="E6F4EA"/>
          </a:solidFill>
          <a:ln w="12700">
            <a:solidFill>
              <a:srgbClr val="E6F4EA"/>
            </a:solidFill>
            <a:prstDash val="solid"/>
          </a:ln>
        </p:spPr>
      </p:sp>
      <p:sp>
        <p:nvSpPr>
          <p:cNvPr id="33" name="Shape 25"/>
          <p:cNvSpPr/>
          <p:nvPr/>
        </p:nvSpPr>
        <p:spPr>
          <a:xfrm>
            <a:off x="4242816" y="3630168"/>
            <a:ext cx="493776" cy="493776"/>
          </a:xfrm>
          <a:prstGeom prst="roundRect">
            <a:avLst>
              <a:gd name="adj" fmla="val 22000"/>
            </a:avLst>
          </a:prstGeom>
          <a:solidFill>
            <a:srgbClr val="FFFFFF"/>
          </a:solidFill>
          <a:ln w="9525">
            <a:solidFill>
              <a:srgbClr val="DADCE0"/>
            </a:solidFill>
            <a:prstDash val="solid"/>
          </a:ln>
        </p:spPr>
      </p:sp>
      <p:pic>
        <p:nvPicPr>
          <p:cNvPr id="34" name="Image 5" descr="preencoded.png">
            <a:hlinkClick r:id="rId17" tooltip=""/>
          </p:cNvPr>
          <p:cNvPicPr>
            <a:picLocks noChangeAspect="1"/>
          </p:cNvPicPr>
          <p:nvPr/>
        </p:nvPicPr>
        <p:blipFill>
          <a:blip r:embed="rId16"/>
          <a:stretch>
            <a:fillRect/>
          </a:stretch>
        </p:blipFill>
        <p:spPr>
          <a:xfrm>
            <a:off x="4311945" y="3699297"/>
            <a:ext cx="355519" cy="355519"/>
          </a:xfrm>
          <a:prstGeom prst="rect">
            <a:avLst/>
          </a:prstGeom>
        </p:spPr>
      </p:pic>
      <p:sp>
        <p:nvSpPr>
          <p:cNvPr id="35" name="Text 26"/>
          <p:cNvSpPr txBox="1"/>
          <p:nvPr/>
        </p:nvSpPr>
        <p:spPr>
          <a:xfrm>
            <a:off x="4846320" y="3566160"/>
            <a:ext cx="1417320" cy="274320"/>
          </a:xfrm>
          <a:prstGeom prst="rect">
            <a:avLst/>
          </a:prstGeom>
          <a:noFill/>
          <a:ln/>
        </p:spPr>
        <p:txBody>
          <a:bodyPr wrap="square" lIns="0" tIns="0" rIns="0" bIns="0" rtlCol="0" anchor="ctr"/>
          <a:lstStyle/>
          <a:p>
            <a:pPr indent="0" marL="0">
              <a:buNone/>
            </a:pPr>
            <a:r>
              <a:rPr lang="en-US" sz="1100" b="1" u="sng" dirty="0">
                <a:solidFill>
                  <a:srgbClr val="1E1E1E"/>
                </a:solidFill>
                <a:latin typeface="Arial" pitchFamily="34" charset="0"/>
                <a:ea typeface="Arial" pitchFamily="34" charset="-122"/>
                <a:cs typeface="Arial" pitchFamily="34" charset="-120"/>
                <a:hlinkClick r:id="rId18" invalidUrl="" action="" tgtFrame="" tooltip="" history="1" highlightClick="0" endSnd="0">
                  <a:extLst>
                    <a:ext uri="{A12FA001-AC4F-418D-AE19-62706E023703}">
                      <ahyp:hlinkClr xmlns:ahyp="http://schemas.microsoft.com/office/drawing/2018/hyperlinkcolor" val="tx"/>
                    </a:ext>
                  </a:extLst>
                </a:hlinkClick>
              </a:rPr>
              <a:t>Gemini Code Assist</a:t>
            </a:r>
            <a:endParaRPr lang="en-US" sz="1100" dirty="0"/>
          </a:p>
        </p:txBody>
      </p:sp>
      <p:sp>
        <p:nvSpPr>
          <p:cNvPr id="36" name="Text 27"/>
          <p:cNvSpPr txBox="1"/>
          <p:nvPr/>
        </p:nvSpPr>
        <p:spPr>
          <a:xfrm>
            <a:off x="4846320" y="3840480"/>
            <a:ext cx="1417320" cy="384048"/>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AI coding help, free for individuals</a:t>
            </a:r>
            <a:endParaRPr lang="en-US" sz="950" dirty="0"/>
          </a:p>
        </p:txBody>
      </p:sp>
      <p:sp>
        <p:nvSpPr>
          <p:cNvPr id="37" name="Shape 28"/>
          <p:cNvSpPr/>
          <p:nvPr/>
        </p:nvSpPr>
        <p:spPr>
          <a:xfrm>
            <a:off x="6400800" y="3474720"/>
            <a:ext cx="2194560" cy="804672"/>
          </a:xfrm>
          <a:prstGeom prst="roundRect">
            <a:avLst>
              <a:gd name="adj" fmla="val 15909"/>
            </a:avLst>
          </a:prstGeom>
          <a:solidFill>
            <a:srgbClr val="E6F4EA"/>
          </a:solidFill>
          <a:ln w="12700">
            <a:solidFill>
              <a:srgbClr val="E6F4EA"/>
            </a:solidFill>
            <a:prstDash val="solid"/>
          </a:ln>
        </p:spPr>
      </p:sp>
      <p:sp>
        <p:nvSpPr>
          <p:cNvPr id="38" name="Shape 29"/>
          <p:cNvSpPr/>
          <p:nvPr/>
        </p:nvSpPr>
        <p:spPr>
          <a:xfrm>
            <a:off x="6528816" y="3630168"/>
            <a:ext cx="493776" cy="493776"/>
          </a:xfrm>
          <a:prstGeom prst="roundRect">
            <a:avLst>
              <a:gd name="adj" fmla="val 22000"/>
            </a:avLst>
          </a:prstGeom>
          <a:solidFill>
            <a:srgbClr val="FFFFFF"/>
          </a:solidFill>
          <a:ln w="9525">
            <a:solidFill>
              <a:srgbClr val="DADCE0"/>
            </a:solidFill>
            <a:prstDash val="solid"/>
          </a:ln>
        </p:spPr>
      </p:sp>
      <p:pic>
        <p:nvPicPr>
          <p:cNvPr id="39" name="Image 6" descr="preencoded.png">
            <a:hlinkClick r:id="rId20" tooltip=""/>
          </p:cNvPr>
          <p:cNvPicPr>
            <a:picLocks noChangeAspect="1"/>
          </p:cNvPicPr>
          <p:nvPr/>
        </p:nvPicPr>
        <p:blipFill>
          <a:blip r:embed="rId19"/>
          <a:stretch>
            <a:fillRect/>
          </a:stretch>
        </p:blipFill>
        <p:spPr>
          <a:xfrm>
            <a:off x="6597945" y="3699297"/>
            <a:ext cx="355519" cy="355519"/>
          </a:xfrm>
          <a:prstGeom prst="rect">
            <a:avLst/>
          </a:prstGeom>
        </p:spPr>
      </p:pic>
      <p:sp>
        <p:nvSpPr>
          <p:cNvPr id="40" name="Text 30"/>
          <p:cNvSpPr txBox="1"/>
          <p:nvPr/>
        </p:nvSpPr>
        <p:spPr>
          <a:xfrm>
            <a:off x="7132320" y="3566160"/>
            <a:ext cx="1417320" cy="274320"/>
          </a:xfrm>
          <a:prstGeom prst="rect">
            <a:avLst/>
          </a:prstGeom>
          <a:noFill/>
          <a:ln/>
        </p:spPr>
        <p:txBody>
          <a:bodyPr wrap="square" lIns="0" tIns="0" rIns="0" bIns="0" rtlCol="0" anchor="ctr"/>
          <a:lstStyle/>
          <a:p>
            <a:pPr indent="0" marL="0">
              <a:buNone/>
            </a:pPr>
            <a:r>
              <a:rPr lang="en-US" sz="1200" b="1" u="sng" dirty="0">
                <a:solidFill>
                  <a:srgbClr val="1E1E1E"/>
                </a:solidFill>
                <a:latin typeface="Arial" pitchFamily="34" charset="0"/>
                <a:ea typeface="Arial" pitchFamily="34" charset="-122"/>
                <a:cs typeface="Arial" pitchFamily="34" charset="-120"/>
                <a:hlinkClick r:id="rId21" invalidUrl="" action="" tgtFrame="" tooltip="" history="1" highlightClick="0" endSnd="0">
                  <a:extLst>
                    <a:ext uri="{A12FA001-AC4F-418D-AE19-62706E023703}">
                      <ahyp:hlinkClr xmlns:ahyp="http://schemas.microsoft.com/office/drawing/2018/hyperlinkcolor" val="tx"/>
                    </a:ext>
                  </a:extLst>
                </a:hlinkClick>
              </a:rPr>
              <a:t>Always-free tier</a:t>
            </a:r>
            <a:endParaRPr lang="en-US" sz="1200" dirty="0"/>
          </a:p>
        </p:txBody>
      </p:sp>
      <p:sp>
        <p:nvSpPr>
          <p:cNvPr id="41" name="Text 31"/>
          <p:cNvSpPr txBox="1"/>
          <p:nvPr/>
        </p:nvSpPr>
        <p:spPr>
          <a:xfrm>
            <a:off x="7132320" y="3840480"/>
            <a:ext cx="1417320" cy="384048"/>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Keeps working after the $300 is used up</a:t>
            </a:r>
            <a:endParaRPr lang="en-US" sz="950" dirty="0"/>
          </a:p>
        </p:txBody>
      </p:sp>
      <p:pic>
        <p:nvPicPr>
          <p:cNvPr id="42" name="Image 7" descr="/Users/datta/Developer/gdg-seneca/deck-builder/brand/mark.png">    </p:cNvPr>
          <p:cNvPicPr>
            <a:picLocks noChangeAspect="1"/>
          </p:cNvPicPr>
          <p:nvPr/>
        </p:nvPicPr>
        <p:blipFill>
          <a:blip r:embed="rId22"/>
          <a:stretch>
            <a:fillRect/>
          </a:stretch>
        </p:blipFill>
        <p:spPr>
          <a:xfrm>
            <a:off x="548640" y="4727448"/>
            <a:ext cx="201168" cy="201168"/>
          </a:xfrm>
          <a:prstGeom prst="rect">
            <a:avLst/>
          </a:prstGeom>
        </p:spPr>
      </p:pic>
      <p:sp>
        <p:nvSpPr>
          <p:cNvPr id="43" name="Text 32"/>
          <p:cNvSpPr txBox="1"/>
          <p:nvPr/>
        </p:nvSpPr>
        <p:spPr>
          <a:xfrm>
            <a:off x="822960" y="4727448"/>
            <a:ext cx="3657600" cy="201168"/>
          </a:xfrm>
          <a:prstGeom prst="rect">
            <a:avLst/>
          </a:prstGeom>
          <a:noFill/>
          <a:ln/>
        </p:spPr>
        <p:txBody>
          <a:bodyPr wrap="square" lIns="0" tIns="0" rIns="0" bIns="0" rtlCol="0" anchor="ctr"/>
          <a:lstStyle/>
          <a:p>
            <a:pPr indent="0" marL="0">
              <a:buNone/>
            </a:pPr>
            <a:r>
              <a:rPr lang="en-US" sz="900" dirty="0">
                <a:solidFill>
                  <a:srgbClr val="5F6368"/>
                </a:solidFill>
                <a:latin typeface="Arial" pitchFamily="34" charset="0"/>
                <a:ea typeface="Arial" pitchFamily="34" charset="-122"/>
                <a:cs typeface="Arial" pitchFamily="34" charset="-120"/>
              </a:rPr>
              <a:t>GDG on Campus  ·  Seneca Polytechnic</a:t>
            </a:r>
            <a:endParaRPr lang="en-US" sz="900" dirty="0"/>
          </a:p>
        </p:txBody>
      </p:sp>
      <p:sp>
        <p:nvSpPr>
          <p:cNvPr id="44" name="Text 33"/>
          <p:cNvSpPr txBox="1"/>
          <p:nvPr/>
        </p:nvSpPr>
        <p:spPr>
          <a:xfrm>
            <a:off x="8138160" y="4727448"/>
            <a:ext cx="457200" cy="201168"/>
          </a:xfrm>
          <a:prstGeom prst="rect">
            <a:avLst/>
          </a:prstGeom>
          <a:noFill/>
          <a:ln/>
        </p:spPr>
        <p:txBody>
          <a:bodyPr wrap="square" lIns="0" tIns="0" rIns="0" bIns="0" rtlCol="0" anchor="ctr"/>
          <a:lstStyle/>
          <a:p>
            <a:pPr algn="r" indent="0" marL="0">
              <a:buNone/>
            </a:pPr>
            <a:r>
              <a:rPr lang="en-US" sz="900" b="1" dirty="0">
                <a:solidFill>
                  <a:srgbClr val="5F6368"/>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411480"/>
            <a:ext cx="3200400" cy="292608"/>
          </a:xfrm>
          <a:prstGeom prst="roundRect">
            <a:avLst>
              <a:gd name="adj" fmla="val 50000"/>
            </a:avLst>
          </a:prstGeom>
          <a:solidFill>
            <a:srgbClr val="E6F4EA"/>
          </a:solidFill>
          <a:ln w="15875">
            <a:solidFill>
              <a:srgbClr val="34A853"/>
            </a:solidFill>
            <a:prstDash val="solid"/>
          </a:ln>
        </p:spPr>
      </p:sp>
      <p:sp>
        <p:nvSpPr>
          <p:cNvPr id="4" name="Text 1"/>
          <p:cNvSpPr txBox="1"/>
          <p:nvPr/>
        </p:nvSpPr>
        <p:spPr>
          <a:xfrm>
            <a:off x="548640" y="411480"/>
            <a:ext cx="3200400" cy="292608"/>
          </a:xfrm>
          <a:prstGeom prst="rect">
            <a:avLst/>
          </a:prstGeom>
          <a:noFill/>
          <a:ln/>
        </p:spPr>
        <p:txBody>
          <a:bodyPr wrap="square" lIns="0" tIns="0" rIns="0" bIns="0" rtlCol="0" anchor="ctr"/>
          <a:lstStyle/>
          <a:p>
            <a:pPr algn="ctr" indent="0" marL="0">
              <a:buNone/>
            </a:pPr>
            <a:r>
              <a:rPr lang="en-US" sz="900" b="1" spc="150" kern="0" dirty="0">
                <a:solidFill>
                  <a:srgbClr val="1E1E1E"/>
                </a:solidFill>
                <a:latin typeface="Arial" pitchFamily="34" charset="0"/>
                <a:ea typeface="Arial" pitchFamily="34" charset="-122"/>
                <a:cs typeface="Arial" pitchFamily="34" charset="-120"/>
              </a:rPr>
              <a:t>03  FREE TOOLS, GITHUB AND MORE</a:t>
            </a:r>
            <a:endParaRPr lang="en-US" sz="900" dirty="0"/>
          </a:p>
        </p:txBody>
      </p:sp>
      <p:sp>
        <p:nvSpPr>
          <p:cNvPr id="5" name="Text 2"/>
          <p:cNvSpPr txBox="1"/>
          <p:nvPr/>
        </p:nvSpPr>
        <p:spPr>
          <a:xfrm>
            <a:off x="548640" y="868680"/>
            <a:ext cx="5669280" cy="548640"/>
          </a:xfrm>
          <a:prstGeom prst="rect">
            <a:avLst/>
          </a:prstGeom>
          <a:noFill/>
          <a:ln/>
        </p:spPr>
        <p:txBody>
          <a:bodyPr wrap="square" lIns="0" tIns="0" rIns="0" bIns="0" rtlCol="0" anchor="t"/>
          <a:lstStyle/>
          <a:p>
            <a:pPr indent="0" marL="0">
              <a:buNone/>
            </a:pPr>
            <a:r>
              <a:rPr lang="en-US" sz="2800" b="1" dirty="0">
                <a:solidFill>
                  <a:srgbClr val="1E1E1E"/>
                </a:solidFill>
                <a:latin typeface="Arial" pitchFamily="34" charset="0"/>
                <a:ea typeface="Arial" pitchFamily="34" charset="-122"/>
                <a:cs typeface="Arial" pitchFamily="34" charset="-120"/>
              </a:rPr>
              <a:t>GitHub Student Developer Pack</a:t>
            </a:r>
            <a:endParaRPr lang="en-US" sz="2800" dirty="0"/>
          </a:p>
        </p:txBody>
      </p:sp>
      <p:sp>
        <p:nvSpPr>
          <p:cNvPr id="6" name="Text 3"/>
          <p:cNvSpPr txBox="1"/>
          <p:nvPr/>
        </p:nvSpPr>
        <p:spPr>
          <a:xfrm>
            <a:off x="548640" y="1417320"/>
            <a:ext cx="5486400" cy="320040"/>
          </a:xfrm>
          <a:prstGeom prst="rect">
            <a:avLst/>
          </a:prstGeom>
          <a:noFill/>
          <a:ln/>
        </p:spPr>
        <p:txBody>
          <a:bodyPr wrap="square" lIns="0" tIns="0" rIns="0" bIns="0" rtlCol="0" anchor="ctr"/>
          <a:lstStyle/>
          <a:p>
            <a:pPr indent="0" marL="0">
              <a:buNone/>
            </a:pPr>
            <a:r>
              <a:rPr lang="en-US" sz="1300" dirty="0">
                <a:solidFill>
                  <a:srgbClr val="5F6368"/>
                </a:solidFill>
                <a:latin typeface="Arial" pitchFamily="34" charset="0"/>
                <a:ea typeface="Arial" pitchFamily="34" charset="-122"/>
                <a:cs typeface="Arial" pitchFamily="34" charset="-120"/>
              </a:rPr>
              <a:t>Sign up with your school email. Some of the best parts:</a:t>
            </a:r>
            <a:endParaRPr lang="en-US" sz="1300" dirty="0"/>
          </a:p>
        </p:txBody>
      </p:sp>
      <p:sp>
        <p:nvSpPr>
          <p:cNvPr id="7" name="Shape 4"/>
          <p:cNvSpPr/>
          <p:nvPr/>
        </p:nvSpPr>
        <p:spPr>
          <a:xfrm>
            <a:off x="548640" y="1828800"/>
            <a:ext cx="2697480" cy="640080"/>
          </a:xfrm>
          <a:prstGeom prst="roundRect">
            <a:avLst>
              <a:gd name="adj" fmla="val 20000"/>
            </a:avLst>
          </a:prstGeom>
          <a:solidFill>
            <a:srgbClr val="E8F0FE"/>
          </a:solidFill>
          <a:ln w="12700">
            <a:solidFill>
              <a:srgbClr val="E8F0FE"/>
            </a:solidFill>
            <a:prstDash val="solid"/>
          </a:ln>
        </p:spPr>
      </p:sp>
      <p:sp>
        <p:nvSpPr>
          <p:cNvPr id="8" name="Shape 5"/>
          <p:cNvSpPr/>
          <p:nvPr/>
        </p:nvSpPr>
        <p:spPr>
          <a:xfrm>
            <a:off x="640080" y="1920240"/>
            <a:ext cx="457200" cy="457200"/>
          </a:xfrm>
          <a:prstGeom prst="roundRect">
            <a:avLst>
              <a:gd name="adj" fmla="val 22000"/>
            </a:avLst>
          </a:prstGeom>
          <a:solidFill>
            <a:srgbClr val="FFFFFF"/>
          </a:solidFill>
          <a:ln w="9525">
            <a:solidFill>
              <a:srgbClr val="DADCE0"/>
            </a:solidFill>
            <a:prstDash val="solid"/>
          </a:ln>
        </p:spPr>
      </p:sp>
      <p:pic>
        <p:nvPicPr>
          <p:cNvPr id="9" name="Image 0" descr="preencoded.png">    </p:cNvPr>
          <p:cNvPicPr>
            <a:picLocks noChangeAspect="1"/>
          </p:cNvPicPr>
          <p:nvPr/>
        </p:nvPicPr>
        <p:blipFill>
          <a:blip r:embed="rId1"/>
          <a:stretch>
            <a:fillRect/>
          </a:stretch>
        </p:blipFill>
        <p:spPr>
          <a:xfrm>
            <a:off x="704088" y="1984248"/>
            <a:ext cx="329184" cy="329184"/>
          </a:xfrm>
          <a:prstGeom prst="rect">
            <a:avLst/>
          </a:prstGeom>
        </p:spPr>
      </p:pic>
      <p:sp>
        <p:nvSpPr>
          <p:cNvPr id="10" name="Text 6"/>
          <p:cNvSpPr txBox="1"/>
          <p:nvPr/>
        </p:nvSpPr>
        <p:spPr>
          <a:xfrm>
            <a:off x="1207008" y="1901952"/>
            <a:ext cx="1965960" cy="256032"/>
          </a:xfrm>
          <a:prstGeom prst="rect">
            <a:avLst/>
          </a:prstGeom>
          <a:noFill/>
          <a:ln/>
        </p:spPr>
        <p:txBody>
          <a:bodyPr wrap="square" lIns="0" tIns="0" rIns="0" bIns="0" rtlCol="0" anchor="ctr"/>
          <a:lstStyle/>
          <a:p>
            <a:pPr indent="0" marL="0">
              <a:buNone/>
            </a:pPr>
            <a:r>
              <a:rPr lang="en-US" sz="1200" b="1" dirty="0">
                <a:solidFill>
                  <a:srgbClr val="1E1E1E"/>
                </a:solidFill>
                <a:latin typeface="Arial" pitchFamily="34" charset="0"/>
                <a:ea typeface="Arial" pitchFamily="34" charset="-122"/>
                <a:cs typeface="Arial" pitchFamily="34" charset="-120"/>
              </a:rPr>
              <a:t>GitHub Copilot Pro</a:t>
            </a:r>
            <a:endParaRPr lang="en-US" sz="1200" dirty="0"/>
          </a:p>
        </p:txBody>
      </p:sp>
      <p:sp>
        <p:nvSpPr>
          <p:cNvPr id="11" name="Text 7"/>
          <p:cNvSpPr txBox="1"/>
          <p:nvPr/>
        </p:nvSpPr>
        <p:spPr>
          <a:xfrm>
            <a:off x="1207008" y="2157984"/>
            <a:ext cx="1965960" cy="274320"/>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Free while you're a student</a:t>
            </a:r>
            <a:endParaRPr lang="en-US" sz="950" dirty="0"/>
          </a:p>
        </p:txBody>
      </p:sp>
      <p:sp>
        <p:nvSpPr>
          <p:cNvPr id="12" name="Shape 8"/>
          <p:cNvSpPr/>
          <p:nvPr/>
        </p:nvSpPr>
        <p:spPr>
          <a:xfrm>
            <a:off x="3383280" y="1828800"/>
            <a:ext cx="2697480" cy="640080"/>
          </a:xfrm>
          <a:prstGeom prst="roundRect">
            <a:avLst>
              <a:gd name="adj" fmla="val 20000"/>
            </a:avLst>
          </a:prstGeom>
          <a:solidFill>
            <a:srgbClr val="FCE8E6"/>
          </a:solidFill>
          <a:ln w="12700">
            <a:solidFill>
              <a:srgbClr val="FCE8E6"/>
            </a:solidFill>
            <a:prstDash val="solid"/>
          </a:ln>
        </p:spPr>
      </p:sp>
      <p:sp>
        <p:nvSpPr>
          <p:cNvPr id="13" name="Shape 9"/>
          <p:cNvSpPr/>
          <p:nvPr/>
        </p:nvSpPr>
        <p:spPr>
          <a:xfrm>
            <a:off x="3474720" y="1920240"/>
            <a:ext cx="457200" cy="457200"/>
          </a:xfrm>
          <a:prstGeom prst="roundRect">
            <a:avLst>
              <a:gd name="adj" fmla="val 22000"/>
            </a:avLst>
          </a:prstGeom>
          <a:solidFill>
            <a:srgbClr val="FFFFFF"/>
          </a:solidFill>
          <a:ln w="9525">
            <a:solidFill>
              <a:srgbClr val="DADCE0"/>
            </a:solidFill>
            <a:prstDash val="solid"/>
          </a:ln>
        </p:spPr>
      </p:sp>
      <p:pic>
        <p:nvPicPr>
          <p:cNvPr id="14" name="Image 1" descr="preencoded.png">    </p:cNvPr>
          <p:cNvPicPr>
            <a:picLocks noChangeAspect="1"/>
          </p:cNvPicPr>
          <p:nvPr/>
        </p:nvPicPr>
        <p:blipFill>
          <a:blip r:embed="rId2"/>
          <a:stretch>
            <a:fillRect/>
          </a:stretch>
        </p:blipFill>
        <p:spPr>
          <a:xfrm>
            <a:off x="3538728" y="1984248"/>
            <a:ext cx="329184" cy="329184"/>
          </a:xfrm>
          <a:prstGeom prst="rect">
            <a:avLst/>
          </a:prstGeom>
        </p:spPr>
      </p:pic>
      <p:sp>
        <p:nvSpPr>
          <p:cNvPr id="15" name="Text 10"/>
          <p:cNvSpPr txBox="1"/>
          <p:nvPr/>
        </p:nvSpPr>
        <p:spPr>
          <a:xfrm>
            <a:off x="4041648" y="1901952"/>
            <a:ext cx="1965960" cy="256032"/>
          </a:xfrm>
          <a:prstGeom prst="rect">
            <a:avLst/>
          </a:prstGeom>
          <a:noFill/>
          <a:ln/>
        </p:spPr>
        <p:txBody>
          <a:bodyPr wrap="square" lIns="0" tIns="0" rIns="0" bIns="0" rtlCol="0" anchor="ctr"/>
          <a:lstStyle/>
          <a:p>
            <a:pPr indent="0" marL="0">
              <a:buNone/>
            </a:pPr>
            <a:r>
              <a:rPr lang="en-US" sz="1200" b="1" dirty="0">
                <a:solidFill>
                  <a:srgbClr val="1E1E1E"/>
                </a:solidFill>
                <a:latin typeface="Arial" pitchFamily="34" charset="0"/>
                <a:ea typeface="Arial" pitchFamily="34" charset="-122"/>
                <a:cs typeface="Arial" pitchFamily="34" charset="-120"/>
              </a:rPr>
              <a:t>JetBrains IDEs</a:t>
            </a:r>
            <a:endParaRPr lang="en-US" sz="1200" dirty="0"/>
          </a:p>
        </p:txBody>
      </p:sp>
      <p:sp>
        <p:nvSpPr>
          <p:cNvPr id="16" name="Text 11"/>
          <p:cNvSpPr txBox="1"/>
          <p:nvPr/>
        </p:nvSpPr>
        <p:spPr>
          <a:xfrm>
            <a:off x="4041648" y="2157984"/>
            <a:ext cx="1965960" cy="274320"/>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All their IDEs, free</a:t>
            </a:r>
            <a:endParaRPr lang="en-US" sz="950" dirty="0"/>
          </a:p>
        </p:txBody>
      </p:sp>
      <p:sp>
        <p:nvSpPr>
          <p:cNvPr id="17" name="Shape 12"/>
          <p:cNvSpPr/>
          <p:nvPr/>
        </p:nvSpPr>
        <p:spPr>
          <a:xfrm>
            <a:off x="548640" y="2560320"/>
            <a:ext cx="2697480" cy="640080"/>
          </a:xfrm>
          <a:prstGeom prst="roundRect">
            <a:avLst>
              <a:gd name="adj" fmla="val 20000"/>
            </a:avLst>
          </a:prstGeom>
          <a:solidFill>
            <a:srgbClr val="E8F0FE"/>
          </a:solidFill>
          <a:ln w="12700">
            <a:solidFill>
              <a:srgbClr val="E8F0FE"/>
            </a:solidFill>
            <a:prstDash val="solid"/>
          </a:ln>
        </p:spPr>
      </p:sp>
      <p:sp>
        <p:nvSpPr>
          <p:cNvPr id="18" name="Shape 13"/>
          <p:cNvSpPr/>
          <p:nvPr/>
        </p:nvSpPr>
        <p:spPr>
          <a:xfrm>
            <a:off x="640080" y="2651760"/>
            <a:ext cx="457200" cy="457200"/>
          </a:xfrm>
          <a:prstGeom prst="roundRect">
            <a:avLst>
              <a:gd name="adj" fmla="val 22000"/>
            </a:avLst>
          </a:prstGeom>
          <a:solidFill>
            <a:srgbClr val="FFFFFF"/>
          </a:solidFill>
          <a:ln w="9525">
            <a:solidFill>
              <a:srgbClr val="DADCE0"/>
            </a:solidFill>
            <a:prstDash val="solid"/>
          </a:ln>
        </p:spPr>
      </p:sp>
      <p:pic>
        <p:nvPicPr>
          <p:cNvPr id="19" name="Image 2" descr="preencoded.png">    </p:cNvPr>
          <p:cNvPicPr>
            <a:picLocks noChangeAspect="1"/>
          </p:cNvPicPr>
          <p:nvPr/>
        </p:nvPicPr>
        <p:blipFill>
          <a:blip r:embed="rId3"/>
          <a:stretch>
            <a:fillRect/>
          </a:stretch>
        </p:blipFill>
        <p:spPr>
          <a:xfrm>
            <a:off x="704088" y="2715768"/>
            <a:ext cx="329184" cy="329184"/>
          </a:xfrm>
          <a:prstGeom prst="rect">
            <a:avLst/>
          </a:prstGeom>
        </p:spPr>
      </p:pic>
      <p:sp>
        <p:nvSpPr>
          <p:cNvPr id="20" name="Text 14"/>
          <p:cNvSpPr txBox="1"/>
          <p:nvPr/>
        </p:nvSpPr>
        <p:spPr>
          <a:xfrm>
            <a:off x="1207008" y="2633472"/>
            <a:ext cx="1965960" cy="256032"/>
          </a:xfrm>
          <a:prstGeom prst="rect">
            <a:avLst/>
          </a:prstGeom>
          <a:noFill/>
          <a:ln/>
        </p:spPr>
        <p:txBody>
          <a:bodyPr wrap="square" lIns="0" tIns="0" rIns="0" bIns="0" rtlCol="0" anchor="ctr"/>
          <a:lstStyle/>
          <a:p>
            <a:pPr indent="0" marL="0">
              <a:buNone/>
            </a:pPr>
            <a:r>
              <a:rPr lang="en-US" sz="1200" b="1" dirty="0">
                <a:solidFill>
                  <a:srgbClr val="1E1E1E"/>
                </a:solidFill>
                <a:latin typeface="Arial" pitchFamily="34" charset="0"/>
                <a:ea typeface="Arial" pitchFamily="34" charset="-122"/>
                <a:cs typeface="Arial" pitchFamily="34" charset="-120"/>
              </a:rPr>
              <a:t>Microsoft Azure</a:t>
            </a:r>
            <a:endParaRPr lang="en-US" sz="1200" dirty="0"/>
          </a:p>
        </p:txBody>
      </p:sp>
      <p:sp>
        <p:nvSpPr>
          <p:cNvPr id="21" name="Text 15"/>
          <p:cNvSpPr txBox="1"/>
          <p:nvPr/>
        </p:nvSpPr>
        <p:spPr>
          <a:xfrm>
            <a:off x="1207008" y="2889504"/>
            <a:ext cx="1965960" cy="274320"/>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$100 credit, no card needed</a:t>
            </a:r>
            <a:endParaRPr lang="en-US" sz="950" dirty="0"/>
          </a:p>
        </p:txBody>
      </p:sp>
      <p:sp>
        <p:nvSpPr>
          <p:cNvPr id="22" name="Shape 16"/>
          <p:cNvSpPr/>
          <p:nvPr/>
        </p:nvSpPr>
        <p:spPr>
          <a:xfrm>
            <a:off x="3383280" y="2560320"/>
            <a:ext cx="2697480" cy="640080"/>
          </a:xfrm>
          <a:prstGeom prst="roundRect">
            <a:avLst>
              <a:gd name="adj" fmla="val 20000"/>
            </a:avLst>
          </a:prstGeom>
          <a:solidFill>
            <a:srgbClr val="FEF7E0"/>
          </a:solidFill>
          <a:ln w="12700">
            <a:solidFill>
              <a:srgbClr val="FEF7E0"/>
            </a:solidFill>
            <a:prstDash val="solid"/>
          </a:ln>
        </p:spPr>
      </p:sp>
      <p:sp>
        <p:nvSpPr>
          <p:cNvPr id="23" name="Shape 17"/>
          <p:cNvSpPr/>
          <p:nvPr/>
        </p:nvSpPr>
        <p:spPr>
          <a:xfrm>
            <a:off x="3474720" y="2651760"/>
            <a:ext cx="457200" cy="457200"/>
          </a:xfrm>
          <a:prstGeom prst="roundRect">
            <a:avLst>
              <a:gd name="adj" fmla="val 22000"/>
            </a:avLst>
          </a:prstGeom>
          <a:solidFill>
            <a:srgbClr val="FFFFFF"/>
          </a:solidFill>
          <a:ln w="9525">
            <a:solidFill>
              <a:srgbClr val="DADCE0"/>
            </a:solidFill>
            <a:prstDash val="solid"/>
          </a:ln>
        </p:spPr>
      </p:sp>
      <p:pic>
        <p:nvPicPr>
          <p:cNvPr id="24" name="Image 3" descr="preencoded.png">    </p:cNvPr>
          <p:cNvPicPr>
            <a:picLocks noChangeAspect="1"/>
          </p:cNvPicPr>
          <p:nvPr/>
        </p:nvPicPr>
        <p:blipFill>
          <a:blip r:embed="rId4"/>
          <a:stretch>
            <a:fillRect/>
          </a:stretch>
        </p:blipFill>
        <p:spPr>
          <a:xfrm>
            <a:off x="3538728" y="2715768"/>
            <a:ext cx="329184" cy="329184"/>
          </a:xfrm>
          <a:prstGeom prst="rect">
            <a:avLst/>
          </a:prstGeom>
        </p:spPr>
      </p:pic>
      <p:sp>
        <p:nvSpPr>
          <p:cNvPr id="25" name="Text 18"/>
          <p:cNvSpPr txBox="1"/>
          <p:nvPr/>
        </p:nvSpPr>
        <p:spPr>
          <a:xfrm>
            <a:off x="4041648" y="2633472"/>
            <a:ext cx="1965960" cy="256032"/>
          </a:xfrm>
          <a:prstGeom prst="rect">
            <a:avLst/>
          </a:prstGeom>
          <a:noFill/>
          <a:ln/>
        </p:spPr>
        <p:txBody>
          <a:bodyPr wrap="square" lIns="0" tIns="0" rIns="0" bIns="0" rtlCol="0" anchor="ctr"/>
          <a:lstStyle/>
          <a:p>
            <a:pPr indent="0" marL="0">
              <a:buNone/>
            </a:pPr>
            <a:r>
              <a:rPr lang="en-US" sz="1200" b="1" dirty="0">
                <a:solidFill>
                  <a:srgbClr val="1E1E1E"/>
                </a:solidFill>
                <a:latin typeface="Arial" pitchFamily="34" charset="0"/>
                <a:ea typeface="Arial" pitchFamily="34" charset="-122"/>
                <a:cs typeface="Arial" pitchFamily="34" charset="-120"/>
              </a:rPr>
              <a:t>DigitalOcean</a:t>
            </a:r>
            <a:endParaRPr lang="en-US" sz="1200" dirty="0"/>
          </a:p>
        </p:txBody>
      </p:sp>
      <p:sp>
        <p:nvSpPr>
          <p:cNvPr id="26" name="Text 19"/>
          <p:cNvSpPr txBox="1"/>
          <p:nvPr/>
        </p:nvSpPr>
        <p:spPr>
          <a:xfrm>
            <a:off x="4041648" y="2889504"/>
            <a:ext cx="1965960" cy="274320"/>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$200 in credits</a:t>
            </a:r>
            <a:endParaRPr lang="en-US" sz="950" dirty="0"/>
          </a:p>
        </p:txBody>
      </p:sp>
      <p:sp>
        <p:nvSpPr>
          <p:cNvPr id="27" name="Shape 20"/>
          <p:cNvSpPr/>
          <p:nvPr/>
        </p:nvSpPr>
        <p:spPr>
          <a:xfrm>
            <a:off x="548640" y="3291840"/>
            <a:ext cx="2697480" cy="640080"/>
          </a:xfrm>
          <a:prstGeom prst="roundRect">
            <a:avLst>
              <a:gd name="adj" fmla="val 20000"/>
            </a:avLst>
          </a:prstGeom>
          <a:solidFill>
            <a:srgbClr val="FCE8E6"/>
          </a:solidFill>
          <a:ln w="12700">
            <a:solidFill>
              <a:srgbClr val="FCE8E6"/>
            </a:solidFill>
            <a:prstDash val="solid"/>
          </a:ln>
        </p:spPr>
      </p:sp>
      <p:sp>
        <p:nvSpPr>
          <p:cNvPr id="28" name="Shape 21"/>
          <p:cNvSpPr/>
          <p:nvPr/>
        </p:nvSpPr>
        <p:spPr>
          <a:xfrm>
            <a:off x="640080" y="3383280"/>
            <a:ext cx="457200" cy="457200"/>
          </a:xfrm>
          <a:prstGeom prst="roundRect">
            <a:avLst>
              <a:gd name="adj" fmla="val 22000"/>
            </a:avLst>
          </a:prstGeom>
          <a:solidFill>
            <a:srgbClr val="FFFFFF"/>
          </a:solidFill>
          <a:ln w="9525">
            <a:solidFill>
              <a:srgbClr val="DADCE0"/>
            </a:solidFill>
            <a:prstDash val="solid"/>
          </a:ln>
        </p:spPr>
      </p:sp>
      <p:pic>
        <p:nvPicPr>
          <p:cNvPr id="29" name="Image 4" descr="preencoded.png">    </p:cNvPr>
          <p:cNvPicPr>
            <a:picLocks noChangeAspect="1"/>
          </p:cNvPicPr>
          <p:nvPr/>
        </p:nvPicPr>
        <p:blipFill>
          <a:blip r:embed="rId5"/>
          <a:stretch>
            <a:fillRect/>
          </a:stretch>
        </p:blipFill>
        <p:spPr>
          <a:xfrm>
            <a:off x="704088" y="3447288"/>
            <a:ext cx="329184" cy="329184"/>
          </a:xfrm>
          <a:prstGeom prst="rect">
            <a:avLst/>
          </a:prstGeom>
        </p:spPr>
      </p:pic>
      <p:sp>
        <p:nvSpPr>
          <p:cNvPr id="30" name="Text 22"/>
          <p:cNvSpPr txBox="1"/>
          <p:nvPr/>
        </p:nvSpPr>
        <p:spPr>
          <a:xfrm>
            <a:off x="1207008" y="3364992"/>
            <a:ext cx="1965960" cy="256032"/>
          </a:xfrm>
          <a:prstGeom prst="rect">
            <a:avLst/>
          </a:prstGeom>
          <a:noFill/>
          <a:ln/>
        </p:spPr>
        <p:txBody>
          <a:bodyPr wrap="square" lIns="0" tIns="0" rIns="0" bIns="0" rtlCol="0" anchor="ctr"/>
          <a:lstStyle/>
          <a:p>
            <a:pPr indent="0" marL="0">
              <a:buNone/>
            </a:pPr>
            <a:r>
              <a:rPr lang="en-US" sz="1200" b="1" dirty="0">
                <a:solidFill>
                  <a:srgbClr val="1E1E1E"/>
                </a:solidFill>
                <a:latin typeface="Arial" pitchFamily="34" charset="0"/>
                <a:ea typeface="Arial" pitchFamily="34" charset="-122"/>
                <a:cs typeface="Arial" pitchFamily="34" charset="-120"/>
              </a:rPr>
              <a:t>Namecheap</a:t>
            </a:r>
            <a:endParaRPr lang="en-US" sz="1200" dirty="0"/>
          </a:p>
        </p:txBody>
      </p:sp>
      <p:sp>
        <p:nvSpPr>
          <p:cNvPr id="31" name="Text 23"/>
          <p:cNvSpPr txBox="1"/>
          <p:nvPr/>
        </p:nvSpPr>
        <p:spPr>
          <a:xfrm>
            <a:off x="1207008" y="3621024"/>
            <a:ext cx="1965960" cy="274320"/>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A free .me domain and SSL</a:t>
            </a:r>
            <a:endParaRPr lang="en-US" sz="950" dirty="0"/>
          </a:p>
        </p:txBody>
      </p:sp>
      <p:sp>
        <p:nvSpPr>
          <p:cNvPr id="32" name="Shape 24"/>
          <p:cNvSpPr/>
          <p:nvPr/>
        </p:nvSpPr>
        <p:spPr>
          <a:xfrm>
            <a:off x="3383280" y="3291840"/>
            <a:ext cx="2697480" cy="640080"/>
          </a:xfrm>
          <a:prstGeom prst="roundRect">
            <a:avLst>
              <a:gd name="adj" fmla="val 20000"/>
            </a:avLst>
          </a:prstGeom>
          <a:solidFill>
            <a:srgbClr val="E6F4EA"/>
          </a:solidFill>
          <a:ln w="12700">
            <a:solidFill>
              <a:srgbClr val="E6F4EA"/>
            </a:solidFill>
            <a:prstDash val="solid"/>
          </a:ln>
        </p:spPr>
      </p:sp>
      <p:sp>
        <p:nvSpPr>
          <p:cNvPr id="33" name="Shape 25"/>
          <p:cNvSpPr/>
          <p:nvPr/>
        </p:nvSpPr>
        <p:spPr>
          <a:xfrm>
            <a:off x="3474720" y="3383280"/>
            <a:ext cx="457200" cy="457200"/>
          </a:xfrm>
          <a:prstGeom prst="roundRect">
            <a:avLst>
              <a:gd name="adj" fmla="val 22000"/>
            </a:avLst>
          </a:prstGeom>
          <a:solidFill>
            <a:srgbClr val="FFFFFF"/>
          </a:solidFill>
          <a:ln w="9525">
            <a:solidFill>
              <a:srgbClr val="DADCE0"/>
            </a:solidFill>
            <a:prstDash val="solid"/>
          </a:ln>
        </p:spPr>
      </p:sp>
      <p:pic>
        <p:nvPicPr>
          <p:cNvPr id="34" name="Image 5" descr="preencoded.png">    </p:cNvPr>
          <p:cNvPicPr>
            <a:picLocks noChangeAspect="1"/>
          </p:cNvPicPr>
          <p:nvPr/>
        </p:nvPicPr>
        <p:blipFill>
          <a:blip r:embed="rId6"/>
          <a:stretch>
            <a:fillRect/>
          </a:stretch>
        </p:blipFill>
        <p:spPr>
          <a:xfrm>
            <a:off x="3538728" y="3447288"/>
            <a:ext cx="329184" cy="329184"/>
          </a:xfrm>
          <a:prstGeom prst="rect">
            <a:avLst/>
          </a:prstGeom>
        </p:spPr>
      </p:pic>
      <p:sp>
        <p:nvSpPr>
          <p:cNvPr id="35" name="Text 26"/>
          <p:cNvSpPr txBox="1"/>
          <p:nvPr/>
        </p:nvSpPr>
        <p:spPr>
          <a:xfrm>
            <a:off x="4041648" y="3364992"/>
            <a:ext cx="1965960" cy="256032"/>
          </a:xfrm>
          <a:prstGeom prst="rect">
            <a:avLst/>
          </a:prstGeom>
          <a:noFill/>
          <a:ln/>
        </p:spPr>
        <p:txBody>
          <a:bodyPr wrap="square" lIns="0" tIns="0" rIns="0" bIns="0" rtlCol="0" anchor="ctr"/>
          <a:lstStyle/>
          <a:p>
            <a:pPr indent="0" marL="0">
              <a:buNone/>
            </a:pPr>
            <a:r>
              <a:rPr lang="en-US" sz="1200" b="1" dirty="0">
                <a:solidFill>
                  <a:srgbClr val="1E1E1E"/>
                </a:solidFill>
                <a:latin typeface="Arial" pitchFamily="34" charset="0"/>
                <a:ea typeface="Arial" pitchFamily="34" charset="-122"/>
                <a:cs typeface="Arial" pitchFamily="34" charset="-120"/>
              </a:rPr>
              <a:t>And more</a:t>
            </a:r>
            <a:endParaRPr lang="en-US" sz="1200" dirty="0"/>
          </a:p>
        </p:txBody>
      </p:sp>
      <p:sp>
        <p:nvSpPr>
          <p:cNvPr id="36" name="Text 27"/>
          <p:cNvSpPr txBox="1"/>
          <p:nvPr/>
        </p:nvSpPr>
        <p:spPr>
          <a:xfrm>
            <a:off x="4041648" y="3621024"/>
            <a:ext cx="1965960" cy="274320"/>
          </a:xfrm>
          <a:prstGeom prst="rect">
            <a:avLst/>
          </a:prstGeom>
          <a:noFill/>
          <a:ln/>
        </p:spPr>
        <p:txBody>
          <a:bodyPr wrap="square" lIns="0" tIns="0" rIns="0" bIns="0" rtlCol="0" anchor="ctr"/>
          <a:lstStyle/>
          <a:p>
            <a:pPr indent="0" marL="0">
              <a:buNone/>
            </a:pPr>
            <a:r>
              <a:rPr lang="en-US" sz="950" dirty="0">
                <a:solidFill>
                  <a:srgbClr val="5F6368"/>
                </a:solidFill>
                <a:latin typeface="Arial" pitchFamily="34" charset="0"/>
                <a:ea typeface="Arial" pitchFamily="34" charset="-122"/>
                <a:cs typeface="Arial" pitchFamily="34" charset="-120"/>
              </a:rPr>
              <a:t>Plus MongoDB Atlas, Notion, Frontend Masters, DataCamp</a:t>
            </a:r>
            <a:endParaRPr lang="en-US" sz="950" dirty="0"/>
          </a:p>
        </p:txBody>
      </p:sp>
      <p:sp>
        <p:nvSpPr>
          <p:cNvPr id="37" name="Text 28"/>
          <p:cNvSpPr txBox="1"/>
          <p:nvPr/>
        </p:nvSpPr>
        <p:spPr>
          <a:xfrm>
            <a:off x="548640" y="4114800"/>
            <a:ext cx="5577840" cy="411480"/>
          </a:xfrm>
          <a:prstGeom prst="rect">
            <a:avLst/>
          </a:prstGeom>
          <a:noFill/>
          <a:ln/>
        </p:spPr>
        <p:txBody>
          <a:bodyPr wrap="square" lIns="0" tIns="0" rIns="0" bIns="0" rtlCol="0" anchor="t"/>
          <a:lstStyle/>
          <a:p>
            <a:pPr indent="0" marL="0">
              <a:buNone/>
            </a:pPr>
            <a:r>
              <a:rPr lang="en-US" sz="1050" b="1" dirty="0">
                <a:solidFill>
                  <a:srgbClr val="1E1E1E"/>
                </a:solidFill>
                <a:latin typeface="Arial" pitchFamily="34" charset="0"/>
                <a:ea typeface="Arial" pitchFamily="34" charset="-122"/>
                <a:cs typeface="Arial" pitchFamily="34" charset="-120"/>
              </a:rPr>
              <a:t>Also free:  </a:t>
            </a:r>
            <a:pPr indent="0" marL="0">
              <a:buNone/>
            </a:pPr>
            <a:r>
              <a:rPr lang="en-US" sz="1050" dirty="0">
                <a:solidFill>
                  <a:srgbClr val="5F6368"/>
                </a:solidFill>
                <a:latin typeface="Arial" pitchFamily="34" charset="0"/>
                <a:ea typeface="Arial" pitchFamily="34" charset="-122"/>
                <a:cs typeface="Arial" pitchFamily="34" charset="-120"/>
              </a:rPr>
              <a:t>AWS Educate  ·  Figma Education  ·  Cloudflare Workers and Pages  ·  Supabase, Vercel, Netlify hobby tiers</a:t>
            </a:r>
            <a:endParaRPr lang="en-US" sz="1050" dirty="0"/>
          </a:p>
        </p:txBody>
      </p:sp>
      <p:sp>
        <p:nvSpPr>
          <p:cNvPr id="38" name="Shape 29"/>
          <p:cNvSpPr/>
          <p:nvPr/>
        </p:nvSpPr>
        <p:spPr>
          <a:xfrm>
            <a:off x="6400800" y="868680"/>
            <a:ext cx="2194560" cy="3611880"/>
          </a:xfrm>
          <a:prstGeom prst="roundRect">
            <a:avLst>
              <a:gd name="adj" fmla="val 5833"/>
            </a:avLst>
          </a:prstGeom>
          <a:solidFill>
            <a:srgbClr val="E6F4EA"/>
          </a:solidFill>
          <a:ln w="12700">
            <a:solidFill>
              <a:srgbClr val="1E1E1E"/>
            </a:solidFill>
            <a:prstDash val="solid"/>
          </a:ln>
        </p:spPr>
      </p:sp>
      <p:sp>
        <p:nvSpPr>
          <p:cNvPr id="39" name="Shape 30"/>
          <p:cNvSpPr/>
          <p:nvPr/>
        </p:nvSpPr>
        <p:spPr>
          <a:xfrm>
            <a:off x="7269480" y="1024128"/>
            <a:ext cx="457200" cy="457200"/>
          </a:xfrm>
          <a:prstGeom prst="roundRect">
            <a:avLst>
              <a:gd name="adj" fmla="val 22000"/>
            </a:avLst>
          </a:prstGeom>
          <a:solidFill>
            <a:srgbClr val="FFFFFF"/>
          </a:solidFill>
          <a:ln w="9525">
            <a:solidFill>
              <a:srgbClr val="DADCE0"/>
            </a:solidFill>
            <a:prstDash val="solid"/>
          </a:ln>
        </p:spPr>
      </p:sp>
      <p:pic>
        <p:nvPicPr>
          <p:cNvPr id="40" name="Image 6" descr="preencoded.png">
            <a:hlinkClick r:id="rId8" tooltip=""/>
          </p:cNvPr>
          <p:cNvPicPr>
            <a:picLocks noChangeAspect="1"/>
          </p:cNvPicPr>
          <p:nvPr/>
        </p:nvPicPr>
        <p:blipFill>
          <a:blip r:embed="rId7"/>
          <a:stretch>
            <a:fillRect/>
          </a:stretch>
        </p:blipFill>
        <p:spPr>
          <a:xfrm>
            <a:off x="7333488" y="1088136"/>
            <a:ext cx="329184" cy="329184"/>
          </a:xfrm>
          <a:prstGeom prst="rect">
            <a:avLst/>
          </a:prstGeom>
        </p:spPr>
      </p:pic>
      <p:pic>
        <p:nvPicPr>
          <p:cNvPr id="41" name="Image 7" descr="preencoded.png">
            <a:hlinkClick r:id="rId10" tooltip=""/>
          </p:cNvPr>
          <p:cNvPicPr>
            <a:picLocks noChangeAspect="1"/>
          </p:cNvPicPr>
          <p:nvPr/>
        </p:nvPicPr>
        <p:blipFill>
          <a:blip r:embed="rId9"/>
          <a:stretch>
            <a:fillRect/>
          </a:stretch>
        </p:blipFill>
        <p:spPr>
          <a:xfrm>
            <a:off x="6766560" y="1645920"/>
            <a:ext cx="1463040" cy="1463040"/>
          </a:xfrm>
          <a:prstGeom prst="rect">
            <a:avLst/>
          </a:prstGeom>
        </p:spPr>
      </p:pic>
      <p:sp>
        <p:nvSpPr>
          <p:cNvPr id="42" name="Text 31"/>
          <p:cNvSpPr txBox="1"/>
          <p:nvPr/>
        </p:nvSpPr>
        <p:spPr>
          <a:xfrm>
            <a:off x="6492240" y="3218688"/>
            <a:ext cx="2011680" cy="320040"/>
          </a:xfrm>
          <a:prstGeom prst="rect">
            <a:avLst/>
          </a:prstGeom>
          <a:noFill/>
          <a:ln/>
        </p:spPr>
        <p:txBody>
          <a:bodyPr wrap="square" lIns="0" tIns="0" rIns="0" bIns="0" rtlCol="0" anchor="ctr"/>
          <a:lstStyle/>
          <a:p>
            <a:pPr algn="ctr" indent="0" marL="0">
              <a:buNone/>
            </a:pPr>
            <a:r>
              <a:rPr lang="en-US" sz="1500" b="1" u="sng" dirty="0">
                <a:solidFill>
                  <a:srgbClr val="1E1E1E"/>
                </a:solidFill>
                <a:latin typeface="Arial" pitchFamily="34" charset="0"/>
                <a:ea typeface="Arial" pitchFamily="34" charset="-122"/>
                <a:cs typeface="Arial"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Get the pack</a:t>
            </a:r>
            <a:endParaRPr lang="en-US" sz="1500" dirty="0"/>
          </a:p>
        </p:txBody>
      </p:sp>
      <p:sp>
        <p:nvSpPr>
          <p:cNvPr id="43" name="Text 32"/>
          <p:cNvSpPr txBox="1"/>
          <p:nvPr/>
        </p:nvSpPr>
        <p:spPr>
          <a:xfrm>
            <a:off x="6492240" y="3538728"/>
            <a:ext cx="2011680" cy="256032"/>
          </a:xfrm>
          <a:prstGeom prst="rect">
            <a:avLst/>
          </a:prstGeom>
          <a:noFill/>
          <a:ln/>
        </p:spPr>
        <p:txBody>
          <a:bodyPr wrap="square" lIns="0" tIns="0" rIns="0" bIns="0" rtlCol="0" anchor="ctr"/>
          <a:lstStyle/>
          <a:p>
            <a:pPr algn="ctr" indent="0" marL="0">
              <a:buNone/>
            </a:pPr>
            <a:r>
              <a:rPr lang="en-US" sz="1000" dirty="0">
                <a:solidFill>
                  <a:srgbClr val="5F6368"/>
                </a:solidFill>
                <a:latin typeface="Arial" pitchFamily="34" charset="0"/>
                <a:ea typeface="Arial" pitchFamily="34" charset="-122"/>
                <a:cs typeface="Arial" pitchFamily="34" charset="-120"/>
              </a:rPr>
              <a:t>education.github.com/pack</a:t>
            </a:r>
            <a:endParaRPr lang="en-US" sz="1000" dirty="0"/>
          </a:p>
        </p:txBody>
      </p:sp>
      <p:sp>
        <p:nvSpPr>
          <p:cNvPr id="44" name="Text 33"/>
          <p:cNvSpPr txBox="1"/>
          <p:nvPr/>
        </p:nvSpPr>
        <p:spPr>
          <a:xfrm>
            <a:off x="6537960" y="3886200"/>
            <a:ext cx="1920240" cy="365760"/>
          </a:xfrm>
          <a:prstGeom prst="rect">
            <a:avLst/>
          </a:prstGeom>
          <a:noFill/>
          <a:ln/>
        </p:spPr>
        <p:txBody>
          <a:bodyPr wrap="square" lIns="0" tIns="0" rIns="0" bIns="0" rtlCol="0" anchor="ctr"/>
          <a:lstStyle/>
          <a:p>
            <a:pPr algn="ctr" indent="0" marL="0">
              <a:buNone/>
            </a:pPr>
            <a:r>
              <a:rPr lang="en-US" sz="1000" dirty="0">
                <a:solidFill>
                  <a:srgbClr val="5F6368"/>
                </a:solidFill>
                <a:latin typeface="Arial" pitchFamily="34" charset="0"/>
                <a:ea typeface="Arial" pitchFamily="34" charset="-122"/>
                <a:cs typeface="Arial" pitchFamily="34" charset="-120"/>
              </a:rPr>
              <a:t>We're making a how-to guide for this soon.</a:t>
            </a:r>
            <a:endParaRPr lang="en-US" sz="1000" dirty="0"/>
          </a:p>
        </p:txBody>
      </p:sp>
      <p:pic>
        <p:nvPicPr>
          <p:cNvPr id="45" name="Image 8" descr="/Users/datta/Developer/gdg-seneca/deck-builder/brand/mark.png">    </p:cNvPr>
          <p:cNvPicPr>
            <a:picLocks noChangeAspect="1"/>
          </p:cNvPicPr>
          <p:nvPr/>
        </p:nvPicPr>
        <p:blipFill>
          <a:blip r:embed="rId12"/>
          <a:stretch>
            <a:fillRect/>
          </a:stretch>
        </p:blipFill>
        <p:spPr>
          <a:xfrm>
            <a:off x="548640" y="4727448"/>
            <a:ext cx="201168" cy="201168"/>
          </a:xfrm>
          <a:prstGeom prst="rect">
            <a:avLst/>
          </a:prstGeom>
        </p:spPr>
      </p:pic>
      <p:sp>
        <p:nvSpPr>
          <p:cNvPr id="46" name="Text 34"/>
          <p:cNvSpPr txBox="1"/>
          <p:nvPr/>
        </p:nvSpPr>
        <p:spPr>
          <a:xfrm>
            <a:off x="822960" y="4727448"/>
            <a:ext cx="3657600" cy="201168"/>
          </a:xfrm>
          <a:prstGeom prst="rect">
            <a:avLst/>
          </a:prstGeom>
          <a:noFill/>
          <a:ln/>
        </p:spPr>
        <p:txBody>
          <a:bodyPr wrap="square" lIns="0" tIns="0" rIns="0" bIns="0" rtlCol="0" anchor="ctr"/>
          <a:lstStyle/>
          <a:p>
            <a:pPr indent="0" marL="0">
              <a:buNone/>
            </a:pPr>
            <a:r>
              <a:rPr lang="en-US" sz="900" dirty="0">
                <a:solidFill>
                  <a:srgbClr val="5F6368"/>
                </a:solidFill>
                <a:latin typeface="Arial" pitchFamily="34" charset="0"/>
                <a:ea typeface="Arial" pitchFamily="34" charset="-122"/>
                <a:cs typeface="Arial" pitchFamily="34" charset="-120"/>
              </a:rPr>
              <a:t>GDG on Campus  ·  Seneca Polytechnic</a:t>
            </a:r>
            <a:endParaRPr lang="en-US" sz="900" dirty="0"/>
          </a:p>
        </p:txBody>
      </p:sp>
      <p:sp>
        <p:nvSpPr>
          <p:cNvPr id="47" name="Text 35"/>
          <p:cNvSpPr txBox="1"/>
          <p:nvPr/>
        </p:nvSpPr>
        <p:spPr>
          <a:xfrm>
            <a:off x="8138160" y="4727448"/>
            <a:ext cx="457200" cy="201168"/>
          </a:xfrm>
          <a:prstGeom prst="rect">
            <a:avLst/>
          </a:prstGeom>
          <a:noFill/>
          <a:ln/>
        </p:spPr>
        <p:txBody>
          <a:bodyPr wrap="square" lIns="0" tIns="0" rIns="0" bIns="0" rtlCol="0" anchor="ctr"/>
          <a:lstStyle/>
          <a:p>
            <a:pPr algn="r" indent="0" marL="0">
              <a:buNone/>
            </a:pPr>
            <a:r>
              <a:rPr lang="en-US" sz="900" b="1" dirty="0">
                <a:solidFill>
                  <a:srgbClr val="5F6368"/>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411480"/>
            <a:ext cx="1554480" cy="292608"/>
          </a:xfrm>
          <a:prstGeom prst="roundRect">
            <a:avLst>
              <a:gd name="adj" fmla="val 50000"/>
            </a:avLst>
          </a:prstGeom>
          <a:solidFill>
            <a:srgbClr val="FCE8E6"/>
          </a:solidFill>
          <a:ln w="15875">
            <a:solidFill>
              <a:srgbClr val="EA4335"/>
            </a:solidFill>
            <a:prstDash val="solid"/>
          </a:ln>
        </p:spPr>
      </p:sp>
      <p:sp>
        <p:nvSpPr>
          <p:cNvPr id="4" name="Text 1"/>
          <p:cNvSpPr txBox="1"/>
          <p:nvPr/>
        </p:nvSpPr>
        <p:spPr>
          <a:xfrm>
            <a:off x="548640" y="411480"/>
            <a:ext cx="1554480" cy="292608"/>
          </a:xfrm>
          <a:prstGeom prst="rect">
            <a:avLst/>
          </a:prstGeom>
          <a:noFill/>
          <a:ln/>
        </p:spPr>
        <p:txBody>
          <a:bodyPr wrap="square" lIns="0" tIns="0" rIns="0" bIns="0" rtlCol="0" anchor="ctr"/>
          <a:lstStyle/>
          <a:p>
            <a:pPr algn="ctr" indent="0" marL="0">
              <a:buNone/>
            </a:pPr>
            <a:r>
              <a:rPr lang="en-US" sz="900" b="1" spc="150" kern="0" dirty="0">
                <a:solidFill>
                  <a:srgbClr val="1E1E1E"/>
                </a:solidFill>
                <a:latin typeface="Arial" pitchFamily="34" charset="0"/>
                <a:ea typeface="Arial" pitchFamily="34" charset="-122"/>
                <a:cs typeface="Arial" pitchFamily="34" charset="-120"/>
              </a:rPr>
              <a:t>04  THIS TERM</a:t>
            </a:r>
            <a:endParaRPr lang="en-US" sz="900" dirty="0"/>
          </a:p>
        </p:txBody>
      </p:sp>
      <p:sp>
        <p:nvSpPr>
          <p:cNvPr id="5" name="Text 2"/>
          <p:cNvSpPr txBox="1"/>
          <p:nvPr/>
        </p:nvSpPr>
        <p:spPr>
          <a:xfrm>
            <a:off x="548640" y="868680"/>
            <a:ext cx="8046720" cy="731520"/>
          </a:xfrm>
          <a:prstGeom prst="rect">
            <a:avLst/>
          </a:prstGeom>
          <a:noFill/>
          <a:ln/>
        </p:spPr>
        <p:txBody>
          <a:bodyPr wrap="square" lIns="0" tIns="0" rIns="0" bIns="0" rtlCol="0" anchor="t"/>
          <a:lstStyle/>
          <a:p>
            <a:pPr indent="0" marL="0">
              <a:buNone/>
            </a:pPr>
            <a:r>
              <a:rPr lang="en-US" sz="3200" b="1" dirty="0">
                <a:solidFill>
                  <a:srgbClr val="1E1E1E"/>
                </a:solidFill>
                <a:latin typeface="Arial" pitchFamily="34" charset="0"/>
                <a:ea typeface="Arial" pitchFamily="34" charset="-122"/>
                <a:cs typeface="Arial" pitchFamily="34" charset="-120"/>
              </a:rPr>
              <a:t>What's coming up</a:t>
            </a:r>
            <a:endParaRPr lang="en-US" sz="3200" dirty="0"/>
          </a:p>
        </p:txBody>
      </p:sp>
      <p:sp>
        <p:nvSpPr>
          <p:cNvPr id="6" name="Shape 3"/>
          <p:cNvSpPr/>
          <p:nvPr/>
        </p:nvSpPr>
        <p:spPr>
          <a:xfrm>
            <a:off x="548640" y="1600200"/>
            <a:ext cx="1874520" cy="548640"/>
          </a:xfrm>
          <a:prstGeom prst="roundRect">
            <a:avLst>
              <a:gd name="adj" fmla="val 50000"/>
            </a:avLst>
          </a:prstGeom>
          <a:solidFill>
            <a:srgbClr val="E8F0FE"/>
          </a:solidFill>
          <a:ln w="12700">
            <a:solidFill>
              <a:srgbClr val="1E1E1E"/>
            </a:solidFill>
            <a:prstDash val="solid"/>
          </a:ln>
        </p:spPr>
      </p:sp>
      <p:sp>
        <p:nvSpPr>
          <p:cNvPr id="7" name="Shape 4"/>
          <p:cNvSpPr/>
          <p:nvPr/>
        </p:nvSpPr>
        <p:spPr>
          <a:xfrm>
            <a:off x="640080" y="1645920"/>
            <a:ext cx="457200" cy="457200"/>
          </a:xfrm>
          <a:prstGeom prst="ellipse">
            <a:avLst/>
          </a:prstGeom>
          <a:solidFill>
            <a:srgbClr val="4285F4"/>
          </a:solidFill>
          <a:ln w="12700">
            <a:solidFill>
              <a:srgbClr val="4285F4"/>
            </a:solidFill>
            <a:prstDash val="solid"/>
          </a:ln>
        </p:spPr>
      </p:sp>
      <p:pic>
        <p:nvPicPr>
          <p:cNvPr id="8" name="Image 0" descr="preencoded.png">    </p:cNvPr>
          <p:cNvPicPr>
            <a:picLocks noChangeAspect="1"/>
          </p:cNvPicPr>
          <p:nvPr/>
        </p:nvPicPr>
        <p:blipFill>
          <a:blip r:embed="rId1"/>
          <a:stretch>
            <a:fillRect/>
          </a:stretch>
        </p:blipFill>
        <p:spPr>
          <a:xfrm>
            <a:off x="711403" y="1717243"/>
            <a:ext cx="314554" cy="314554"/>
          </a:xfrm>
          <a:prstGeom prst="rect">
            <a:avLst/>
          </a:prstGeom>
        </p:spPr>
      </p:pic>
      <p:sp>
        <p:nvSpPr>
          <p:cNvPr id="9" name="Text 5"/>
          <p:cNvSpPr txBox="1"/>
          <p:nvPr/>
        </p:nvSpPr>
        <p:spPr>
          <a:xfrm>
            <a:off x="1207008" y="1600200"/>
            <a:ext cx="1143000" cy="548640"/>
          </a:xfrm>
          <a:prstGeom prst="rect">
            <a:avLst/>
          </a:prstGeom>
          <a:noFill/>
          <a:ln/>
        </p:spPr>
        <p:txBody>
          <a:bodyPr wrap="square" lIns="0" tIns="0" rIns="0" bIns="0" rtlCol="0" anchor="ctr"/>
          <a:lstStyle/>
          <a:p>
            <a:pPr indent="0" marL="0">
              <a:buNone/>
            </a:pPr>
            <a:r>
              <a:rPr lang="en-US" sz="1500" b="1" dirty="0">
                <a:solidFill>
                  <a:srgbClr val="1E1E1E"/>
                </a:solidFill>
                <a:latin typeface="Arial" pitchFamily="34" charset="0"/>
                <a:ea typeface="Arial" pitchFamily="34" charset="-122"/>
                <a:cs typeface="Arial" pitchFamily="34" charset="-120"/>
              </a:rPr>
              <a:t>Web</a:t>
            </a:r>
            <a:endParaRPr lang="en-US" sz="1500" dirty="0"/>
          </a:p>
        </p:txBody>
      </p:sp>
      <p:sp>
        <p:nvSpPr>
          <p:cNvPr id="10" name="Shape 6"/>
          <p:cNvSpPr/>
          <p:nvPr/>
        </p:nvSpPr>
        <p:spPr>
          <a:xfrm>
            <a:off x="2606040" y="1600200"/>
            <a:ext cx="1874520" cy="548640"/>
          </a:xfrm>
          <a:prstGeom prst="roundRect">
            <a:avLst>
              <a:gd name="adj" fmla="val 50000"/>
            </a:avLst>
          </a:prstGeom>
          <a:solidFill>
            <a:srgbClr val="E6F4EA"/>
          </a:solidFill>
          <a:ln w="12700">
            <a:solidFill>
              <a:srgbClr val="1E1E1E"/>
            </a:solidFill>
            <a:prstDash val="solid"/>
          </a:ln>
        </p:spPr>
      </p:sp>
      <p:sp>
        <p:nvSpPr>
          <p:cNvPr id="11" name="Shape 7"/>
          <p:cNvSpPr/>
          <p:nvPr/>
        </p:nvSpPr>
        <p:spPr>
          <a:xfrm>
            <a:off x="2697480" y="1645920"/>
            <a:ext cx="457200" cy="457200"/>
          </a:xfrm>
          <a:prstGeom prst="ellipse">
            <a:avLst/>
          </a:prstGeom>
          <a:solidFill>
            <a:srgbClr val="34A853"/>
          </a:solidFill>
          <a:ln w="12700">
            <a:solidFill>
              <a:srgbClr val="34A853"/>
            </a:solidFill>
            <a:prstDash val="solid"/>
          </a:ln>
        </p:spPr>
      </p:sp>
      <p:pic>
        <p:nvPicPr>
          <p:cNvPr id="12" name="Image 1" descr="preencoded.png">    </p:cNvPr>
          <p:cNvPicPr>
            <a:picLocks noChangeAspect="1"/>
          </p:cNvPicPr>
          <p:nvPr/>
        </p:nvPicPr>
        <p:blipFill>
          <a:blip r:embed="rId2"/>
          <a:stretch>
            <a:fillRect/>
          </a:stretch>
        </p:blipFill>
        <p:spPr>
          <a:xfrm>
            <a:off x="2768803" y="1717243"/>
            <a:ext cx="314554" cy="314554"/>
          </a:xfrm>
          <a:prstGeom prst="rect">
            <a:avLst/>
          </a:prstGeom>
        </p:spPr>
      </p:pic>
      <p:sp>
        <p:nvSpPr>
          <p:cNvPr id="13" name="Text 8"/>
          <p:cNvSpPr txBox="1"/>
          <p:nvPr/>
        </p:nvSpPr>
        <p:spPr>
          <a:xfrm>
            <a:off x="3264408" y="1600200"/>
            <a:ext cx="1143000" cy="548640"/>
          </a:xfrm>
          <a:prstGeom prst="rect">
            <a:avLst/>
          </a:prstGeom>
          <a:noFill/>
          <a:ln/>
        </p:spPr>
        <p:txBody>
          <a:bodyPr wrap="square" lIns="0" tIns="0" rIns="0" bIns="0" rtlCol="0" anchor="ctr"/>
          <a:lstStyle/>
          <a:p>
            <a:pPr indent="0" marL="0">
              <a:buNone/>
            </a:pPr>
            <a:r>
              <a:rPr lang="en-US" sz="1500" b="1" dirty="0">
                <a:solidFill>
                  <a:srgbClr val="1E1E1E"/>
                </a:solidFill>
                <a:latin typeface="Arial" pitchFamily="34" charset="0"/>
                <a:ea typeface="Arial" pitchFamily="34" charset="-122"/>
                <a:cs typeface="Arial" pitchFamily="34" charset="-120"/>
              </a:rPr>
              <a:t>Cloud</a:t>
            </a:r>
            <a:endParaRPr lang="en-US" sz="1500" dirty="0"/>
          </a:p>
        </p:txBody>
      </p:sp>
      <p:sp>
        <p:nvSpPr>
          <p:cNvPr id="14" name="Shape 9"/>
          <p:cNvSpPr/>
          <p:nvPr/>
        </p:nvSpPr>
        <p:spPr>
          <a:xfrm>
            <a:off x="4663440" y="1600200"/>
            <a:ext cx="1874520" cy="548640"/>
          </a:xfrm>
          <a:prstGeom prst="roundRect">
            <a:avLst>
              <a:gd name="adj" fmla="val 50000"/>
            </a:avLst>
          </a:prstGeom>
          <a:solidFill>
            <a:srgbClr val="FCE8E6"/>
          </a:solidFill>
          <a:ln w="12700">
            <a:solidFill>
              <a:srgbClr val="1E1E1E"/>
            </a:solidFill>
            <a:prstDash val="solid"/>
          </a:ln>
        </p:spPr>
      </p:sp>
      <p:sp>
        <p:nvSpPr>
          <p:cNvPr id="15" name="Shape 10"/>
          <p:cNvSpPr/>
          <p:nvPr/>
        </p:nvSpPr>
        <p:spPr>
          <a:xfrm>
            <a:off x="4754880" y="1645920"/>
            <a:ext cx="457200" cy="457200"/>
          </a:xfrm>
          <a:prstGeom prst="ellipse">
            <a:avLst/>
          </a:prstGeom>
          <a:solidFill>
            <a:srgbClr val="EA4335"/>
          </a:solidFill>
          <a:ln w="12700">
            <a:solidFill>
              <a:srgbClr val="EA4335"/>
            </a:solidFill>
            <a:prstDash val="solid"/>
          </a:ln>
        </p:spPr>
      </p:sp>
      <p:pic>
        <p:nvPicPr>
          <p:cNvPr id="16" name="Image 2" descr="preencoded.png">    </p:cNvPr>
          <p:cNvPicPr>
            <a:picLocks noChangeAspect="1"/>
          </p:cNvPicPr>
          <p:nvPr/>
        </p:nvPicPr>
        <p:blipFill>
          <a:blip r:embed="rId3"/>
          <a:stretch>
            <a:fillRect/>
          </a:stretch>
        </p:blipFill>
        <p:spPr>
          <a:xfrm>
            <a:off x="4826203" y="1717243"/>
            <a:ext cx="314554" cy="314554"/>
          </a:xfrm>
          <a:prstGeom prst="rect">
            <a:avLst/>
          </a:prstGeom>
        </p:spPr>
      </p:pic>
      <p:sp>
        <p:nvSpPr>
          <p:cNvPr id="17" name="Text 11"/>
          <p:cNvSpPr txBox="1"/>
          <p:nvPr/>
        </p:nvSpPr>
        <p:spPr>
          <a:xfrm>
            <a:off x="5321808" y="1600200"/>
            <a:ext cx="1143000" cy="548640"/>
          </a:xfrm>
          <a:prstGeom prst="rect">
            <a:avLst/>
          </a:prstGeom>
          <a:noFill/>
          <a:ln/>
        </p:spPr>
        <p:txBody>
          <a:bodyPr wrap="square" lIns="0" tIns="0" rIns="0" bIns="0" rtlCol="0" anchor="ctr"/>
          <a:lstStyle/>
          <a:p>
            <a:pPr indent="0" marL="0">
              <a:buNone/>
            </a:pPr>
            <a:r>
              <a:rPr lang="en-US" sz="1500" b="1" dirty="0">
                <a:solidFill>
                  <a:srgbClr val="1E1E1E"/>
                </a:solidFill>
                <a:latin typeface="Arial" pitchFamily="34" charset="0"/>
                <a:ea typeface="Arial" pitchFamily="34" charset="-122"/>
                <a:cs typeface="Arial" pitchFamily="34" charset="-120"/>
              </a:rPr>
              <a:t>ML and AI</a:t>
            </a:r>
            <a:endParaRPr lang="en-US" sz="1500" dirty="0"/>
          </a:p>
        </p:txBody>
      </p:sp>
      <p:sp>
        <p:nvSpPr>
          <p:cNvPr id="18" name="Shape 12"/>
          <p:cNvSpPr/>
          <p:nvPr/>
        </p:nvSpPr>
        <p:spPr>
          <a:xfrm>
            <a:off x="6720840" y="1600200"/>
            <a:ext cx="1874520" cy="548640"/>
          </a:xfrm>
          <a:prstGeom prst="roundRect">
            <a:avLst>
              <a:gd name="adj" fmla="val 50000"/>
            </a:avLst>
          </a:prstGeom>
          <a:solidFill>
            <a:srgbClr val="FEF7E0"/>
          </a:solidFill>
          <a:ln w="12700">
            <a:solidFill>
              <a:srgbClr val="1E1E1E"/>
            </a:solidFill>
            <a:prstDash val="solid"/>
          </a:ln>
        </p:spPr>
      </p:sp>
      <p:sp>
        <p:nvSpPr>
          <p:cNvPr id="19" name="Shape 13"/>
          <p:cNvSpPr/>
          <p:nvPr/>
        </p:nvSpPr>
        <p:spPr>
          <a:xfrm>
            <a:off x="6812280" y="1645920"/>
            <a:ext cx="457200" cy="457200"/>
          </a:xfrm>
          <a:prstGeom prst="ellipse">
            <a:avLst/>
          </a:prstGeom>
          <a:solidFill>
            <a:srgbClr val="F9AB00"/>
          </a:solidFill>
          <a:ln w="12700">
            <a:solidFill>
              <a:srgbClr val="F9AB00"/>
            </a:solidFill>
            <a:prstDash val="solid"/>
          </a:ln>
        </p:spPr>
      </p:sp>
      <p:pic>
        <p:nvPicPr>
          <p:cNvPr id="20" name="Image 3" descr="preencoded.png">    </p:cNvPr>
          <p:cNvPicPr>
            <a:picLocks noChangeAspect="1"/>
          </p:cNvPicPr>
          <p:nvPr/>
        </p:nvPicPr>
        <p:blipFill>
          <a:blip r:embed="rId4"/>
          <a:stretch>
            <a:fillRect/>
          </a:stretch>
        </p:blipFill>
        <p:spPr>
          <a:xfrm>
            <a:off x="6883603" y="1717243"/>
            <a:ext cx="314554" cy="314554"/>
          </a:xfrm>
          <a:prstGeom prst="rect">
            <a:avLst/>
          </a:prstGeom>
        </p:spPr>
      </p:pic>
      <p:sp>
        <p:nvSpPr>
          <p:cNvPr id="21" name="Text 14"/>
          <p:cNvSpPr txBox="1"/>
          <p:nvPr/>
        </p:nvSpPr>
        <p:spPr>
          <a:xfrm>
            <a:off x="7379208" y="1600200"/>
            <a:ext cx="1143000" cy="548640"/>
          </a:xfrm>
          <a:prstGeom prst="rect">
            <a:avLst/>
          </a:prstGeom>
          <a:noFill/>
          <a:ln/>
        </p:spPr>
        <p:txBody>
          <a:bodyPr wrap="square" lIns="0" tIns="0" rIns="0" bIns="0" rtlCol="0" anchor="ctr"/>
          <a:lstStyle/>
          <a:p>
            <a:pPr indent="0" marL="0">
              <a:buNone/>
            </a:pPr>
            <a:r>
              <a:rPr lang="en-US" sz="1500" b="1" dirty="0">
                <a:solidFill>
                  <a:srgbClr val="1E1E1E"/>
                </a:solidFill>
                <a:latin typeface="Arial" pitchFamily="34" charset="0"/>
                <a:ea typeface="Arial" pitchFamily="34" charset="-122"/>
                <a:cs typeface="Arial" pitchFamily="34" charset="-120"/>
              </a:rPr>
              <a:t>Mobile</a:t>
            </a:r>
            <a:endParaRPr lang="en-US" sz="1500" dirty="0"/>
          </a:p>
        </p:txBody>
      </p:sp>
      <p:sp>
        <p:nvSpPr>
          <p:cNvPr id="22" name="Shape 15"/>
          <p:cNvSpPr/>
          <p:nvPr/>
        </p:nvSpPr>
        <p:spPr>
          <a:xfrm>
            <a:off x="548640" y="2423160"/>
            <a:ext cx="2560320" cy="2057400"/>
          </a:xfrm>
          <a:prstGeom prst="roundRect">
            <a:avLst>
              <a:gd name="adj" fmla="val 6222"/>
            </a:avLst>
          </a:prstGeom>
          <a:solidFill>
            <a:srgbClr val="FFFFFF"/>
          </a:solidFill>
          <a:ln w="12700">
            <a:solidFill>
              <a:srgbClr val="DADCE0"/>
            </a:solidFill>
            <a:prstDash val="solid"/>
          </a:ln>
          <a:effectLst>
            <a:outerShdw sx="100000" sy="100000" kx="0" ky="0" algn="bl" rotWithShape="0" blurRad="101600" dist="25400" dir="5400000">
              <a:srgbClr val="000000">
                <a:alpha val="12000"/>
              </a:srgbClr>
            </a:outerShdw>
          </a:effectLst>
        </p:spPr>
      </p:sp>
      <p:sp>
        <p:nvSpPr>
          <p:cNvPr id="23" name="Shape 16"/>
          <p:cNvSpPr/>
          <p:nvPr/>
        </p:nvSpPr>
        <p:spPr>
          <a:xfrm>
            <a:off x="749808" y="2624328"/>
            <a:ext cx="457200" cy="457200"/>
          </a:xfrm>
          <a:prstGeom prst="ellipse">
            <a:avLst/>
          </a:prstGeom>
          <a:solidFill>
            <a:srgbClr val="EA4335"/>
          </a:solidFill>
          <a:ln w="12700">
            <a:solidFill>
              <a:srgbClr val="EA4335"/>
            </a:solidFill>
            <a:prstDash val="solid"/>
          </a:ln>
        </p:spPr>
      </p:sp>
      <p:pic>
        <p:nvPicPr>
          <p:cNvPr id="24" name="Image 4" descr="preencoded.png">    </p:cNvPr>
          <p:cNvPicPr>
            <a:picLocks noChangeAspect="1"/>
          </p:cNvPicPr>
          <p:nvPr/>
        </p:nvPicPr>
        <p:blipFill>
          <a:blip r:embed="rId5"/>
          <a:stretch>
            <a:fillRect/>
          </a:stretch>
        </p:blipFill>
        <p:spPr>
          <a:xfrm>
            <a:off x="821131" y="2695651"/>
            <a:ext cx="314554" cy="314554"/>
          </a:xfrm>
          <a:prstGeom prst="rect">
            <a:avLst/>
          </a:prstGeom>
        </p:spPr>
      </p:pic>
      <p:sp>
        <p:nvSpPr>
          <p:cNvPr id="25" name="Shape 17"/>
          <p:cNvSpPr/>
          <p:nvPr/>
        </p:nvSpPr>
        <p:spPr>
          <a:xfrm>
            <a:off x="2103120" y="2697480"/>
            <a:ext cx="804672" cy="292608"/>
          </a:xfrm>
          <a:prstGeom prst="roundRect">
            <a:avLst>
              <a:gd name="adj" fmla="val 50000"/>
            </a:avLst>
          </a:prstGeom>
          <a:solidFill>
            <a:srgbClr val="FEF7E0"/>
          </a:solidFill>
          <a:ln w="12700">
            <a:solidFill>
              <a:srgbClr val="F9AB00"/>
            </a:solidFill>
            <a:prstDash val="solid"/>
          </a:ln>
        </p:spPr>
      </p:sp>
      <p:sp>
        <p:nvSpPr>
          <p:cNvPr id="26" name="Text 18"/>
          <p:cNvSpPr txBox="1"/>
          <p:nvPr/>
        </p:nvSpPr>
        <p:spPr>
          <a:xfrm>
            <a:off x="2103120" y="2697480"/>
            <a:ext cx="804672" cy="292608"/>
          </a:xfrm>
          <a:prstGeom prst="rect">
            <a:avLst/>
          </a:prstGeom>
          <a:noFill/>
          <a:ln/>
        </p:spPr>
        <p:txBody>
          <a:bodyPr wrap="square" lIns="0" tIns="0" rIns="0" bIns="0" rtlCol="0" anchor="ctr"/>
          <a:lstStyle/>
          <a:p>
            <a:pPr algn="ctr" indent="0" marL="0">
              <a:buNone/>
            </a:pPr>
            <a:r>
              <a:rPr lang="en-US" sz="800" b="1" dirty="0">
                <a:solidFill>
                  <a:srgbClr val="1E1E1E"/>
                </a:solidFill>
                <a:latin typeface="Arial" pitchFamily="34" charset="0"/>
                <a:ea typeface="Arial" pitchFamily="34" charset="-122"/>
                <a:cs typeface="Arial" pitchFamily="34" charset="-120"/>
              </a:rPr>
              <a:t>DATE TBC</a:t>
            </a:r>
            <a:endParaRPr lang="en-US" sz="800" dirty="0"/>
          </a:p>
        </p:txBody>
      </p:sp>
      <p:sp>
        <p:nvSpPr>
          <p:cNvPr id="27" name="Text 19"/>
          <p:cNvSpPr txBox="1"/>
          <p:nvPr/>
        </p:nvSpPr>
        <p:spPr>
          <a:xfrm>
            <a:off x="749808" y="3200400"/>
            <a:ext cx="2157984" cy="320040"/>
          </a:xfrm>
          <a:prstGeom prst="rect">
            <a:avLst/>
          </a:prstGeom>
          <a:noFill/>
          <a:ln/>
        </p:spPr>
        <p:txBody>
          <a:bodyPr wrap="square" lIns="0" tIns="0" rIns="0" bIns="0" rtlCol="0" anchor="ctr"/>
          <a:lstStyle/>
          <a:p>
            <a:pPr indent="0" marL="0">
              <a:buNone/>
            </a:pPr>
            <a:r>
              <a:rPr lang="en-US" sz="1500" b="1" dirty="0">
                <a:solidFill>
                  <a:srgbClr val="1E1E1E"/>
                </a:solidFill>
                <a:latin typeface="Arial" pitchFamily="34" charset="0"/>
                <a:ea typeface="Arial" pitchFamily="34" charset="-122"/>
                <a:cs typeface="Arial" pitchFamily="34" charset="-120"/>
              </a:rPr>
              <a:t>Code Jam</a:t>
            </a:r>
            <a:endParaRPr lang="en-US" sz="1500" dirty="0"/>
          </a:p>
        </p:txBody>
      </p:sp>
      <p:sp>
        <p:nvSpPr>
          <p:cNvPr id="28" name="Text 20"/>
          <p:cNvSpPr txBox="1"/>
          <p:nvPr/>
        </p:nvSpPr>
        <p:spPr>
          <a:xfrm>
            <a:off x="749808" y="3538728"/>
            <a:ext cx="2157984" cy="822960"/>
          </a:xfrm>
          <a:prstGeom prst="rect">
            <a:avLst/>
          </a:prstGeom>
          <a:noFill/>
          <a:ln/>
        </p:spPr>
        <p:txBody>
          <a:bodyPr wrap="square" lIns="0" tIns="0" rIns="0" bIns="0" rtlCol="0" anchor="ctr"/>
          <a:lstStyle/>
          <a:p>
            <a:pPr indent="0" marL="0">
              <a:buNone/>
            </a:pPr>
            <a:r>
              <a:rPr lang="en-US" sz="1100" dirty="0">
                <a:solidFill>
                  <a:srgbClr val="5F6368"/>
                </a:solidFill>
                <a:latin typeface="Arial" pitchFamily="34" charset="0"/>
                <a:ea typeface="Arial" pitchFamily="34" charset="-122"/>
                <a:cs typeface="Arial" pitchFamily="34" charset="-120"/>
              </a:rPr>
              <a:t>Build a quick prototype with Google's AI tools in two hours. There's pizza.</a:t>
            </a:r>
            <a:endParaRPr lang="en-US" sz="1100" dirty="0"/>
          </a:p>
        </p:txBody>
      </p:sp>
      <p:sp>
        <p:nvSpPr>
          <p:cNvPr id="29" name="Shape 21"/>
          <p:cNvSpPr/>
          <p:nvPr/>
        </p:nvSpPr>
        <p:spPr>
          <a:xfrm>
            <a:off x="3291840" y="2423160"/>
            <a:ext cx="2560320" cy="2057400"/>
          </a:xfrm>
          <a:prstGeom prst="roundRect">
            <a:avLst>
              <a:gd name="adj" fmla="val 6222"/>
            </a:avLst>
          </a:prstGeom>
          <a:solidFill>
            <a:srgbClr val="FFFFFF"/>
          </a:solidFill>
          <a:ln w="12700">
            <a:solidFill>
              <a:srgbClr val="DADCE0"/>
            </a:solidFill>
            <a:prstDash val="solid"/>
          </a:ln>
          <a:effectLst>
            <a:outerShdw sx="100000" sy="100000" kx="0" ky="0" algn="bl" rotWithShape="0" blurRad="101600" dist="25400" dir="5400000">
              <a:srgbClr val="000000">
                <a:alpha val="12000"/>
              </a:srgbClr>
            </a:outerShdw>
          </a:effectLst>
        </p:spPr>
      </p:sp>
      <p:sp>
        <p:nvSpPr>
          <p:cNvPr id="30" name="Shape 22"/>
          <p:cNvSpPr/>
          <p:nvPr/>
        </p:nvSpPr>
        <p:spPr>
          <a:xfrm>
            <a:off x="3493008" y="2624328"/>
            <a:ext cx="457200" cy="457200"/>
          </a:xfrm>
          <a:prstGeom prst="ellipse">
            <a:avLst/>
          </a:prstGeom>
          <a:solidFill>
            <a:srgbClr val="4285F4"/>
          </a:solidFill>
          <a:ln w="12700">
            <a:solidFill>
              <a:srgbClr val="4285F4"/>
            </a:solidFill>
            <a:prstDash val="solid"/>
          </a:ln>
        </p:spPr>
      </p:sp>
      <p:pic>
        <p:nvPicPr>
          <p:cNvPr id="31" name="Image 5" descr="preencoded.png">    </p:cNvPr>
          <p:cNvPicPr>
            <a:picLocks noChangeAspect="1"/>
          </p:cNvPicPr>
          <p:nvPr/>
        </p:nvPicPr>
        <p:blipFill>
          <a:blip r:embed="rId6"/>
          <a:stretch>
            <a:fillRect/>
          </a:stretch>
        </p:blipFill>
        <p:spPr>
          <a:xfrm>
            <a:off x="3564331" y="2695651"/>
            <a:ext cx="314554" cy="314554"/>
          </a:xfrm>
          <a:prstGeom prst="rect">
            <a:avLst/>
          </a:prstGeom>
        </p:spPr>
      </p:pic>
      <p:sp>
        <p:nvSpPr>
          <p:cNvPr id="32" name="Shape 23"/>
          <p:cNvSpPr/>
          <p:nvPr/>
        </p:nvSpPr>
        <p:spPr>
          <a:xfrm>
            <a:off x="4846320" y="2697480"/>
            <a:ext cx="804672" cy="292608"/>
          </a:xfrm>
          <a:prstGeom prst="roundRect">
            <a:avLst>
              <a:gd name="adj" fmla="val 50000"/>
            </a:avLst>
          </a:prstGeom>
          <a:solidFill>
            <a:srgbClr val="FEF7E0"/>
          </a:solidFill>
          <a:ln w="12700">
            <a:solidFill>
              <a:srgbClr val="F9AB00"/>
            </a:solidFill>
            <a:prstDash val="solid"/>
          </a:ln>
        </p:spPr>
      </p:sp>
      <p:sp>
        <p:nvSpPr>
          <p:cNvPr id="33" name="Text 24"/>
          <p:cNvSpPr txBox="1"/>
          <p:nvPr/>
        </p:nvSpPr>
        <p:spPr>
          <a:xfrm>
            <a:off x="4846320" y="2697480"/>
            <a:ext cx="804672" cy="292608"/>
          </a:xfrm>
          <a:prstGeom prst="rect">
            <a:avLst/>
          </a:prstGeom>
          <a:noFill/>
          <a:ln/>
        </p:spPr>
        <p:txBody>
          <a:bodyPr wrap="square" lIns="0" tIns="0" rIns="0" bIns="0" rtlCol="0" anchor="ctr"/>
          <a:lstStyle/>
          <a:p>
            <a:pPr algn="ctr" indent="0" marL="0">
              <a:buNone/>
            </a:pPr>
            <a:r>
              <a:rPr lang="en-US" sz="800" b="1" dirty="0">
                <a:solidFill>
                  <a:srgbClr val="1E1E1E"/>
                </a:solidFill>
                <a:latin typeface="Arial" pitchFamily="34" charset="0"/>
                <a:ea typeface="Arial" pitchFamily="34" charset="-122"/>
                <a:cs typeface="Arial" pitchFamily="34" charset="-120"/>
              </a:rPr>
              <a:t>DATE TBC</a:t>
            </a:r>
            <a:endParaRPr lang="en-US" sz="800" dirty="0"/>
          </a:p>
        </p:txBody>
      </p:sp>
      <p:sp>
        <p:nvSpPr>
          <p:cNvPr id="34" name="Text 25"/>
          <p:cNvSpPr txBox="1"/>
          <p:nvPr/>
        </p:nvSpPr>
        <p:spPr>
          <a:xfrm>
            <a:off x="3493008" y="3200400"/>
            <a:ext cx="2157984" cy="320040"/>
          </a:xfrm>
          <a:prstGeom prst="rect">
            <a:avLst/>
          </a:prstGeom>
          <a:noFill/>
          <a:ln/>
        </p:spPr>
        <p:txBody>
          <a:bodyPr wrap="square" lIns="0" tIns="0" rIns="0" bIns="0" rtlCol="0" anchor="ctr"/>
          <a:lstStyle/>
          <a:p>
            <a:pPr indent="0" marL="0">
              <a:buNone/>
            </a:pPr>
            <a:r>
              <a:rPr lang="en-US" sz="1500" b="1" dirty="0">
                <a:solidFill>
                  <a:srgbClr val="1E1E1E"/>
                </a:solidFill>
                <a:latin typeface="Arial" pitchFamily="34" charset="0"/>
                <a:ea typeface="Arial" pitchFamily="34" charset="-122"/>
                <a:cs typeface="Arial" pitchFamily="34" charset="-120"/>
              </a:rPr>
              <a:t>Small Hackathon</a:t>
            </a:r>
            <a:endParaRPr lang="en-US" sz="1500" dirty="0"/>
          </a:p>
        </p:txBody>
      </p:sp>
      <p:sp>
        <p:nvSpPr>
          <p:cNvPr id="35" name="Text 26"/>
          <p:cNvSpPr txBox="1"/>
          <p:nvPr/>
        </p:nvSpPr>
        <p:spPr>
          <a:xfrm>
            <a:off x="3493008" y="3538728"/>
            <a:ext cx="2157984" cy="822960"/>
          </a:xfrm>
          <a:prstGeom prst="rect">
            <a:avLst/>
          </a:prstGeom>
          <a:noFill/>
          <a:ln/>
        </p:spPr>
        <p:txBody>
          <a:bodyPr wrap="square" lIns="0" tIns="0" rIns="0" bIns="0" rtlCol="0" anchor="ctr"/>
          <a:lstStyle/>
          <a:p>
            <a:pPr indent="0" marL="0">
              <a:buNone/>
            </a:pPr>
            <a:r>
              <a:rPr lang="en-US" sz="1100" dirty="0">
                <a:solidFill>
                  <a:srgbClr val="5F6368"/>
                </a:solidFill>
                <a:latin typeface="Arial" pitchFamily="34" charset="0"/>
                <a:ea typeface="Arial" pitchFamily="34" charset="-122"/>
                <a:cs typeface="Arial" pitchFamily="34" charset="-120"/>
              </a:rPr>
              <a:t>Team up and build something in one event. Still working out the details.</a:t>
            </a:r>
            <a:endParaRPr lang="en-US" sz="1100" dirty="0"/>
          </a:p>
        </p:txBody>
      </p:sp>
      <p:sp>
        <p:nvSpPr>
          <p:cNvPr id="36" name="Shape 27"/>
          <p:cNvSpPr/>
          <p:nvPr/>
        </p:nvSpPr>
        <p:spPr>
          <a:xfrm>
            <a:off x="6035040" y="2423160"/>
            <a:ext cx="2560320" cy="2057400"/>
          </a:xfrm>
          <a:prstGeom prst="roundRect">
            <a:avLst>
              <a:gd name="adj" fmla="val 6222"/>
            </a:avLst>
          </a:prstGeom>
          <a:solidFill>
            <a:srgbClr val="FFFFFF"/>
          </a:solidFill>
          <a:ln w="12700">
            <a:solidFill>
              <a:srgbClr val="DADCE0"/>
            </a:solidFill>
            <a:prstDash val="solid"/>
          </a:ln>
          <a:effectLst>
            <a:outerShdw sx="100000" sy="100000" kx="0" ky="0" algn="bl" rotWithShape="0" blurRad="101600" dist="25400" dir="5400000">
              <a:srgbClr val="000000">
                <a:alpha val="12000"/>
              </a:srgbClr>
            </a:outerShdw>
          </a:effectLst>
        </p:spPr>
      </p:sp>
      <p:sp>
        <p:nvSpPr>
          <p:cNvPr id="37" name="Shape 28"/>
          <p:cNvSpPr/>
          <p:nvPr/>
        </p:nvSpPr>
        <p:spPr>
          <a:xfrm>
            <a:off x="6236208" y="2624328"/>
            <a:ext cx="457200" cy="457200"/>
          </a:xfrm>
          <a:prstGeom prst="ellipse">
            <a:avLst/>
          </a:prstGeom>
          <a:solidFill>
            <a:srgbClr val="34A853"/>
          </a:solidFill>
          <a:ln w="12700">
            <a:solidFill>
              <a:srgbClr val="34A853"/>
            </a:solidFill>
            <a:prstDash val="solid"/>
          </a:ln>
        </p:spPr>
      </p:sp>
      <p:pic>
        <p:nvPicPr>
          <p:cNvPr id="38" name="Image 6" descr="preencoded.png">    </p:cNvPr>
          <p:cNvPicPr>
            <a:picLocks noChangeAspect="1"/>
          </p:cNvPicPr>
          <p:nvPr/>
        </p:nvPicPr>
        <p:blipFill>
          <a:blip r:embed="rId7"/>
          <a:stretch>
            <a:fillRect/>
          </a:stretch>
        </p:blipFill>
        <p:spPr>
          <a:xfrm>
            <a:off x="6307531" y="2695651"/>
            <a:ext cx="314554" cy="314554"/>
          </a:xfrm>
          <a:prstGeom prst="rect">
            <a:avLst/>
          </a:prstGeom>
        </p:spPr>
      </p:pic>
      <p:sp>
        <p:nvSpPr>
          <p:cNvPr id="39" name="Shape 29"/>
          <p:cNvSpPr/>
          <p:nvPr/>
        </p:nvSpPr>
        <p:spPr>
          <a:xfrm>
            <a:off x="7589520" y="2697480"/>
            <a:ext cx="804672" cy="292608"/>
          </a:xfrm>
          <a:prstGeom prst="roundRect">
            <a:avLst>
              <a:gd name="adj" fmla="val 50000"/>
            </a:avLst>
          </a:prstGeom>
          <a:solidFill>
            <a:srgbClr val="FEF7E0"/>
          </a:solidFill>
          <a:ln w="12700">
            <a:solidFill>
              <a:srgbClr val="F9AB00"/>
            </a:solidFill>
            <a:prstDash val="solid"/>
          </a:ln>
        </p:spPr>
      </p:sp>
      <p:sp>
        <p:nvSpPr>
          <p:cNvPr id="40" name="Text 30"/>
          <p:cNvSpPr txBox="1"/>
          <p:nvPr/>
        </p:nvSpPr>
        <p:spPr>
          <a:xfrm>
            <a:off x="7589520" y="2697480"/>
            <a:ext cx="804672" cy="292608"/>
          </a:xfrm>
          <a:prstGeom prst="rect">
            <a:avLst/>
          </a:prstGeom>
          <a:noFill/>
          <a:ln/>
        </p:spPr>
        <p:txBody>
          <a:bodyPr wrap="square" lIns="0" tIns="0" rIns="0" bIns="0" rtlCol="0" anchor="ctr"/>
          <a:lstStyle/>
          <a:p>
            <a:pPr algn="ctr" indent="0" marL="0">
              <a:buNone/>
            </a:pPr>
            <a:r>
              <a:rPr lang="en-US" sz="800" b="1" dirty="0">
                <a:solidFill>
                  <a:srgbClr val="1E1E1E"/>
                </a:solidFill>
                <a:latin typeface="Arial" pitchFamily="34" charset="0"/>
                <a:ea typeface="Arial" pitchFamily="34" charset="-122"/>
                <a:cs typeface="Arial" pitchFamily="34" charset="-120"/>
              </a:rPr>
              <a:t>DATE TBC</a:t>
            </a:r>
            <a:endParaRPr lang="en-US" sz="800" dirty="0"/>
          </a:p>
        </p:txBody>
      </p:sp>
      <p:sp>
        <p:nvSpPr>
          <p:cNvPr id="41" name="Text 31"/>
          <p:cNvSpPr txBox="1"/>
          <p:nvPr/>
        </p:nvSpPr>
        <p:spPr>
          <a:xfrm>
            <a:off x="6236208" y="3200400"/>
            <a:ext cx="2157984" cy="320040"/>
          </a:xfrm>
          <a:prstGeom prst="rect">
            <a:avLst/>
          </a:prstGeom>
          <a:noFill/>
          <a:ln/>
        </p:spPr>
        <p:txBody>
          <a:bodyPr wrap="square" lIns="0" tIns="0" rIns="0" bIns="0" rtlCol="0" anchor="ctr"/>
          <a:lstStyle/>
          <a:p>
            <a:pPr indent="0" marL="0">
              <a:buNone/>
            </a:pPr>
            <a:r>
              <a:rPr lang="en-US" sz="1500" b="1" dirty="0">
                <a:solidFill>
                  <a:srgbClr val="1E1E1E"/>
                </a:solidFill>
                <a:latin typeface="Arial" pitchFamily="34" charset="0"/>
                <a:ea typeface="Arial" pitchFamily="34" charset="-122"/>
                <a:cs typeface="Arial" pitchFamily="34" charset="-120"/>
              </a:rPr>
              <a:t>Cloud Study Jam</a:t>
            </a:r>
            <a:endParaRPr lang="en-US" sz="1500" dirty="0"/>
          </a:p>
        </p:txBody>
      </p:sp>
      <p:sp>
        <p:nvSpPr>
          <p:cNvPr id="42" name="Text 32"/>
          <p:cNvSpPr txBox="1"/>
          <p:nvPr/>
        </p:nvSpPr>
        <p:spPr>
          <a:xfrm>
            <a:off x="6236208" y="3538728"/>
            <a:ext cx="2157984" cy="822960"/>
          </a:xfrm>
          <a:prstGeom prst="rect">
            <a:avLst/>
          </a:prstGeom>
          <a:noFill/>
          <a:ln/>
        </p:spPr>
        <p:txBody>
          <a:bodyPr wrap="square" lIns="0" tIns="0" rIns="0" bIns="0" rtlCol="0" anchor="ctr"/>
          <a:lstStyle/>
          <a:p>
            <a:pPr indent="0" marL="0">
              <a:buNone/>
            </a:pPr>
            <a:r>
              <a:rPr lang="en-US" sz="1100" dirty="0">
                <a:solidFill>
                  <a:srgbClr val="5F6368"/>
                </a:solidFill>
                <a:latin typeface="Arial" pitchFamily="34" charset="0"/>
                <a:ea typeface="Arial" pitchFamily="34" charset="-122"/>
                <a:cs typeface="Arial" pitchFamily="34" charset="-120"/>
              </a:rPr>
              <a:t>Work through Google Cloud labs. Everyone who joins gets Skills Boost credits.</a:t>
            </a:r>
            <a:endParaRPr lang="en-US" sz="1100" dirty="0"/>
          </a:p>
        </p:txBody>
      </p:sp>
      <p:pic>
        <p:nvPicPr>
          <p:cNvPr id="43" name="Image 7" descr="/Users/datta/Developer/gdg-seneca/deck-builder/brand/mark.png">    </p:cNvPr>
          <p:cNvPicPr>
            <a:picLocks noChangeAspect="1"/>
          </p:cNvPicPr>
          <p:nvPr/>
        </p:nvPicPr>
        <p:blipFill>
          <a:blip r:embed="rId8"/>
          <a:stretch>
            <a:fillRect/>
          </a:stretch>
        </p:blipFill>
        <p:spPr>
          <a:xfrm>
            <a:off x="548640" y="4727448"/>
            <a:ext cx="201168" cy="201168"/>
          </a:xfrm>
          <a:prstGeom prst="rect">
            <a:avLst/>
          </a:prstGeom>
        </p:spPr>
      </p:pic>
      <p:sp>
        <p:nvSpPr>
          <p:cNvPr id="44" name="Text 33"/>
          <p:cNvSpPr txBox="1"/>
          <p:nvPr/>
        </p:nvSpPr>
        <p:spPr>
          <a:xfrm>
            <a:off x="822960" y="4727448"/>
            <a:ext cx="3657600" cy="201168"/>
          </a:xfrm>
          <a:prstGeom prst="rect">
            <a:avLst/>
          </a:prstGeom>
          <a:noFill/>
          <a:ln/>
        </p:spPr>
        <p:txBody>
          <a:bodyPr wrap="square" lIns="0" tIns="0" rIns="0" bIns="0" rtlCol="0" anchor="ctr"/>
          <a:lstStyle/>
          <a:p>
            <a:pPr indent="0" marL="0">
              <a:buNone/>
            </a:pPr>
            <a:r>
              <a:rPr lang="en-US" sz="900" dirty="0">
                <a:solidFill>
                  <a:srgbClr val="5F6368"/>
                </a:solidFill>
                <a:latin typeface="Arial" pitchFamily="34" charset="0"/>
                <a:ea typeface="Arial" pitchFamily="34" charset="-122"/>
                <a:cs typeface="Arial" pitchFamily="34" charset="-120"/>
              </a:rPr>
              <a:t>GDG on Campus  ·  Seneca Polytechnic</a:t>
            </a:r>
            <a:endParaRPr lang="en-US" sz="900" dirty="0"/>
          </a:p>
        </p:txBody>
      </p:sp>
      <p:sp>
        <p:nvSpPr>
          <p:cNvPr id="45" name="Text 34"/>
          <p:cNvSpPr txBox="1"/>
          <p:nvPr/>
        </p:nvSpPr>
        <p:spPr>
          <a:xfrm>
            <a:off x="8138160" y="4727448"/>
            <a:ext cx="457200" cy="201168"/>
          </a:xfrm>
          <a:prstGeom prst="rect">
            <a:avLst/>
          </a:prstGeom>
          <a:noFill/>
          <a:ln/>
        </p:spPr>
        <p:txBody>
          <a:bodyPr wrap="square" lIns="0" tIns="0" rIns="0" bIns="0" rtlCol="0" anchor="ctr"/>
          <a:lstStyle/>
          <a:p>
            <a:pPr algn="r" indent="0" marL="0">
              <a:buNone/>
            </a:pPr>
            <a:r>
              <a:rPr lang="en-US" sz="900" b="1" dirty="0">
                <a:solidFill>
                  <a:srgbClr val="5F6368"/>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411480"/>
            <a:ext cx="2377440" cy="292608"/>
          </a:xfrm>
          <a:prstGeom prst="roundRect">
            <a:avLst>
              <a:gd name="adj" fmla="val 50000"/>
            </a:avLst>
          </a:prstGeom>
          <a:solidFill>
            <a:srgbClr val="FEF7E0"/>
          </a:solidFill>
          <a:ln w="15875">
            <a:solidFill>
              <a:srgbClr val="F9AB00"/>
            </a:solidFill>
            <a:prstDash val="solid"/>
          </a:ln>
        </p:spPr>
      </p:sp>
      <p:sp>
        <p:nvSpPr>
          <p:cNvPr id="4" name="Text 1"/>
          <p:cNvSpPr txBox="1"/>
          <p:nvPr/>
        </p:nvSpPr>
        <p:spPr>
          <a:xfrm>
            <a:off x="548640" y="411480"/>
            <a:ext cx="2377440" cy="292608"/>
          </a:xfrm>
          <a:prstGeom prst="rect">
            <a:avLst/>
          </a:prstGeom>
          <a:noFill/>
          <a:ln/>
        </p:spPr>
        <p:txBody>
          <a:bodyPr wrap="square" lIns="0" tIns="0" rIns="0" bIns="0" rtlCol="0" anchor="ctr"/>
          <a:lstStyle/>
          <a:p>
            <a:pPr algn="ctr" indent="0" marL="0">
              <a:buNone/>
            </a:pPr>
            <a:r>
              <a:rPr lang="en-US" sz="900" b="1" spc="150" kern="0" dirty="0">
                <a:solidFill>
                  <a:srgbClr val="1E1E1E"/>
                </a:solidFill>
                <a:latin typeface="Arial" pitchFamily="34" charset="0"/>
                <a:ea typeface="Arial" pitchFamily="34" charset="-122"/>
                <a:cs typeface="Arial" pitchFamily="34" charset="-120"/>
              </a:rPr>
              <a:t>04  SOLUTION CHALLENGE</a:t>
            </a:r>
            <a:endParaRPr lang="en-US" sz="900" dirty="0"/>
          </a:p>
        </p:txBody>
      </p:sp>
      <p:sp>
        <p:nvSpPr>
          <p:cNvPr id="5" name="Text 2"/>
          <p:cNvSpPr txBox="1"/>
          <p:nvPr/>
        </p:nvSpPr>
        <p:spPr>
          <a:xfrm>
            <a:off x="548640" y="868680"/>
            <a:ext cx="4023360" cy="1005840"/>
          </a:xfrm>
          <a:prstGeom prst="rect">
            <a:avLst/>
          </a:prstGeom>
          <a:noFill/>
          <a:ln/>
        </p:spPr>
        <p:txBody>
          <a:bodyPr wrap="square" lIns="0" tIns="0" rIns="0" bIns="0" rtlCol="0" anchor="t"/>
          <a:lstStyle/>
          <a:p>
            <a:pPr indent="0" marL="0">
              <a:buNone/>
            </a:pPr>
            <a:r>
              <a:rPr lang="en-US" sz="3000" b="1" dirty="0">
                <a:solidFill>
                  <a:srgbClr val="1E1E1E"/>
                </a:solidFill>
                <a:latin typeface="Arial" pitchFamily="34" charset="0"/>
                <a:ea typeface="Arial" pitchFamily="34" charset="-122"/>
                <a:cs typeface="Arial" pitchFamily="34" charset="-120"/>
              </a:rPr>
              <a:t>Google's Solution Challenge</a:t>
            </a:r>
            <a:endParaRPr lang="en-US" sz="3000" dirty="0"/>
          </a:p>
        </p:txBody>
      </p:sp>
      <p:sp>
        <p:nvSpPr>
          <p:cNvPr id="6" name="Text 3"/>
          <p:cNvSpPr txBox="1"/>
          <p:nvPr/>
        </p:nvSpPr>
        <p:spPr>
          <a:xfrm>
            <a:off x="548640" y="2011680"/>
            <a:ext cx="3657600" cy="868680"/>
          </a:xfrm>
          <a:prstGeom prst="rect">
            <a:avLst/>
          </a:prstGeom>
          <a:noFill/>
          <a:ln/>
        </p:spPr>
        <p:txBody>
          <a:bodyPr wrap="square" lIns="0" tIns="0" rIns="0" bIns="0" rtlCol="0" anchor="ctr"/>
          <a:lstStyle/>
          <a:p>
            <a:pPr indent="0" marL="0">
              <a:buNone/>
            </a:pPr>
            <a:r>
              <a:rPr lang="en-US" sz="1400" dirty="0">
                <a:solidFill>
                  <a:srgbClr val="5F6368"/>
                </a:solidFill>
                <a:latin typeface="Arial" pitchFamily="34" charset="0"/>
                <a:ea typeface="Arial" pitchFamily="34" charset="-122"/>
                <a:cs typeface="Arial" pitchFamily="34" charset="-120"/>
              </a:rPr>
              <a:t>A yearly competition where GDG on Campus students build apps that solve real problems.</a:t>
            </a:r>
            <a:endParaRPr lang="en-US" sz="1400" dirty="0"/>
          </a:p>
        </p:txBody>
      </p:sp>
      <p:sp>
        <p:nvSpPr>
          <p:cNvPr id="7" name="Shape 4"/>
          <p:cNvSpPr/>
          <p:nvPr/>
        </p:nvSpPr>
        <p:spPr>
          <a:xfrm>
            <a:off x="548640" y="3291840"/>
            <a:ext cx="3840480" cy="960120"/>
          </a:xfrm>
          <a:prstGeom prst="roundRect">
            <a:avLst>
              <a:gd name="adj" fmla="val 19048"/>
            </a:avLst>
          </a:prstGeom>
          <a:solidFill>
            <a:srgbClr val="F9AB00"/>
          </a:solidFill>
          <a:ln w="12700">
            <a:solidFill>
              <a:srgbClr val="1E1E1E"/>
            </a:solidFill>
            <a:prstDash val="solid"/>
          </a:ln>
        </p:spPr>
      </p:sp>
      <p:sp>
        <p:nvSpPr>
          <p:cNvPr id="8" name="Text 5"/>
          <p:cNvSpPr txBox="1"/>
          <p:nvPr/>
        </p:nvSpPr>
        <p:spPr>
          <a:xfrm>
            <a:off x="777240" y="3291840"/>
            <a:ext cx="3474720" cy="960120"/>
          </a:xfrm>
          <a:prstGeom prst="rect">
            <a:avLst/>
          </a:prstGeom>
          <a:noFill/>
          <a:ln/>
        </p:spPr>
        <p:txBody>
          <a:bodyPr wrap="square" lIns="0" tIns="0" rIns="0" bIns="0" rtlCol="0" anchor="ctr"/>
          <a:lstStyle/>
          <a:p>
            <a:pPr indent="0" marL="0">
              <a:buNone/>
            </a:pPr>
            <a:r>
              <a:rPr lang="en-US" sz="1600" b="1" dirty="0">
                <a:solidFill>
                  <a:srgbClr val="1E1E1E"/>
                </a:solidFill>
                <a:latin typeface="Arial" pitchFamily="34" charset="0"/>
                <a:ea typeface="Arial" pitchFamily="34" charset="-122"/>
                <a:cs typeface="Arial" pitchFamily="34" charset="-120"/>
              </a:rPr>
              <a:t>Start looking for a team early</a:t>
            </a:r>
            <a:endParaRPr lang="en-US" sz="1600" dirty="0"/>
          </a:p>
          <a:p>
            <a:pPr indent="0" marL="0">
              <a:buNone/>
            </a:pPr>
            <a:r>
              <a:rPr lang="en-US" sz="1250" dirty="0">
                <a:solidFill>
                  <a:srgbClr val="1E1E1E"/>
                </a:solidFill>
                <a:latin typeface="Arial" pitchFamily="34" charset="0"/>
                <a:ea typeface="Arial" pitchFamily="34" charset="-122"/>
                <a:cs typeface="Arial" pitchFamily="34" charset="-120"/>
              </a:rPr>
              <a:t>Lots of people find teammates through us.</a:t>
            </a:r>
            <a:endParaRPr lang="en-US" sz="1600" dirty="0"/>
          </a:p>
        </p:txBody>
      </p:sp>
      <p:sp>
        <p:nvSpPr>
          <p:cNvPr id="9" name="Shape 6"/>
          <p:cNvSpPr/>
          <p:nvPr/>
        </p:nvSpPr>
        <p:spPr>
          <a:xfrm>
            <a:off x="4846320" y="868680"/>
            <a:ext cx="3749040" cy="960120"/>
          </a:xfrm>
          <a:prstGeom prst="roundRect">
            <a:avLst>
              <a:gd name="adj" fmla="val 13333"/>
            </a:avLst>
          </a:prstGeom>
          <a:solidFill>
            <a:srgbClr val="E8F0FE"/>
          </a:solidFill>
          <a:ln w="12700">
            <a:solidFill>
              <a:srgbClr val="E8F0FE"/>
            </a:solidFill>
            <a:prstDash val="solid"/>
          </a:ln>
        </p:spPr>
      </p:sp>
      <p:sp>
        <p:nvSpPr>
          <p:cNvPr id="10" name="Shape 7"/>
          <p:cNvSpPr/>
          <p:nvPr/>
        </p:nvSpPr>
        <p:spPr>
          <a:xfrm>
            <a:off x="5029200" y="1097280"/>
            <a:ext cx="502920" cy="502920"/>
          </a:xfrm>
          <a:prstGeom prst="ellipse">
            <a:avLst/>
          </a:prstGeom>
          <a:solidFill>
            <a:srgbClr val="4285F4"/>
          </a:solidFill>
          <a:ln w="19050">
            <a:solidFill>
              <a:srgbClr val="1E1E1E"/>
            </a:solidFill>
            <a:prstDash val="solid"/>
          </a:ln>
        </p:spPr>
      </p:sp>
      <p:sp>
        <p:nvSpPr>
          <p:cNvPr id="11" name="Text 8"/>
          <p:cNvSpPr txBox="1"/>
          <p:nvPr/>
        </p:nvSpPr>
        <p:spPr>
          <a:xfrm>
            <a:off x="5029200" y="10972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2" name="Text 9"/>
          <p:cNvSpPr txBox="1"/>
          <p:nvPr/>
        </p:nvSpPr>
        <p:spPr>
          <a:xfrm>
            <a:off x="5715000" y="1033272"/>
            <a:ext cx="2743200" cy="320040"/>
          </a:xfrm>
          <a:prstGeom prst="rect">
            <a:avLst/>
          </a:prstGeom>
          <a:noFill/>
          <a:ln/>
        </p:spPr>
        <p:txBody>
          <a:bodyPr wrap="square" lIns="0" tIns="0" rIns="0" bIns="0" rtlCol="0" anchor="ctr"/>
          <a:lstStyle/>
          <a:p>
            <a:pPr indent="0" marL="0">
              <a:buNone/>
            </a:pPr>
            <a:r>
              <a:rPr lang="en-US" sz="1500" b="1" dirty="0">
                <a:solidFill>
                  <a:srgbClr val="1E1E1E"/>
                </a:solidFill>
                <a:latin typeface="Arial" pitchFamily="34" charset="0"/>
                <a:ea typeface="Arial" pitchFamily="34" charset="-122"/>
                <a:cs typeface="Arial" pitchFamily="34" charset="-120"/>
              </a:rPr>
              <a:t>Pick a real problem</a:t>
            </a:r>
            <a:endParaRPr lang="en-US" sz="1500" dirty="0"/>
          </a:p>
        </p:txBody>
      </p:sp>
      <p:sp>
        <p:nvSpPr>
          <p:cNvPr id="13" name="Text 10"/>
          <p:cNvSpPr txBox="1"/>
          <p:nvPr/>
        </p:nvSpPr>
        <p:spPr>
          <a:xfrm>
            <a:off x="5715000" y="1344168"/>
            <a:ext cx="2743200" cy="365760"/>
          </a:xfrm>
          <a:prstGeom prst="rect">
            <a:avLst/>
          </a:prstGeom>
          <a:noFill/>
          <a:ln/>
        </p:spPr>
        <p:txBody>
          <a:bodyPr wrap="square" lIns="0" tIns="0" rIns="0" bIns="0" rtlCol="0" anchor="ctr"/>
          <a:lstStyle/>
          <a:p>
            <a:pPr indent="0" marL="0">
              <a:buNone/>
            </a:pPr>
            <a:r>
              <a:rPr lang="en-US" sz="1150" dirty="0">
                <a:solidFill>
                  <a:srgbClr val="5F6368"/>
                </a:solidFill>
                <a:latin typeface="Arial" pitchFamily="34" charset="0"/>
                <a:ea typeface="Arial" pitchFamily="34" charset="-122"/>
                <a:cs typeface="Arial" pitchFamily="34" charset="-120"/>
              </a:rPr>
              <a:t>Something you or people around you actually deal with.</a:t>
            </a:r>
            <a:endParaRPr lang="en-US" sz="1150" dirty="0"/>
          </a:p>
        </p:txBody>
      </p:sp>
      <p:sp>
        <p:nvSpPr>
          <p:cNvPr id="14" name="Shape 11"/>
          <p:cNvSpPr/>
          <p:nvPr/>
        </p:nvSpPr>
        <p:spPr>
          <a:xfrm>
            <a:off x="4846320" y="2011680"/>
            <a:ext cx="3749040" cy="960120"/>
          </a:xfrm>
          <a:prstGeom prst="roundRect">
            <a:avLst>
              <a:gd name="adj" fmla="val 13333"/>
            </a:avLst>
          </a:prstGeom>
          <a:solidFill>
            <a:srgbClr val="FCE8E6"/>
          </a:solidFill>
          <a:ln w="12700">
            <a:solidFill>
              <a:srgbClr val="FCE8E6"/>
            </a:solidFill>
            <a:prstDash val="solid"/>
          </a:ln>
        </p:spPr>
      </p:sp>
      <p:sp>
        <p:nvSpPr>
          <p:cNvPr id="15" name="Shape 12"/>
          <p:cNvSpPr/>
          <p:nvPr/>
        </p:nvSpPr>
        <p:spPr>
          <a:xfrm>
            <a:off x="5029200" y="2240280"/>
            <a:ext cx="502920" cy="502920"/>
          </a:xfrm>
          <a:prstGeom prst="ellipse">
            <a:avLst/>
          </a:prstGeom>
          <a:solidFill>
            <a:srgbClr val="EA4335"/>
          </a:solidFill>
          <a:ln w="19050">
            <a:solidFill>
              <a:srgbClr val="1E1E1E"/>
            </a:solidFill>
            <a:prstDash val="solid"/>
          </a:ln>
        </p:spPr>
      </p:sp>
      <p:sp>
        <p:nvSpPr>
          <p:cNvPr id="16" name="Text 13"/>
          <p:cNvSpPr txBox="1"/>
          <p:nvPr/>
        </p:nvSpPr>
        <p:spPr>
          <a:xfrm>
            <a:off x="5029200" y="22402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7" name="Text 14"/>
          <p:cNvSpPr txBox="1"/>
          <p:nvPr/>
        </p:nvSpPr>
        <p:spPr>
          <a:xfrm>
            <a:off x="5715000" y="2176272"/>
            <a:ext cx="2743200" cy="320040"/>
          </a:xfrm>
          <a:prstGeom prst="rect">
            <a:avLst/>
          </a:prstGeom>
          <a:noFill/>
          <a:ln/>
        </p:spPr>
        <p:txBody>
          <a:bodyPr wrap="square" lIns="0" tIns="0" rIns="0" bIns="0" rtlCol="0" anchor="ctr"/>
          <a:lstStyle/>
          <a:p>
            <a:pPr indent="0" marL="0">
              <a:buNone/>
            </a:pPr>
            <a:r>
              <a:rPr lang="en-US" sz="1500" b="1" dirty="0">
                <a:solidFill>
                  <a:srgbClr val="1E1E1E"/>
                </a:solidFill>
                <a:latin typeface="Arial" pitchFamily="34" charset="0"/>
                <a:ea typeface="Arial" pitchFamily="34" charset="-122"/>
                <a:cs typeface="Arial" pitchFamily="34" charset="-120"/>
              </a:rPr>
              <a:t>Build it with Google tech</a:t>
            </a:r>
            <a:endParaRPr lang="en-US" sz="1500" dirty="0"/>
          </a:p>
        </p:txBody>
      </p:sp>
      <p:sp>
        <p:nvSpPr>
          <p:cNvPr id="18" name="Text 15"/>
          <p:cNvSpPr txBox="1"/>
          <p:nvPr/>
        </p:nvSpPr>
        <p:spPr>
          <a:xfrm>
            <a:off x="5715000" y="2487168"/>
            <a:ext cx="2743200" cy="365760"/>
          </a:xfrm>
          <a:prstGeom prst="rect">
            <a:avLst/>
          </a:prstGeom>
          <a:noFill/>
          <a:ln/>
        </p:spPr>
        <p:txBody>
          <a:bodyPr wrap="square" lIns="0" tIns="0" rIns="0" bIns="0" rtlCol="0" anchor="ctr"/>
          <a:lstStyle/>
          <a:p>
            <a:pPr indent="0" marL="0">
              <a:buNone/>
            </a:pPr>
            <a:r>
              <a:rPr lang="en-US" sz="1150" dirty="0">
                <a:solidFill>
                  <a:srgbClr val="5F6368"/>
                </a:solidFill>
                <a:latin typeface="Arial" pitchFamily="34" charset="0"/>
                <a:ea typeface="Arial" pitchFamily="34" charset="-122"/>
                <a:cs typeface="Arial" pitchFamily="34" charset="-120"/>
              </a:rPr>
              <a:t>Teams can have up to four people.</a:t>
            </a:r>
            <a:endParaRPr lang="en-US" sz="1150" dirty="0"/>
          </a:p>
        </p:txBody>
      </p:sp>
      <p:sp>
        <p:nvSpPr>
          <p:cNvPr id="19" name="Shape 16"/>
          <p:cNvSpPr/>
          <p:nvPr/>
        </p:nvSpPr>
        <p:spPr>
          <a:xfrm>
            <a:off x="4846320" y="3154680"/>
            <a:ext cx="3749040" cy="960120"/>
          </a:xfrm>
          <a:prstGeom prst="roundRect">
            <a:avLst>
              <a:gd name="adj" fmla="val 13333"/>
            </a:avLst>
          </a:prstGeom>
          <a:solidFill>
            <a:srgbClr val="E6F4EA"/>
          </a:solidFill>
          <a:ln w="12700">
            <a:solidFill>
              <a:srgbClr val="E6F4EA"/>
            </a:solidFill>
            <a:prstDash val="solid"/>
          </a:ln>
        </p:spPr>
      </p:sp>
      <p:sp>
        <p:nvSpPr>
          <p:cNvPr id="20" name="Shape 17"/>
          <p:cNvSpPr/>
          <p:nvPr/>
        </p:nvSpPr>
        <p:spPr>
          <a:xfrm>
            <a:off x="5029200" y="3383280"/>
            <a:ext cx="502920" cy="502920"/>
          </a:xfrm>
          <a:prstGeom prst="ellipse">
            <a:avLst/>
          </a:prstGeom>
          <a:solidFill>
            <a:srgbClr val="34A853"/>
          </a:solidFill>
          <a:ln w="19050">
            <a:solidFill>
              <a:srgbClr val="1E1E1E"/>
            </a:solidFill>
            <a:prstDash val="solid"/>
          </a:ln>
        </p:spPr>
      </p:sp>
      <p:sp>
        <p:nvSpPr>
          <p:cNvPr id="21" name="Text 18"/>
          <p:cNvSpPr txBox="1"/>
          <p:nvPr/>
        </p:nvSpPr>
        <p:spPr>
          <a:xfrm>
            <a:off x="5029200" y="33832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2" name="Text 19"/>
          <p:cNvSpPr txBox="1"/>
          <p:nvPr/>
        </p:nvSpPr>
        <p:spPr>
          <a:xfrm>
            <a:off x="5715000" y="3319272"/>
            <a:ext cx="2743200" cy="320040"/>
          </a:xfrm>
          <a:prstGeom prst="rect">
            <a:avLst/>
          </a:prstGeom>
          <a:noFill/>
          <a:ln/>
        </p:spPr>
        <p:txBody>
          <a:bodyPr wrap="square" lIns="0" tIns="0" rIns="0" bIns="0" rtlCol="0" anchor="ctr"/>
          <a:lstStyle/>
          <a:p>
            <a:pPr indent="0" marL="0">
              <a:buNone/>
            </a:pPr>
            <a:r>
              <a:rPr lang="en-US" sz="1500" b="1" dirty="0">
                <a:solidFill>
                  <a:srgbClr val="1E1E1E"/>
                </a:solidFill>
                <a:latin typeface="Arial" pitchFamily="34" charset="0"/>
                <a:ea typeface="Arial" pitchFamily="34" charset="-122"/>
                <a:cs typeface="Arial" pitchFamily="34" charset="-120"/>
              </a:rPr>
              <a:t>Win prizes</a:t>
            </a:r>
            <a:endParaRPr lang="en-US" sz="1500" dirty="0"/>
          </a:p>
        </p:txBody>
      </p:sp>
      <p:sp>
        <p:nvSpPr>
          <p:cNvPr id="23" name="Text 20"/>
          <p:cNvSpPr txBox="1"/>
          <p:nvPr/>
        </p:nvSpPr>
        <p:spPr>
          <a:xfrm>
            <a:off x="5715000" y="3630168"/>
            <a:ext cx="2743200" cy="365760"/>
          </a:xfrm>
          <a:prstGeom prst="rect">
            <a:avLst/>
          </a:prstGeom>
          <a:noFill/>
          <a:ln/>
        </p:spPr>
        <p:txBody>
          <a:bodyPr wrap="square" lIns="0" tIns="0" rIns="0" bIns="0" rtlCol="0" anchor="ctr"/>
          <a:lstStyle/>
          <a:p>
            <a:pPr indent="0" marL="0">
              <a:buNone/>
            </a:pPr>
            <a:r>
              <a:rPr lang="en-US" sz="1150" dirty="0">
                <a:solidFill>
                  <a:srgbClr val="5F6368"/>
                </a:solidFill>
                <a:latin typeface="Arial" pitchFamily="34" charset="0"/>
                <a:ea typeface="Arial" pitchFamily="34" charset="-122"/>
                <a:cs typeface="Arial" pitchFamily="34" charset="-120"/>
              </a:rPr>
              <a:t>Top teams get prizes, mentorship, and exposure.</a:t>
            </a:r>
            <a:endParaRPr lang="en-US" sz="1150" dirty="0"/>
          </a:p>
        </p:txBody>
      </p:sp>
      <p:pic>
        <p:nvPicPr>
          <p:cNvPr id="24" name="Image 0" descr="/Users/datta/Developer/gdg-seneca/deck-builder/brand/mark.png">    </p:cNvPr>
          <p:cNvPicPr>
            <a:picLocks noChangeAspect="1"/>
          </p:cNvPicPr>
          <p:nvPr/>
        </p:nvPicPr>
        <p:blipFill>
          <a:blip r:embed="rId1"/>
          <a:stretch>
            <a:fillRect/>
          </a:stretch>
        </p:blipFill>
        <p:spPr>
          <a:xfrm>
            <a:off x="548640" y="4727448"/>
            <a:ext cx="201168" cy="201168"/>
          </a:xfrm>
          <a:prstGeom prst="rect">
            <a:avLst/>
          </a:prstGeom>
        </p:spPr>
      </p:pic>
      <p:sp>
        <p:nvSpPr>
          <p:cNvPr id="25" name="Text 21"/>
          <p:cNvSpPr txBox="1"/>
          <p:nvPr/>
        </p:nvSpPr>
        <p:spPr>
          <a:xfrm>
            <a:off x="822960" y="4727448"/>
            <a:ext cx="3657600" cy="201168"/>
          </a:xfrm>
          <a:prstGeom prst="rect">
            <a:avLst/>
          </a:prstGeom>
          <a:noFill/>
          <a:ln/>
        </p:spPr>
        <p:txBody>
          <a:bodyPr wrap="square" lIns="0" tIns="0" rIns="0" bIns="0" rtlCol="0" anchor="ctr"/>
          <a:lstStyle/>
          <a:p>
            <a:pPr indent="0" marL="0">
              <a:buNone/>
            </a:pPr>
            <a:r>
              <a:rPr lang="en-US" sz="900" dirty="0">
                <a:solidFill>
                  <a:srgbClr val="5F6368"/>
                </a:solidFill>
                <a:latin typeface="Arial" pitchFamily="34" charset="0"/>
                <a:ea typeface="Arial" pitchFamily="34" charset="-122"/>
                <a:cs typeface="Arial" pitchFamily="34" charset="-120"/>
              </a:rPr>
              <a:t>GDG on Campus  ·  Seneca Polytechnic</a:t>
            </a:r>
            <a:endParaRPr lang="en-US" sz="900" dirty="0"/>
          </a:p>
        </p:txBody>
      </p:sp>
      <p:sp>
        <p:nvSpPr>
          <p:cNvPr id="26" name="Text 22"/>
          <p:cNvSpPr txBox="1"/>
          <p:nvPr/>
        </p:nvSpPr>
        <p:spPr>
          <a:xfrm>
            <a:off x="8138160" y="4727448"/>
            <a:ext cx="457200" cy="201168"/>
          </a:xfrm>
          <a:prstGeom prst="rect">
            <a:avLst/>
          </a:prstGeom>
          <a:noFill/>
          <a:ln/>
        </p:spPr>
        <p:txBody>
          <a:bodyPr wrap="square" lIns="0" tIns="0" rIns="0" bIns="0" rtlCol="0" anchor="ctr"/>
          <a:lstStyle/>
          <a:p>
            <a:pPr algn="r" indent="0" marL="0">
              <a:buNone/>
            </a:pPr>
            <a:r>
              <a:rPr lang="en-US" sz="900" b="1" dirty="0">
                <a:solidFill>
                  <a:srgbClr val="5F6368"/>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411480"/>
            <a:ext cx="1554480" cy="292608"/>
          </a:xfrm>
          <a:prstGeom prst="roundRect">
            <a:avLst>
              <a:gd name="adj" fmla="val 50000"/>
            </a:avLst>
          </a:prstGeom>
          <a:solidFill>
            <a:srgbClr val="E6F4EA"/>
          </a:solidFill>
          <a:ln w="15875">
            <a:solidFill>
              <a:srgbClr val="34A853"/>
            </a:solidFill>
            <a:prstDash val="solid"/>
          </a:ln>
        </p:spPr>
      </p:sp>
      <p:sp>
        <p:nvSpPr>
          <p:cNvPr id="4" name="Text 1"/>
          <p:cNvSpPr txBox="1"/>
          <p:nvPr/>
        </p:nvSpPr>
        <p:spPr>
          <a:xfrm>
            <a:off x="548640" y="411480"/>
            <a:ext cx="1554480" cy="292608"/>
          </a:xfrm>
          <a:prstGeom prst="rect">
            <a:avLst/>
          </a:prstGeom>
          <a:noFill/>
          <a:ln/>
        </p:spPr>
        <p:txBody>
          <a:bodyPr wrap="square" lIns="0" tIns="0" rIns="0" bIns="0" rtlCol="0" anchor="ctr"/>
          <a:lstStyle/>
          <a:p>
            <a:pPr algn="ctr" indent="0" marL="0">
              <a:buNone/>
            </a:pPr>
            <a:r>
              <a:rPr lang="en-US" sz="900" b="1" spc="150" kern="0" dirty="0">
                <a:solidFill>
                  <a:srgbClr val="1E1E1E"/>
                </a:solidFill>
                <a:latin typeface="Arial" pitchFamily="34" charset="0"/>
                <a:ea typeface="Arial" pitchFamily="34" charset="-122"/>
                <a:cs typeface="Arial" pitchFamily="34" charset="-120"/>
              </a:rPr>
              <a:t>05  LIVE DEMO</a:t>
            </a:r>
            <a:endParaRPr lang="en-US" sz="900" dirty="0"/>
          </a:p>
        </p:txBody>
      </p:sp>
      <p:sp>
        <p:nvSpPr>
          <p:cNvPr id="5" name="Text 2"/>
          <p:cNvSpPr txBox="1"/>
          <p:nvPr/>
        </p:nvSpPr>
        <p:spPr>
          <a:xfrm>
            <a:off x="548640" y="868680"/>
            <a:ext cx="3566160" cy="1188720"/>
          </a:xfrm>
          <a:prstGeom prst="rect">
            <a:avLst/>
          </a:prstGeom>
          <a:noFill/>
          <a:ln/>
        </p:spPr>
        <p:txBody>
          <a:bodyPr wrap="square" lIns="0" tIns="0" rIns="0" bIns="0" rtlCol="0" anchor="t"/>
          <a:lstStyle/>
          <a:p>
            <a:pPr indent="0" marL="0">
              <a:buNone/>
            </a:pPr>
            <a:r>
              <a:rPr lang="en-US" sz="3000" b="1" dirty="0">
                <a:solidFill>
                  <a:srgbClr val="1E1E1E"/>
                </a:solidFill>
                <a:latin typeface="Arial" pitchFamily="34" charset="0"/>
                <a:ea typeface="Arial" pitchFamily="34" charset="-122"/>
                <a:cs typeface="Arial" pitchFamily="34" charset="-120"/>
              </a:rPr>
              <a:t>Quick live demo</a:t>
            </a:r>
            <a:endParaRPr lang="en-US" sz="3000" dirty="0"/>
          </a:p>
        </p:txBody>
      </p:sp>
      <p:sp>
        <p:nvSpPr>
          <p:cNvPr id="6" name="Text 3"/>
          <p:cNvSpPr txBox="1"/>
          <p:nvPr/>
        </p:nvSpPr>
        <p:spPr>
          <a:xfrm>
            <a:off x="548640" y="1554480"/>
            <a:ext cx="3383280" cy="731520"/>
          </a:xfrm>
          <a:prstGeom prst="rect">
            <a:avLst/>
          </a:prstGeom>
          <a:noFill/>
          <a:ln/>
        </p:spPr>
        <p:txBody>
          <a:bodyPr wrap="square" lIns="0" tIns="0" rIns="0" bIns="0" rtlCol="0" anchor="ctr"/>
          <a:lstStyle/>
          <a:p>
            <a:pPr indent="0" marL="0">
              <a:buNone/>
            </a:pPr>
            <a:r>
              <a:rPr lang="en-US" sz="1400" dirty="0">
                <a:solidFill>
                  <a:srgbClr val="5F6368"/>
                </a:solidFill>
                <a:latin typeface="Arial" pitchFamily="34" charset="0"/>
                <a:ea typeface="Arial" pitchFamily="34" charset="-122"/>
                <a:cs typeface="Arial" pitchFamily="34" charset="-120"/>
              </a:rPr>
              <a:t>We'll go from an empty file to a small Gemini app. Feel free to follow along.</a:t>
            </a:r>
            <a:endParaRPr lang="en-US" sz="1400" dirty="0"/>
          </a:p>
        </p:txBody>
      </p:sp>
      <p:sp>
        <p:nvSpPr>
          <p:cNvPr id="7" name="Shape 4"/>
          <p:cNvSpPr/>
          <p:nvPr/>
        </p:nvSpPr>
        <p:spPr>
          <a:xfrm>
            <a:off x="548640" y="2514600"/>
            <a:ext cx="347472" cy="347472"/>
          </a:xfrm>
          <a:prstGeom prst="roundRect">
            <a:avLst>
              <a:gd name="adj" fmla="val 22000"/>
            </a:avLst>
          </a:prstGeom>
          <a:solidFill>
            <a:srgbClr val="FFFFFF"/>
          </a:solidFill>
          <a:ln w="9525">
            <a:solidFill>
              <a:srgbClr val="DADCE0"/>
            </a:solidFill>
            <a:prstDash val="solid"/>
          </a:ln>
        </p:spPr>
      </p:sp>
      <p:pic>
        <p:nvPicPr>
          <p:cNvPr id="8" name="Image 0" descr="preencoded.png">
            <a:hlinkClick r:id="rId2" tooltip=""/>
          </p:cNvPr>
          <p:cNvPicPr>
            <a:picLocks noChangeAspect="1"/>
          </p:cNvPicPr>
          <p:nvPr/>
        </p:nvPicPr>
        <p:blipFill>
          <a:blip r:embed="rId1"/>
          <a:stretch>
            <a:fillRect/>
          </a:stretch>
        </p:blipFill>
        <p:spPr>
          <a:xfrm>
            <a:off x="597286" y="2563246"/>
            <a:ext cx="250180" cy="250180"/>
          </a:xfrm>
          <a:prstGeom prst="rect">
            <a:avLst/>
          </a:prstGeom>
        </p:spPr>
      </p:pic>
      <p:sp>
        <p:nvSpPr>
          <p:cNvPr id="9" name="Text 5"/>
          <p:cNvSpPr txBox="1"/>
          <p:nvPr/>
        </p:nvSpPr>
        <p:spPr>
          <a:xfrm>
            <a:off x="1024128" y="2514600"/>
            <a:ext cx="2743200" cy="347472"/>
          </a:xfrm>
          <a:prstGeom prst="rect">
            <a:avLst/>
          </a:prstGeom>
          <a:noFill/>
          <a:ln/>
        </p:spPr>
        <p:txBody>
          <a:bodyPr wrap="square" lIns="0" tIns="0" rIns="0" bIns="0" rtlCol="0" anchor="ctr"/>
          <a:lstStyle/>
          <a:p>
            <a:pPr indent="0" marL="0">
              <a:buNone/>
            </a:pPr>
            <a:r>
              <a:rPr lang="en-US" sz="1300" b="1" u="sng" dirty="0">
                <a:solidFill>
                  <a:srgbClr val="1E1E1E"/>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Google AI Studio</a:t>
            </a:r>
            <a:endParaRPr lang="en-US" sz="1300" dirty="0"/>
          </a:p>
        </p:txBody>
      </p:sp>
      <p:sp>
        <p:nvSpPr>
          <p:cNvPr id="10" name="Shape 6"/>
          <p:cNvSpPr/>
          <p:nvPr/>
        </p:nvSpPr>
        <p:spPr>
          <a:xfrm>
            <a:off x="548640" y="3017520"/>
            <a:ext cx="347472" cy="347472"/>
          </a:xfrm>
          <a:prstGeom prst="roundRect">
            <a:avLst>
              <a:gd name="adj" fmla="val 22000"/>
            </a:avLst>
          </a:prstGeom>
          <a:solidFill>
            <a:srgbClr val="FFFFFF"/>
          </a:solidFill>
          <a:ln w="9525">
            <a:solidFill>
              <a:srgbClr val="DADCE0"/>
            </a:solidFill>
            <a:prstDash val="solid"/>
          </a:ln>
        </p:spPr>
      </p:sp>
      <p:pic>
        <p:nvPicPr>
          <p:cNvPr id="11" name="Image 1" descr="preencoded.png">    </p:cNvPr>
          <p:cNvPicPr>
            <a:picLocks noChangeAspect="1"/>
          </p:cNvPicPr>
          <p:nvPr/>
        </p:nvPicPr>
        <p:blipFill>
          <a:blip r:embed="rId4"/>
          <a:stretch>
            <a:fillRect/>
          </a:stretch>
        </p:blipFill>
        <p:spPr>
          <a:xfrm>
            <a:off x="597286" y="3066166"/>
            <a:ext cx="250180" cy="250180"/>
          </a:xfrm>
          <a:prstGeom prst="rect">
            <a:avLst/>
          </a:prstGeom>
        </p:spPr>
      </p:pic>
      <p:sp>
        <p:nvSpPr>
          <p:cNvPr id="12" name="Text 7"/>
          <p:cNvSpPr txBox="1"/>
          <p:nvPr/>
        </p:nvSpPr>
        <p:spPr>
          <a:xfrm>
            <a:off x="1024128" y="3017520"/>
            <a:ext cx="2743200" cy="347472"/>
          </a:xfrm>
          <a:prstGeom prst="rect">
            <a:avLst/>
          </a:prstGeom>
          <a:noFill/>
          <a:ln/>
        </p:spPr>
        <p:txBody>
          <a:bodyPr wrap="square" lIns="0" tIns="0" rIns="0" bIns="0" rtlCol="0" anchor="ctr"/>
          <a:lstStyle/>
          <a:p>
            <a:pPr indent="0" marL="0">
              <a:buNone/>
            </a:pPr>
            <a:r>
              <a:rPr lang="en-US" sz="1300" b="1" dirty="0">
                <a:solidFill>
                  <a:srgbClr val="1E1E1E"/>
                </a:solidFill>
                <a:latin typeface="Arial" pitchFamily="34" charset="0"/>
                <a:ea typeface="Arial" pitchFamily="34" charset="-122"/>
                <a:cs typeface="Arial" pitchFamily="34" charset="-120"/>
              </a:rPr>
              <a:t>Nothing to install</a:t>
            </a:r>
            <a:endParaRPr lang="en-US" sz="1300" dirty="0"/>
          </a:p>
        </p:txBody>
      </p:sp>
      <p:sp>
        <p:nvSpPr>
          <p:cNvPr id="13" name="Shape 8"/>
          <p:cNvSpPr/>
          <p:nvPr/>
        </p:nvSpPr>
        <p:spPr>
          <a:xfrm>
            <a:off x="548640" y="3520440"/>
            <a:ext cx="347472" cy="347472"/>
          </a:xfrm>
          <a:prstGeom prst="roundRect">
            <a:avLst>
              <a:gd name="adj" fmla="val 22000"/>
            </a:avLst>
          </a:prstGeom>
          <a:solidFill>
            <a:srgbClr val="FFFFFF"/>
          </a:solidFill>
          <a:ln w="9525">
            <a:solidFill>
              <a:srgbClr val="DADCE0"/>
            </a:solidFill>
            <a:prstDash val="solid"/>
          </a:ln>
        </p:spPr>
      </p:sp>
      <p:pic>
        <p:nvPicPr>
          <p:cNvPr id="14" name="Image 2" descr="preencoded.png">    </p:cNvPr>
          <p:cNvPicPr>
            <a:picLocks noChangeAspect="1"/>
          </p:cNvPicPr>
          <p:nvPr/>
        </p:nvPicPr>
        <p:blipFill>
          <a:blip r:embed="rId5"/>
          <a:stretch>
            <a:fillRect/>
          </a:stretch>
        </p:blipFill>
        <p:spPr>
          <a:xfrm>
            <a:off x="597286" y="3569086"/>
            <a:ext cx="250180" cy="250180"/>
          </a:xfrm>
          <a:prstGeom prst="rect">
            <a:avLst/>
          </a:prstGeom>
        </p:spPr>
      </p:pic>
      <p:sp>
        <p:nvSpPr>
          <p:cNvPr id="15" name="Text 9"/>
          <p:cNvSpPr txBox="1"/>
          <p:nvPr/>
        </p:nvSpPr>
        <p:spPr>
          <a:xfrm>
            <a:off x="1024128" y="3520440"/>
            <a:ext cx="2743200" cy="347472"/>
          </a:xfrm>
          <a:prstGeom prst="rect">
            <a:avLst/>
          </a:prstGeom>
          <a:noFill/>
          <a:ln/>
        </p:spPr>
        <p:txBody>
          <a:bodyPr wrap="square" lIns="0" tIns="0" rIns="0" bIns="0" rtlCol="0" anchor="ctr"/>
          <a:lstStyle/>
          <a:p>
            <a:pPr indent="0" marL="0">
              <a:buNone/>
            </a:pPr>
            <a:r>
              <a:rPr lang="en-US" sz="1300" b="1" dirty="0">
                <a:solidFill>
                  <a:srgbClr val="1E1E1E"/>
                </a:solidFill>
                <a:latin typeface="Arial" pitchFamily="34" charset="0"/>
                <a:ea typeface="Arial" pitchFamily="34" charset="-122"/>
                <a:cs typeface="Arial" pitchFamily="34" charset="-120"/>
              </a:rPr>
              <a:t>No credit card needed</a:t>
            </a:r>
            <a:endParaRPr lang="en-US" sz="1300" dirty="0"/>
          </a:p>
        </p:txBody>
      </p:sp>
      <p:sp>
        <p:nvSpPr>
          <p:cNvPr id="16" name="Shape 10"/>
          <p:cNvSpPr/>
          <p:nvPr/>
        </p:nvSpPr>
        <p:spPr>
          <a:xfrm>
            <a:off x="4297680" y="868680"/>
            <a:ext cx="4297680" cy="3611880"/>
          </a:xfrm>
          <a:prstGeom prst="roundRect">
            <a:avLst>
              <a:gd name="adj" fmla="val 4051"/>
            </a:avLst>
          </a:prstGeom>
          <a:solidFill>
            <a:srgbClr val="282A2E"/>
          </a:solidFill>
          <a:ln w="12700">
            <a:solidFill>
              <a:srgbClr val="1E1E1E"/>
            </a:solidFill>
            <a:prstDash val="solid"/>
          </a:ln>
          <a:effectLst>
            <a:outerShdw sx="100000" sy="100000" kx="0" ky="0" algn="bl" rotWithShape="0" blurRad="101600" dist="25400" dir="5400000">
              <a:srgbClr val="000000">
                <a:alpha val="12000"/>
              </a:srgbClr>
            </a:outerShdw>
          </a:effectLst>
        </p:spPr>
      </p:sp>
      <p:sp>
        <p:nvSpPr>
          <p:cNvPr id="17" name="Shape 11"/>
          <p:cNvSpPr/>
          <p:nvPr/>
        </p:nvSpPr>
        <p:spPr>
          <a:xfrm>
            <a:off x="4526280" y="1069848"/>
            <a:ext cx="128016" cy="128016"/>
          </a:xfrm>
          <a:prstGeom prst="ellipse">
            <a:avLst/>
          </a:prstGeom>
          <a:solidFill>
            <a:srgbClr val="EA4335"/>
          </a:solidFill>
          <a:ln w="12700">
            <a:solidFill>
              <a:srgbClr val="EA4335"/>
            </a:solidFill>
            <a:prstDash val="solid"/>
          </a:ln>
        </p:spPr>
      </p:sp>
      <p:sp>
        <p:nvSpPr>
          <p:cNvPr id="18" name="Shape 12"/>
          <p:cNvSpPr/>
          <p:nvPr/>
        </p:nvSpPr>
        <p:spPr>
          <a:xfrm>
            <a:off x="4745736" y="1069848"/>
            <a:ext cx="128016" cy="128016"/>
          </a:xfrm>
          <a:prstGeom prst="ellipse">
            <a:avLst/>
          </a:prstGeom>
          <a:solidFill>
            <a:srgbClr val="F9AB00"/>
          </a:solidFill>
          <a:ln w="12700">
            <a:solidFill>
              <a:srgbClr val="F9AB00"/>
            </a:solidFill>
            <a:prstDash val="solid"/>
          </a:ln>
        </p:spPr>
      </p:sp>
      <p:sp>
        <p:nvSpPr>
          <p:cNvPr id="19" name="Shape 13"/>
          <p:cNvSpPr/>
          <p:nvPr/>
        </p:nvSpPr>
        <p:spPr>
          <a:xfrm>
            <a:off x="4965192" y="1069848"/>
            <a:ext cx="128016" cy="128016"/>
          </a:xfrm>
          <a:prstGeom prst="ellipse">
            <a:avLst/>
          </a:prstGeom>
          <a:solidFill>
            <a:srgbClr val="34A853"/>
          </a:solidFill>
          <a:ln w="12700">
            <a:solidFill>
              <a:srgbClr val="34A853"/>
            </a:solidFill>
            <a:prstDash val="solid"/>
          </a:ln>
        </p:spPr>
      </p:sp>
      <p:sp>
        <p:nvSpPr>
          <p:cNvPr id="20" name="Text 14"/>
          <p:cNvSpPr txBox="1"/>
          <p:nvPr/>
        </p:nvSpPr>
        <p:spPr>
          <a:xfrm>
            <a:off x="5303520" y="1005840"/>
            <a:ext cx="2286000" cy="256032"/>
          </a:xfrm>
          <a:prstGeom prst="rect">
            <a:avLst/>
          </a:prstGeom>
          <a:noFill/>
          <a:ln/>
        </p:spPr>
        <p:txBody>
          <a:bodyPr wrap="square" lIns="0" tIns="0" rIns="0" bIns="0" rtlCol="0" anchor="ctr"/>
          <a:lstStyle/>
          <a:p>
            <a:pPr indent="0" marL="0">
              <a:buNone/>
            </a:pPr>
            <a:r>
              <a:rPr lang="en-US" sz="1000" dirty="0">
                <a:solidFill>
                  <a:srgbClr val="9AA0A6"/>
                </a:solidFill>
                <a:latin typeface="Courier New" pitchFamily="34" charset="0"/>
                <a:ea typeface="Courier New" pitchFamily="34" charset="-122"/>
                <a:cs typeface="Courier New" pitchFamily="34" charset="-120"/>
              </a:rPr>
              <a:t>app.py</a:t>
            </a:r>
            <a:endParaRPr lang="en-US" sz="1000" dirty="0"/>
          </a:p>
        </p:txBody>
      </p:sp>
      <p:sp>
        <p:nvSpPr>
          <p:cNvPr id="21" name="Text 15"/>
          <p:cNvSpPr txBox="1"/>
          <p:nvPr/>
        </p:nvSpPr>
        <p:spPr>
          <a:xfrm>
            <a:off x="7498080" y="987552"/>
            <a:ext cx="914400" cy="274320"/>
          </a:xfrm>
          <a:prstGeom prst="rect">
            <a:avLst/>
          </a:prstGeom>
          <a:noFill/>
          <a:ln/>
        </p:spPr>
        <p:txBody>
          <a:bodyPr wrap="square" lIns="0" tIns="0" rIns="0" bIns="0" rtlCol="0" anchor="ctr"/>
          <a:lstStyle/>
          <a:p>
            <a:pPr algn="r" indent="0" marL="0">
              <a:buNone/>
            </a:pPr>
            <a:r>
              <a:rPr lang="en-US" sz="1200" b="1" dirty="0">
                <a:solidFill>
                  <a:srgbClr val="F9AB00"/>
                </a:solidFill>
                <a:latin typeface="Courier New" pitchFamily="34" charset="0"/>
                <a:ea typeface="Courier New" pitchFamily="34" charset="-122"/>
                <a:cs typeface="Courier New" pitchFamily="34" charset="-120"/>
              </a:rPr>
              <a:t>10:00</a:t>
            </a:r>
            <a:endParaRPr lang="en-US" sz="1200" dirty="0"/>
          </a:p>
        </p:txBody>
      </p:sp>
      <p:sp>
        <p:nvSpPr>
          <p:cNvPr id="22" name="Text 16"/>
          <p:cNvSpPr txBox="1"/>
          <p:nvPr/>
        </p:nvSpPr>
        <p:spPr>
          <a:xfrm>
            <a:off x="4572000" y="1463040"/>
            <a:ext cx="3840480" cy="2834640"/>
          </a:xfrm>
          <a:prstGeom prst="rect">
            <a:avLst/>
          </a:prstGeom>
          <a:noFill/>
          <a:ln/>
        </p:spPr>
        <p:txBody>
          <a:bodyPr wrap="square" lIns="0" tIns="0" rIns="0" bIns="0" rtlCol="0" anchor="t"/>
          <a:lstStyle/>
          <a:p>
            <a:pPr indent="0" marL="0">
              <a:lnSpc>
                <a:spcPct val="130000"/>
              </a:lnSpc>
              <a:buNone/>
            </a:pPr>
            <a:r>
              <a:rPr lang="en-US" sz="1250" dirty="0">
                <a:solidFill>
                  <a:srgbClr val="7F848E"/>
                </a:solidFill>
                <a:latin typeface="Courier New" pitchFamily="34" charset="0"/>
                <a:ea typeface="Courier New" pitchFamily="34" charset="-122"/>
                <a:cs typeface="Courier New" pitchFamily="34" charset="-120"/>
              </a:rPr>
              <a:t># pip install google-genai</a:t>
            </a:r>
            <a:endParaRPr lang="en-US" sz="1250" dirty="0"/>
          </a:p>
          <a:p>
            <a:pPr indent="0" marL="0">
              <a:lnSpc>
                <a:spcPct val="130000"/>
              </a:lnSpc>
              <a:buNone/>
            </a:pPr>
            <a:r>
              <a:rPr lang="en-US" sz="1250" dirty="0">
                <a:solidFill>
                  <a:srgbClr val="C792EA"/>
                </a:solidFill>
                <a:latin typeface="Courier New" pitchFamily="34" charset="0"/>
                <a:ea typeface="Courier New" pitchFamily="34" charset="-122"/>
                <a:cs typeface="Courier New" pitchFamily="34" charset="-120"/>
              </a:rPr>
              <a:t>from </a:t>
            </a:r>
            <a:pPr indent="0" marL="0">
              <a:lnSpc>
                <a:spcPct val="130000"/>
              </a:lnSpc>
              <a:buNone/>
            </a:pPr>
            <a:r>
              <a:rPr lang="en-US" sz="1250" dirty="0">
                <a:solidFill>
                  <a:srgbClr val="E8EAED"/>
                </a:solidFill>
                <a:latin typeface="Courier New" pitchFamily="34" charset="0"/>
                <a:ea typeface="Courier New" pitchFamily="34" charset="-122"/>
                <a:cs typeface="Courier New" pitchFamily="34" charset="-120"/>
              </a:rPr>
              <a:t>google </a:t>
            </a:r>
            <a:pPr indent="0" marL="0">
              <a:lnSpc>
                <a:spcPct val="130000"/>
              </a:lnSpc>
              <a:buNone/>
            </a:pPr>
            <a:r>
              <a:rPr lang="en-US" sz="1250" dirty="0">
                <a:solidFill>
                  <a:srgbClr val="C792EA"/>
                </a:solidFill>
                <a:latin typeface="Courier New" pitchFamily="34" charset="0"/>
                <a:ea typeface="Courier New" pitchFamily="34" charset="-122"/>
                <a:cs typeface="Courier New" pitchFamily="34" charset="-120"/>
              </a:rPr>
              <a:t>import </a:t>
            </a:r>
            <a:pPr indent="0" marL="0">
              <a:lnSpc>
                <a:spcPct val="130000"/>
              </a:lnSpc>
              <a:buNone/>
            </a:pPr>
            <a:r>
              <a:rPr lang="en-US" sz="1250" dirty="0">
                <a:solidFill>
                  <a:srgbClr val="E8EAED"/>
                </a:solidFill>
                <a:latin typeface="Courier New" pitchFamily="34" charset="0"/>
                <a:ea typeface="Courier New" pitchFamily="34" charset="-122"/>
                <a:cs typeface="Courier New" pitchFamily="34" charset="-120"/>
              </a:rPr>
              <a:t>genai</a:t>
            </a:r>
            <a:endParaRPr lang="en-US" sz="1250" dirty="0"/>
          </a:p>
          <a:p>
            <a:pPr indent="0" marL="0">
              <a:lnSpc>
                <a:spcPct val="130000"/>
              </a:lnSpc>
              <a:buNone/>
            </a:pPr>
            <a:r>
              <a:rPr lang="en-US" sz="1250" dirty="0">
                <a:solidFill>
                  <a:srgbClr val="E8EAED"/>
                </a:solidFill>
                <a:latin typeface="Courier New" pitchFamily="34" charset="0"/>
                <a:ea typeface="Courier New" pitchFamily="34" charset="-122"/>
                <a:cs typeface="Courier New" pitchFamily="34" charset="-120"/>
              </a:rPr>
              <a:t> </a:t>
            </a:r>
            <a:endParaRPr lang="en-US" sz="1250" dirty="0"/>
          </a:p>
          <a:p>
            <a:pPr indent="0" marL="0">
              <a:lnSpc>
                <a:spcPct val="130000"/>
              </a:lnSpc>
              <a:buNone/>
            </a:pPr>
            <a:r>
              <a:rPr lang="en-US" sz="1250" dirty="0">
                <a:solidFill>
                  <a:srgbClr val="E8EAED"/>
                </a:solidFill>
                <a:latin typeface="Courier New" pitchFamily="34" charset="0"/>
                <a:ea typeface="Courier New" pitchFamily="34" charset="-122"/>
                <a:cs typeface="Courier New" pitchFamily="34" charset="-120"/>
              </a:rPr>
              <a:t>client </a:t>
            </a:r>
            <a:pPr indent="0" marL="0">
              <a:lnSpc>
                <a:spcPct val="130000"/>
              </a:lnSpc>
              <a:buNone/>
            </a:pPr>
            <a:r>
              <a:rPr lang="en-US" sz="1250" dirty="0">
                <a:solidFill>
                  <a:srgbClr val="C792EA"/>
                </a:solidFill>
                <a:latin typeface="Courier New" pitchFamily="34" charset="0"/>
                <a:ea typeface="Courier New" pitchFamily="34" charset="-122"/>
                <a:cs typeface="Courier New" pitchFamily="34" charset="-120"/>
              </a:rPr>
              <a:t>= </a:t>
            </a:r>
            <a:pPr indent="0" marL="0">
              <a:lnSpc>
                <a:spcPct val="130000"/>
              </a:lnSpc>
              <a:buNone/>
            </a:pPr>
            <a:r>
              <a:rPr lang="en-US" sz="1250" dirty="0">
                <a:solidFill>
                  <a:srgbClr val="E8EAED"/>
                </a:solidFill>
                <a:latin typeface="Courier New" pitchFamily="34" charset="0"/>
                <a:ea typeface="Courier New" pitchFamily="34" charset="-122"/>
                <a:cs typeface="Courier New" pitchFamily="34" charset="-120"/>
              </a:rPr>
              <a:t>genai.</a:t>
            </a:r>
            <a:pPr indent="0" marL="0">
              <a:lnSpc>
                <a:spcPct val="130000"/>
              </a:lnSpc>
              <a:buNone/>
            </a:pPr>
            <a:r>
              <a:rPr lang="en-US" sz="1250" dirty="0">
                <a:solidFill>
                  <a:srgbClr val="82AAFF"/>
                </a:solidFill>
                <a:latin typeface="Courier New" pitchFamily="34" charset="0"/>
                <a:ea typeface="Courier New" pitchFamily="34" charset="-122"/>
                <a:cs typeface="Courier New" pitchFamily="34" charset="-120"/>
              </a:rPr>
              <a:t>Client</a:t>
            </a:r>
            <a:pPr indent="0" marL="0">
              <a:lnSpc>
                <a:spcPct val="130000"/>
              </a:lnSpc>
              <a:buNone/>
            </a:pPr>
            <a:r>
              <a:rPr lang="en-US" sz="1250" dirty="0">
                <a:solidFill>
                  <a:srgbClr val="E8EAED"/>
                </a:solidFill>
                <a:latin typeface="Courier New" pitchFamily="34" charset="0"/>
                <a:ea typeface="Courier New" pitchFamily="34" charset="-122"/>
                <a:cs typeface="Courier New" pitchFamily="34" charset="-120"/>
              </a:rPr>
              <a:t>()</a:t>
            </a:r>
            <a:endParaRPr lang="en-US" sz="1250" dirty="0"/>
          </a:p>
          <a:p>
            <a:pPr indent="0" marL="0">
              <a:lnSpc>
                <a:spcPct val="130000"/>
              </a:lnSpc>
              <a:buNone/>
            </a:pPr>
            <a:r>
              <a:rPr lang="en-US" sz="1250" dirty="0">
                <a:solidFill>
                  <a:srgbClr val="E8EAED"/>
                </a:solidFill>
                <a:latin typeface="Courier New" pitchFamily="34" charset="0"/>
                <a:ea typeface="Courier New" pitchFamily="34" charset="-122"/>
                <a:cs typeface="Courier New" pitchFamily="34" charset="-120"/>
              </a:rPr>
              <a:t>reply </a:t>
            </a:r>
            <a:pPr indent="0" marL="0">
              <a:lnSpc>
                <a:spcPct val="130000"/>
              </a:lnSpc>
              <a:buNone/>
            </a:pPr>
            <a:r>
              <a:rPr lang="en-US" sz="1250" dirty="0">
                <a:solidFill>
                  <a:srgbClr val="C792EA"/>
                </a:solidFill>
                <a:latin typeface="Courier New" pitchFamily="34" charset="0"/>
                <a:ea typeface="Courier New" pitchFamily="34" charset="-122"/>
                <a:cs typeface="Courier New" pitchFamily="34" charset="-120"/>
              </a:rPr>
              <a:t>= </a:t>
            </a:r>
            <a:pPr indent="0" marL="0">
              <a:lnSpc>
                <a:spcPct val="130000"/>
              </a:lnSpc>
              <a:buNone/>
            </a:pPr>
            <a:r>
              <a:rPr lang="en-US" sz="1250" dirty="0">
                <a:solidFill>
                  <a:srgbClr val="E8EAED"/>
                </a:solidFill>
                <a:latin typeface="Courier New" pitchFamily="34" charset="0"/>
                <a:ea typeface="Courier New" pitchFamily="34" charset="-122"/>
                <a:cs typeface="Courier New" pitchFamily="34" charset="-120"/>
              </a:rPr>
              <a:t>client.models.</a:t>
            </a:r>
            <a:pPr indent="0" marL="0">
              <a:lnSpc>
                <a:spcPct val="130000"/>
              </a:lnSpc>
              <a:buNone/>
            </a:pPr>
            <a:r>
              <a:rPr lang="en-US" sz="1250" dirty="0">
                <a:solidFill>
                  <a:srgbClr val="82AAFF"/>
                </a:solidFill>
                <a:latin typeface="Courier New" pitchFamily="34" charset="0"/>
                <a:ea typeface="Courier New" pitchFamily="34" charset="-122"/>
                <a:cs typeface="Courier New" pitchFamily="34" charset="-120"/>
              </a:rPr>
              <a:t>generate_content</a:t>
            </a:r>
            <a:pPr indent="0" marL="0">
              <a:lnSpc>
                <a:spcPct val="130000"/>
              </a:lnSpc>
              <a:buNone/>
            </a:pPr>
            <a:r>
              <a:rPr lang="en-US" sz="1250" dirty="0">
                <a:solidFill>
                  <a:srgbClr val="E8EAED"/>
                </a:solidFill>
                <a:latin typeface="Courier New" pitchFamily="34" charset="0"/>
                <a:ea typeface="Courier New" pitchFamily="34" charset="-122"/>
                <a:cs typeface="Courier New" pitchFamily="34" charset="-120"/>
              </a:rPr>
              <a:t>(</a:t>
            </a:r>
            <a:endParaRPr lang="en-US" sz="1250" dirty="0"/>
          </a:p>
          <a:p>
            <a:pPr indent="0" marL="0">
              <a:lnSpc>
                <a:spcPct val="130000"/>
              </a:lnSpc>
              <a:buNone/>
            </a:pPr>
            <a:r>
              <a:rPr lang="en-US" sz="1250" dirty="0">
                <a:solidFill>
                  <a:srgbClr val="E8EAED"/>
                </a:solidFill>
                <a:latin typeface="Courier New" pitchFamily="34" charset="0"/>
                <a:ea typeface="Courier New" pitchFamily="34" charset="-122"/>
                <a:cs typeface="Courier New" pitchFamily="34" charset="-120"/>
              </a:rPr>
              <a:t>    model</a:t>
            </a:r>
            <a:pPr indent="0" marL="0">
              <a:lnSpc>
                <a:spcPct val="130000"/>
              </a:lnSpc>
              <a:buNone/>
            </a:pPr>
            <a:r>
              <a:rPr lang="en-US" sz="1250" dirty="0">
                <a:solidFill>
                  <a:srgbClr val="C792EA"/>
                </a:solidFill>
                <a:latin typeface="Courier New" pitchFamily="34" charset="0"/>
                <a:ea typeface="Courier New" pitchFamily="34" charset="-122"/>
                <a:cs typeface="Courier New" pitchFamily="34" charset="-120"/>
              </a:rPr>
              <a:t>=</a:t>
            </a:r>
            <a:pPr indent="0" marL="0">
              <a:lnSpc>
                <a:spcPct val="130000"/>
              </a:lnSpc>
              <a:buNone/>
            </a:pPr>
            <a:r>
              <a:rPr lang="en-US" sz="1250" dirty="0">
                <a:solidFill>
                  <a:srgbClr val="C3E88D"/>
                </a:solidFill>
                <a:latin typeface="Courier New" pitchFamily="34" charset="0"/>
                <a:ea typeface="Courier New" pitchFamily="34" charset="-122"/>
                <a:cs typeface="Courier New" pitchFamily="34" charset="-120"/>
              </a:rPr>
              <a:t>"gemini-2.5-flash"</a:t>
            </a:r>
            <a:pPr indent="0" marL="0">
              <a:lnSpc>
                <a:spcPct val="130000"/>
              </a:lnSpc>
              <a:buNone/>
            </a:pPr>
            <a:r>
              <a:rPr lang="en-US" sz="1250" dirty="0">
                <a:solidFill>
                  <a:srgbClr val="E8EAED"/>
                </a:solidFill>
                <a:latin typeface="Courier New" pitchFamily="34" charset="0"/>
                <a:ea typeface="Courier New" pitchFamily="34" charset="-122"/>
                <a:cs typeface="Courier New" pitchFamily="34" charset="-120"/>
              </a:rPr>
              <a:t>,</a:t>
            </a:r>
            <a:endParaRPr lang="en-US" sz="1250" dirty="0"/>
          </a:p>
          <a:p>
            <a:pPr indent="0" marL="0">
              <a:lnSpc>
                <a:spcPct val="130000"/>
              </a:lnSpc>
              <a:buNone/>
            </a:pPr>
            <a:r>
              <a:rPr lang="en-US" sz="1250" dirty="0">
                <a:solidFill>
                  <a:srgbClr val="E8EAED"/>
                </a:solidFill>
                <a:latin typeface="Courier New" pitchFamily="34" charset="0"/>
                <a:ea typeface="Courier New" pitchFamily="34" charset="-122"/>
                <a:cs typeface="Courier New" pitchFamily="34" charset="-120"/>
              </a:rPr>
              <a:t>    contents</a:t>
            </a:r>
            <a:pPr indent="0" marL="0">
              <a:lnSpc>
                <a:spcPct val="130000"/>
              </a:lnSpc>
              <a:buNone/>
            </a:pPr>
            <a:r>
              <a:rPr lang="en-US" sz="1250" dirty="0">
                <a:solidFill>
                  <a:srgbClr val="C792EA"/>
                </a:solidFill>
                <a:latin typeface="Courier New" pitchFamily="34" charset="0"/>
                <a:ea typeface="Courier New" pitchFamily="34" charset="-122"/>
                <a:cs typeface="Courier New" pitchFamily="34" charset="-120"/>
              </a:rPr>
              <a:t>=</a:t>
            </a:r>
            <a:pPr indent="0" marL="0">
              <a:lnSpc>
                <a:spcPct val="130000"/>
              </a:lnSpc>
              <a:buNone/>
            </a:pPr>
            <a:r>
              <a:rPr lang="en-US" sz="1250" dirty="0">
                <a:solidFill>
                  <a:srgbClr val="C3E88D"/>
                </a:solidFill>
                <a:latin typeface="Courier New" pitchFamily="34" charset="0"/>
                <a:ea typeface="Courier New" pitchFamily="34" charset="-122"/>
                <a:cs typeface="Courier New" pitchFamily="34" charset="-120"/>
              </a:rPr>
              <a:t>"Pitch GDG in one line"</a:t>
            </a:r>
            <a:pPr indent="0" marL="0">
              <a:lnSpc>
                <a:spcPct val="130000"/>
              </a:lnSpc>
              <a:buNone/>
            </a:pPr>
            <a:r>
              <a:rPr lang="en-US" sz="1250" dirty="0">
                <a:solidFill>
                  <a:srgbClr val="E8EAED"/>
                </a:solidFill>
                <a:latin typeface="Courier New" pitchFamily="34" charset="0"/>
                <a:ea typeface="Courier New" pitchFamily="34" charset="-122"/>
                <a:cs typeface="Courier New" pitchFamily="34" charset="-120"/>
              </a:rPr>
              <a:t>,</a:t>
            </a:r>
            <a:endParaRPr lang="en-US" sz="1250" dirty="0"/>
          </a:p>
          <a:p>
            <a:pPr indent="0" marL="0">
              <a:lnSpc>
                <a:spcPct val="130000"/>
              </a:lnSpc>
              <a:buNone/>
            </a:pPr>
            <a:r>
              <a:rPr lang="en-US" sz="1250" dirty="0">
                <a:solidFill>
                  <a:srgbClr val="E8EAED"/>
                </a:solidFill>
                <a:latin typeface="Courier New" pitchFamily="34" charset="0"/>
                <a:ea typeface="Courier New" pitchFamily="34" charset="-122"/>
                <a:cs typeface="Courier New" pitchFamily="34" charset="-120"/>
              </a:rPr>
              <a:t>)</a:t>
            </a:r>
            <a:endParaRPr lang="en-US" sz="1250" dirty="0"/>
          </a:p>
          <a:p>
            <a:pPr indent="0" marL="0">
              <a:lnSpc>
                <a:spcPct val="130000"/>
              </a:lnSpc>
              <a:buNone/>
            </a:pPr>
            <a:r>
              <a:rPr lang="en-US" sz="1250" dirty="0">
                <a:solidFill>
                  <a:srgbClr val="82AAFF"/>
                </a:solidFill>
                <a:latin typeface="Courier New" pitchFamily="34" charset="0"/>
                <a:ea typeface="Courier New" pitchFamily="34" charset="-122"/>
                <a:cs typeface="Courier New" pitchFamily="34" charset="-120"/>
              </a:rPr>
              <a:t>print</a:t>
            </a:r>
            <a:pPr indent="0" marL="0">
              <a:lnSpc>
                <a:spcPct val="130000"/>
              </a:lnSpc>
              <a:buNone/>
            </a:pPr>
            <a:r>
              <a:rPr lang="en-US" sz="1250" dirty="0">
                <a:solidFill>
                  <a:srgbClr val="E8EAED"/>
                </a:solidFill>
                <a:latin typeface="Courier New" pitchFamily="34" charset="0"/>
                <a:ea typeface="Courier New" pitchFamily="34" charset="-122"/>
                <a:cs typeface="Courier New" pitchFamily="34" charset="-120"/>
              </a:rPr>
              <a:t>(reply.text)</a:t>
            </a:r>
            <a:endParaRPr lang="en-US" sz="1250" dirty="0"/>
          </a:p>
        </p:txBody>
      </p:sp>
      <p:pic>
        <p:nvPicPr>
          <p:cNvPr id="23" name="Image 3" descr="/Users/datta/Developer/gdg-seneca/deck-builder/brand/mark.png">    </p:cNvPr>
          <p:cNvPicPr>
            <a:picLocks noChangeAspect="1"/>
          </p:cNvPicPr>
          <p:nvPr/>
        </p:nvPicPr>
        <p:blipFill>
          <a:blip r:embed="rId6"/>
          <a:stretch>
            <a:fillRect/>
          </a:stretch>
        </p:blipFill>
        <p:spPr>
          <a:xfrm>
            <a:off x="548640" y="4727448"/>
            <a:ext cx="201168" cy="201168"/>
          </a:xfrm>
          <a:prstGeom prst="rect">
            <a:avLst/>
          </a:prstGeom>
        </p:spPr>
      </p:pic>
      <p:sp>
        <p:nvSpPr>
          <p:cNvPr id="24" name="Text 17"/>
          <p:cNvSpPr txBox="1"/>
          <p:nvPr/>
        </p:nvSpPr>
        <p:spPr>
          <a:xfrm>
            <a:off x="822960" y="4727448"/>
            <a:ext cx="3657600" cy="201168"/>
          </a:xfrm>
          <a:prstGeom prst="rect">
            <a:avLst/>
          </a:prstGeom>
          <a:noFill/>
          <a:ln/>
        </p:spPr>
        <p:txBody>
          <a:bodyPr wrap="square" lIns="0" tIns="0" rIns="0" bIns="0" rtlCol="0" anchor="ctr"/>
          <a:lstStyle/>
          <a:p>
            <a:pPr indent="0" marL="0">
              <a:buNone/>
            </a:pPr>
            <a:r>
              <a:rPr lang="en-US" sz="900" dirty="0">
                <a:solidFill>
                  <a:srgbClr val="5F6368"/>
                </a:solidFill>
                <a:latin typeface="Arial" pitchFamily="34" charset="0"/>
                <a:ea typeface="Arial" pitchFamily="34" charset="-122"/>
                <a:cs typeface="Arial" pitchFamily="34" charset="-120"/>
              </a:rPr>
              <a:t>GDG on Campus  ·  Seneca Polytechnic</a:t>
            </a:r>
            <a:endParaRPr lang="en-US" sz="900" dirty="0"/>
          </a:p>
        </p:txBody>
      </p:sp>
      <p:sp>
        <p:nvSpPr>
          <p:cNvPr id="25" name="Text 18"/>
          <p:cNvSpPr txBox="1"/>
          <p:nvPr/>
        </p:nvSpPr>
        <p:spPr>
          <a:xfrm>
            <a:off x="8138160" y="4727448"/>
            <a:ext cx="457200" cy="201168"/>
          </a:xfrm>
          <a:prstGeom prst="rect">
            <a:avLst/>
          </a:prstGeom>
          <a:noFill/>
          <a:ln/>
        </p:spPr>
        <p:txBody>
          <a:bodyPr wrap="square" lIns="0" tIns="0" rIns="0" bIns="0" rtlCol="0" anchor="ctr"/>
          <a:lstStyle/>
          <a:p>
            <a:pPr algn="r" indent="0" marL="0">
              <a:buNone/>
            </a:pPr>
            <a:r>
              <a:rPr lang="en-US" sz="900" b="1" dirty="0">
                <a:solidFill>
                  <a:srgbClr val="5F6368"/>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411480"/>
            <a:ext cx="1097280" cy="292608"/>
          </a:xfrm>
          <a:prstGeom prst="roundRect">
            <a:avLst>
              <a:gd name="adj" fmla="val 50000"/>
            </a:avLst>
          </a:prstGeom>
          <a:solidFill>
            <a:srgbClr val="E8F0FE"/>
          </a:solidFill>
          <a:ln w="15875">
            <a:solidFill>
              <a:srgbClr val="4285F4"/>
            </a:solidFill>
            <a:prstDash val="solid"/>
          </a:ln>
        </p:spPr>
      </p:sp>
      <p:sp>
        <p:nvSpPr>
          <p:cNvPr id="4" name="Text 1"/>
          <p:cNvSpPr txBox="1"/>
          <p:nvPr/>
        </p:nvSpPr>
        <p:spPr>
          <a:xfrm>
            <a:off x="548640" y="411480"/>
            <a:ext cx="1097280" cy="292608"/>
          </a:xfrm>
          <a:prstGeom prst="rect">
            <a:avLst/>
          </a:prstGeom>
          <a:noFill/>
          <a:ln/>
        </p:spPr>
        <p:txBody>
          <a:bodyPr wrap="square" lIns="0" tIns="0" rIns="0" bIns="0" rtlCol="0" anchor="ctr"/>
          <a:lstStyle/>
          <a:p>
            <a:pPr algn="ctr" indent="0" marL="0">
              <a:buNone/>
            </a:pPr>
            <a:r>
              <a:rPr lang="en-US" sz="900" b="1" spc="150" kern="0" dirty="0">
                <a:solidFill>
                  <a:srgbClr val="1E1E1E"/>
                </a:solidFill>
                <a:latin typeface="Arial" pitchFamily="34" charset="0"/>
                <a:ea typeface="Arial" pitchFamily="34" charset="-122"/>
                <a:cs typeface="Arial" pitchFamily="34" charset="-120"/>
              </a:rPr>
              <a:t>06  JOIN</a:t>
            </a:r>
            <a:endParaRPr lang="en-US" sz="900" dirty="0"/>
          </a:p>
        </p:txBody>
      </p:sp>
      <p:sp>
        <p:nvSpPr>
          <p:cNvPr id="5" name="Text 2"/>
          <p:cNvSpPr txBox="1"/>
          <p:nvPr/>
        </p:nvSpPr>
        <p:spPr>
          <a:xfrm>
            <a:off x="548640" y="868680"/>
            <a:ext cx="5120640" cy="731520"/>
          </a:xfrm>
          <a:prstGeom prst="rect">
            <a:avLst/>
          </a:prstGeom>
          <a:noFill/>
          <a:ln/>
        </p:spPr>
        <p:txBody>
          <a:bodyPr wrap="square" lIns="0" tIns="0" rIns="0" bIns="0" rtlCol="0" anchor="t"/>
          <a:lstStyle/>
          <a:p>
            <a:pPr indent="0" marL="0">
              <a:buNone/>
            </a:pPr>
            <a:r>
              <a:rPr lang="en-US" sz="3000" b="1" dirty="0">
                <a:solidFill>
                  <a:srgbClr val="1E1E1E"/>
                </a:solidFill>
                <a:latin typeface="Arial" pitchFamily="34" charset="0"/>
                <a:ea typeface="Arial" pitchFamily="34" charset="-122"/>
                <a:cs typeface="Arial" pitchFamily="34" charset="-120"/>
              </a:rPr>
              <a:t>Where to find us</a:t>
            </a:r>
            <a:endParaRPr lang="en-US" sz="3000" dirty="0"/>
          </a:p>
        </p:txBody>
      </p:sp>
      <p:sp>
        <p:nvSpPr>
          <p:cNvPr id="6" name="Shape 3"/>
          <p:cNvSpPr/>
          <p:nvPr/>
        </p:nvSpPr>
        <p:spPr>
          <a:xfrm>
            <a:off x="548640" y="1572768"/>
            <a:ext cx="5120640" cy="603504"/>
          </a:xfrm>
          <a:prstGeom prst="roundRect">
            <a:avLst>
              <a:gd name="adj" fmla="val 50000"/>
            </a:avLst>
          </a:prstGeom>
          <a:solidFill>
            <a:srgbClr val="E8F0FE"/>
          </a:solidFill>
          <a:ln w="12700">
            <a:solidFill>
              <a:srgbClr val="E8F0FE"/>
            </a:solidFill>
            <a:prstDash val="solid"/>
          </a:ln>
        </p:spPr>
      </p:sp>
      <p:sp>
        <p:nvSpPr>
          <p:cNvPr id="7" name="Shape 4"/>
          <p:cNvSpPr/>
          <p:nvPr/>
        </p:nvSpPr>
        <p:spPr>
          <a:xfrm>
            <a:off x="640080" y="1645920"/>
            <a:ext cx="457200" cy="457200"/>
          </a:xfrm>
          <a:prstGeom prst="roundRect">
            <a:avLst>
              <a:gd name="adj" fmla="val 22000"/>
            </a:avLst>
          </a:prstGeom>
          <a:solidFill>
            <a:srgbClr val="FFFFFF"/>
          </a:solidFill>
          <a:ln w="9525">
            <a:solidFill>
              <a:srgbClr val="DADCE0"/>
            </a:solidFill>
            <a:prstDash val="solid"/>
          </a:ln>
        </p:spPr>
      </p:sp>
      <p:pic>
        <p:nvPicPr>
          <p:cNvPr id="8" name="Image 0" descr="preencoded.png">
            <a:hlinkClick r:id="rId2" tooltip=""/>
          </p:cNvPr>
          <p:cNvPicPr>
            <a:picLocks noChangeAspect="1"/>
          </p:cNvPicPr>
          <p:nvPr/>
        </p:nvPicPr>
        <p:blipFill>
          <a:blip r:embed="rId1"/>
          <a:stretch>
            <a:fillRect/>
          </a:stretch>
        </p:blipFill>
        <p:spPr>
          <a:xfrm>
            <a:off x="704088" y="1709928"/>
            <a:ext cx="329184" cy="329184"/>
          </a:xfrm>
          <a:prstGeom prst="rect">
            <a:avLst/>
          </a:prstGeom>
        </p:spPr>
      </p:pic>
      <p:sp>
        <p:nvSpPr>
          <p:cNvPr id="9" name="Text 5"/>
          <p:cNvSpPr txBox="1"/>
          <p:nvPr/>
        </p:nvSpPr>
        <p:spPr>
          <a:xfrm>
            <a:off x="1234440" y="1636776"/>
            <a:ext cx="3291840" cy="256032"/>
          </a:xfrm>
          <a:prstGeom prst="rect">
            <a:avLst/>
          </a:prstGeom>
          <a:noFill/>
          <a:ln/>
        </p:spPr>
        <p:txBody>
          <a:bodyPr wrap="square" lIns="0" tIns="0" rIns="0" bIns="0" rtlCol="0" anchor="ctr"/>
          <a:lstStyle/>
          <a:p>
            <a:pPr indent="0" marL="0">
              <a:buNone/>
            </a:pPr>
            <a:r>
              <a:rPr lang="en-US" sz="1350" b="1" dirty="0">
                <a:solidFill>
                  <a:srgbClr val="1E1E1E"/>
                </a:solidFill>
                <a:latin typeface="Arial" pitchFamily="34" charset="0"/>
                <a:ea typeface="Arial" pitchFamily="34" charset="-122"/>
                <a:cs typeface="Arial" pitchFamily="34" charset="-120"/>
              </a:rPr>
              <a:t>Join our Discord</a:t>
            </a:r>
            <a:endParaRPr lang="en-US" sz="1350" dirty="0"/>
          </a:p>
        </p:txBody>
      </p:sp>
      <p:sp>
        <p:nvSpPr>
          <p:cNvPr id="10" name="Text 6"/>
          <p:cNvSpPr txBox="1"/>
          <p:nvPr/>
        </p:nvSpPr>
        <p:spPr>
          <a:xfrm>
            <a:off x="1234440" y="1892808"/>
            <a:ext cx="3291840" cy="228600"/>
          </a:xfrm>
          <a:prstGeom prst="rect">
            <a:avLst/>
          </a:prstGeom>
          <a:noFill/>
          <a:ln/>
        </p:spPr>
        <p:txBody>
          <a:bodyPr wrap="square" lIns="0" tIns="0" rIns="0" bIns="0" rtlCol="0" anchor="ctr"/>
          <a:lstStyle/>
          <a:p>
            <a:pPr indent="0" marL="0">
              <a:buNone/>
            </a:pPr>
            <a:r>
              <a:rPr lang="en-US" sz="1050" u="sng" dirty="0">
                <a:solidFill>
                  <a:srgbClr val="4285F4"/>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discord.gg/x5NYqqKyAf</a:t>
            </a:r>
            <a:endParaRPr lang="en-US" sz="1050" dirty="0"/>
          </a:p>
        </p:txBody>
      </p:sp>
      <p:sp>
        <p:nvSpPr>
          <p:cNvPr id="11" name="Text 7"/>
          <p:cNvSpPr txBox="1"/>
          <p:nvPr/>
        </p:nvSpPr>
        <p:spPr>
          <a:xfrm>
            <a:off x="4572000" y="1719072"/>
            <a:ext cx="914400" cy="310896"/>
          </a:xfrm>
          <a:prstGeom prst="rect">
            <a:avLst/>
          </a:prstGeom>
          <a:noFill/>
          <a:ln/>
        </p:spPr>
        <p:txBody>
          <a:bodyPr wrap="square" lIns="0" tIns="0" rIns="0" bIns="0" rtlCol="0" anchor="ctr"/>
          <a:lstStyle/>
          <a:p>
            <a:pPr algn="r" indent="0" marL="0">
              <a:buNone/>
            </a:pPr>
            <a:r>
              <a:rPr lang="en-US" sz="1100" b="1" u="sng" dirty="0">
                <a:solidFill>
                  <a:srgbClr val="4285F4"/>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Open  →</a:t>
            </a:r>
            <a:endParaRPr lang="en-US" sz="1100" dirty="0"/>
          </a:p>
        </p:txBody>
      </p:sp>
      <p:sp>
        <p:nvSpPr>
          <p:cNvPr id="12" name="Shape 8"/>
          <p:cNvSpPr/>
          <p:nvPr/>
        </p:nvSpPr>
        <p:spPr>
          <a:xfrm>
            <a:off x="548640" y="2286000"/>
            <a:ext cx="5120640" cy="603504"/>
          </a:xfrm>
          <a:prstGeom prst="roundRect">
            <a:avLst>
              <a:gd name="adj" fmla="val 50000"/>
            </a:avLst>
          </a:prstGeom>
          <a:solidFill>
            <a:srgbClr val="FCE8E6"/>
          </a:solidFill>
          <a:ln w="12700">
            <a:solidFill>
              <a:srgbClr val="FCE8E6"/>
            </a:solidFill>
            <a:prstDash val="solid"/>
          </a:ln>
        </p:spPr>
      </p:sp>
      <p:sp>
        <p:nvSpPr>
          <p:cNvPr id="13" name="Shape 9"/>
          <p:cNvSpPr/>
          <p:nvPr/>
        </p:nvSpPr>
        <p:spPr>
          <a:xfrm>
            <a:off x="640080" y="2359152"/>
            <a:ext cx="457200" cy="457200"/>
          </a:xfrm>
          <a:prstGeom prst="roundRect">
            <a:avLst>
              <a:gd name="adj" fmla="val 22000"/>
            </a:avLst>
          </a:prstGeom>
          <a:solidFill>
            <a:srgbClr val="FFFFFF"/>
          </a:solidFill>
          <a:ln w="9525">
            <a:solidFill>
              <a:srgbClr val="DADCE0"/>
            </a:solidFill>
            <a:prstDash val="solid"/>
          </a:ln>
        </p:spPr>
      </p:sp>
      <p:pic>
        <p:nvPicPr>
          <p:cNvPr id="14" name="Image 1" descr="preencoded.png">
            <a:hlinkClick r:id="rId6" tooltip=""/>
          </p:cNvPr>
          <p:cNvPicPr>
            <a:picLocks noChangeAspect="1"/>
          </p:cNvPicPr>
          <p:nvPr/>
        </p:nvPicPr>
        <p:blipFill>
          <a:blip r:embed="rId5"/>
          <a:stretch>
            <a:fillRect/>
          </a:stretch>
        </p:blipFill>
        <p:spPr>
          <a:xfrm>
            <a:off x="704088" y="2423160"/>
            <a:ext cx="329184" cy="329184"/>
          </a:xfrm>
          <a:prstGeom prst="rect">
            <a:avLst/>
          </a:prstGeom>
        </p:spPr>
      </p:pic>
      <p:sp>
        <p:nvSpPr>
          <p:cNvPr id="15" name="Text 10"/>
          <p:cNvSpPr txBox="1"/>
          <p:nvPr/>
        </p:nvSpPr>
        <p:spPr>
          <a:xfrm>
            <a:off x="1234440" y="2350008"/>
            <a:ext cx="3291840" cy="256032"/>
          </a:xfrm>
          <a:prstGeom prst="rect">
            <a:avLst/>
          </a:prstGeom>
          <a:noFill/>
          <a:ln/>
        </p:spPr>
        <p:txBody>
          <a:bodyPr wrap="square" lIns="0" tIns="0" rIns="0" bIns="0" rtlCol="0" anchor="ctr"/>
          <a:lstStyle/>
          <a:p>
            <a:pPr indent="0" marL="0">
              <a:buNone/>
            </a:pPr>
            <a:r>
              <a:rPr lang="en-US" sz="1350" b="1" dirty="0">
                <a:solidFill>
                  <a:srgbClr val="1E1E1E"/>
                </a:solidFill>
                <a:latin typeface="Arial" pitchFamily="34" charset="0"/>
                <a:ea typeface="Arial" pitchFamily="34" charset="-122"/>
                <a:cs typeface="Arial" pitchFamily="34" charset="-120"/>
              </a:rPr>
              <a:t>Follow us on Instagram</a:t>
            </a:r>
            <a:endParaRPr lang="en-US" sz="1350" dirty="0"/>
          </a:p>
        </p:txBody>
      </p:sp>
      <p:sp>
        <p:nvSpPr>
          <p:cNvPr id="16" name="Text 11"/>
          <p:cNvSpPr txBox="1"/>
          <p:nvPr/>
        </p:nvSpPr>
        <p:spPr>
          <a:xfrm>
            <a:off x="1234440" y="2606040"/>
            <a:ext cx="3291840" cy="228600"/>
          </a:xfrm>
          <a:prstGeom prst="rect">
            <a:avLst/>
          </a:prstGeom>
          <a:noFill/>
          <a:ln/>
        </p:spPr>
        <p:txBody>
          <a:bodyPr wrap="square" lIns="0" tIns="0" rIns="0" bIns="0" rtlCol="0" anchor="ctr"/>
          <a:lstStyle/>
          <a:p>
            <a:pPr indent="0" marL="0">
              <a:buNone/>
            </a:pPr>
            <a:r>
              <a:rPr lang="en-US" sz="1050" u="sng" dirty="0">
                <a:solidFill>
                  <a:srgbClr val="4285F4"/>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@senecapolygdg</a:t>
            </a:r>
            <a:endParaRPr lang="en-US" sz="1050" dirty="0"/>
          </a:p>
        </p:txBody>
      </p:sp>
      <p:sp>
        <p:nvSpPr>
          <p:cNvPr id="17" name="Text 12"/>
          <p:cNvSpPr txBox="1"/>
          <p:nvPr/>
        </p:nvSpPr>
        <p:spPr>
          <a:xfrm>
            <a:off x="4572000" y="2432304"/>
            <a:ext cx="914400" cy="310896"/>
          </a:xfrm>
          <a:prstGeom prst="rect">
            <a:avLst/>
          </a:prstGeom>
          <a:noFill/>
          <a:ln/>
        </p:spPr>
        <p:txBody>
          <a:bodyPr wrap="square" lIns="0" tIns="0" rIns="0" bIns="0" rtlCol="0" anchor="ctr"/>
          <a:lstStyle/>
          <a:p>
            <a:pPr algn="r" indent="0" marL="0">
              <a:buNone/>
            </a:pPr>
            <a:r>
              <a:rPr lang="en-US" sz="1100" b="1" u="sng" dirty="0">
                <a:solidFill>
                  <a:srgbClr val="4285F4"/>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Open  →</a:t>
            </a:r>
            <a:endParaRPr lang="en-US" sz="1100" dirty="0"/>
          </a:p>
        </p:txBody>
      </p:sp>
      <p:sp>
        <p:nvSpPr>
          <p:cNvPr id="18" name="Shape 13"/>
          <p:cNvSpPr/>
          <p:nvPr/>
        </p:nvSpPr>
        <p:spPr>
          <a:xfrm>
            <a:off x="548640" y="2999232"/>
            <a:ext cx="5120640" cy="603504"/>
          </a:xfrm>
          <a:prstGeom prst="roundRect">
            <a:avLst>
              <a:gd name="adj" fmla="val 50000"/>
            </a:avLst>
          </a:prstGeom>
          <a:solidFill>
            <a:srgbClr val="E8F0FE"/>
          </a:solidFill>
          <a:ln w="12700">
            <a:solidFill>
              <a:srgbClr val="E8F0FE"/>
            </a:solidFill>
            <a:prstDash val="solid"/>
          </a:ln>
        </p:spPr>
      </p:sp>
      <p:sp>
        <p:nvSpPr>
          <p:cNvPr id="19" name="Shape 14"/>
          <p:cNvSpPr/>
          <p:nvPr/>
        </p:nvSpPr>
        <p:spPr>
          <a:xfrm>
            <a:off x="640080" y="3072384"/>
            <a:ext cx="457200" cy="457200"/>
          </a:xfrm>
          <a:prstGeom prst="roundRect">
            <a:avLst>
              <a:gd name="adj" fmla="val 22000"/>
            </a:avLst>
          </a:prstGeom>
          <a:solidFill>
            <a:srgbClr val="FFFFFF"/>
          </a:solidFill>
          <a:ln w="9525">
            <a:solidFill>
              <a:srgbClr val="DADCE0"/>
            </a:solidFill>
            <a:prstDash val="solid"/>
          </a:ln>
        </p:spPr>
      </p:sp>
      <p:pic>
        <p:nvPicPr>
          <p:cNvPr id="20" name="Image 2" descr="preencoded.png">
            <a:hlinkClick r:id="rId10" tooltip=""/>
          </p:cNvPr>
          <p:cNvPicPr>
            <a:picLocks noChangeAspect="1"/>
          </p:cNvPicPr>
          <p:nvPr/>
        </p:nvPicPr>
        <p:blipFill>
          <a:blip r:embed="rId9"/>
          <a:stretch>
            <a:fillRect/>
          </a:stretch>
        </p:blipFill>
        <p:spPr>
          <a:xfrm>
            <a:off x="704088" y="3136392"/>
            <a:ext cx="329184" cy="329184"/>
          </a:xfrm>
          <a:prstGeom prst="rect">
            <a:avLst/>
          </a:prstGeom>
        </p:spPr>
      </p:pic>
      <p:sp>
        <p:nvSpPr>
          <p:cNvPr id="21" name="Text 15"/>
          <p:cNvSpPr txBox="1"/>
          <p:nvPr/>
        </p:nvSpPr>
        <p:spPr>
          <a:xfrm>
            <a:off x="1234440" y="3063240"/>
            <a:ext cx="3291840" cy="256032"/>
          </a:xfrm>
          <a:prstGeom prst="rect">
            <a:avLst/>
          </a:prstGeom>
          <a:noFill/>
          <a:ln/>
        </p:spPr>
        <p:txBody>
          <a:bodyPr wrap="square" lIns="0" tIns="0" rIns="0" bIns="0" rtlCol="0" anchor="ctr"/>
          <a:lstStyle/>
          <a:p>
            <a:pPr indent="0" marL="0">
              <a:buNone/>
            </a:pPr>
            <a:r>
              <a:rPr lang="en-US" sz="1350" b="1" dirty="0">
                <a:solidFill>
                  <a:srgbClr val="1E1E1E"/>
                </a:solidFill>
                <a:latin typeface="Arial" pitchFamily="34" charset="0"/>
                <a:ea typeface="Arial" pitchFamily="34" charset="-122"/>
                <a:cs typeface="Arial" pitchFamily="34" charset="-120"/>
              </a:rPr>
              <a:t>Follow us on LinkedIn</a:t>
            </a:r>
            <a:endParaRPr lang="en-US" sz="1350" dirty="0"/>
          </a:p>
        </p:txBody>
      </p:sp>
      <p:sp>
        <p:nvSpPr>
          <p:cNvPr id="22" name="Text 16"/>
          <p:cNvSpPr txBox="1"/>
          <p:nvPr/>
        </p:nvSpPr>
        <p:spPr>
          <a:xfrm>
            <a:off x="1234440" y="3319272"/>
            <a:ext cx="3291840" cy="228600"/>
          </a:xfrm>
          <a:prstGeom prst="rect">
            <a:avLst/>
          </a:prstGeom>
          <a:noFill/>
          <a:ln/>
        </p:spPr>
        <p:txBody>
          <a:bodyPr wrap="square" lIns="0" tIns="0" rIns="0" bIns="0" rtlCol="0" anchor="ctr"/>
          <a:lstStyle/>
          <a:p>
            <a:pPr indent="0" marL="0">
              <a:buNone/>
            </a:pPr>
            <a:r>
              <a:rPr lang="en-US" sz="1050" u="sng" dirty="0">
                <a:solidFill>
                  <a:srgbClr val="4285F4"/>
                </a:solidFill>
                <a:latin typeface="Arial" pitchFamily="34" charset="0"/>
                <a:ea typeface="Arial" pitchFamily="34" charset="-122"/>
                <a:cs typeface="Arial" pitchFamily="34" charset="-120"/>
                <a:hlinkClick r:id="rId11" invalidUrl="" action="" tgtFrame="" tooltip="" history="1" highlightClick="0" endSnd="0">
                  <a:extLst>
                    <a:ext uri="{A12FA001-AC4F-418D-AE19-62706E023703}">
                      <ahyp:hlinkClr xmlns:ahyp="http://schemas.microsoft.com/office/drawing/2018/hyperlinkcolor" val="tx"/>
                    </a:ext>
                  </a:extLst>
                </a:hlinkClick>
              </a:rPr>
              <a:t>linkedin.com/company/senecapolygdg</a:t>
            </a:r>
            <a:endParaRPr lang="en-US" sz="1050" dirty="0"/>
          </a:p>
        </p:txBody>
      </p:sp>
      <p:sp>
        <p:nvSpPr>
          <p:cNvPr id="23" name="Text 17"/>
          <p:cNvSpPr txBox="1"/>
          <p:nvPr/>
        </p:nvSpPr>
        <p:spPr>
          <a:xfrm>
            <a:off x="4572000" y="3145536"/>
            <a:ext cx="914400" cy="310896"/>
          </a:xfrm>
          <a:prstGeom prst="rect">
            <a:avLst/>
          </a:prstGeom>
          <a:noFill/>
          <a:ln/>
        </p:spPr>
        <p:txBody>
          <a:bodyPr wrap="square" lIns="0" tIns="0" rIns="0" bIns="0" rtlCol="0" anchor="ctr"/>
          <a:lstStyle/>
          <a:p>
            <a:pPr algn="r" indent="0" marL="0">
              <a:buNone/>
            </a:pPr>
            <a:r>
              <a:rPr lang="en-US" sz="1100" b="1" u="sng" dirty="0">
                <a:solidFill>
                  <a:srgbClr val="4285F4"/>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Open  →</a:t>
            </a:r>
            <a:endParaRPr lang="en-US" sz="1100" dirty="0"/>
          </a:p>
        </p:txBody>
      </p:sp>
      <p:sp>
        <p:nvSpPr>
          <p:cNvPr id="24" name="Shape 18"/>
          <p:cNvSpPr/>
          <p:nvPr/>
        </p:nvSpPr>
        <p:spPr>
          <a:xfrm>
            <a:off x="548640" y="3712464"/>
            <a:ext cx="5120640" cy="603504"/>
          </a:xfrm>
          <a:prstGeom prst="roundRect">
            <a:avLst>
              <a:gd name="adj" fmla="val 50000"/>
            </a:avLst>
          </a:prstGeom>
          <a:solidFill>
            <a:srgbClr val="E6F4EA"/>
          </a:solidFill>
          <a:ln w="12700">
            <a:solidFill>
              <a:srgbClr val="E6F4EA"/>
            </a:solidFill>
            <a:prstDash val="solid"/>
          </a:ln>
        </p:spPr>
      </p:sp>
      <p:sp>
        <p:nvSpPr>
          <p:cNvPr id="25" name="Shape 19"/>
          <p:cNvSpPr/>
          <p:nvPr/>
        </p:nvSpPr>
        <p:spPr>
          <a:xfrm>
            <a:off x="640080" y="3785616"/>
            <a:ext cx="457200" cy="457200"/>
          </a:xfrm>
          <a:prstGeom prst="roundRect">
            <a:avLst>
              <a:gd name="adj" fmla="val 22000"/>
            </a:avLst>
          </a:prstGeom>
          <a:solidFill>
            <a:srgbClr val="FFFFFF"/>
          </a:solidFill>
          <a:ln w="9525">
            <a:solidFill>
              <a:srgbClr val="DADCE0"/>
            </a:solidFill>
            <a:prstDash val="solid"/>
          </a:ln>
        </p:spPr>
      </p:sp>
      <p:pic>
        <p:nvPicPr>
          <p:cNvPr id="26" name="Image 3" descr="preencoded.png">
            <a:hlinkClick r:id="rId14" tooltip=""/>
          </p:cNvPr>
          <p:cNvPicPr>
            <a:picLocks noChangeAspect="1"/>
          </p:cNvPicPr>
          <p:nvPr/>
        </p:nvPicPr>
        <p:blipFill>
          <a:blip r:embed="rId13"/>
          <a:stretch>
            <a:fillRect/>
          </a:stretch>
        </p:blipFill>
        <p:spPr>
          <a:xfrm>
            <a:off x="704088" y="3849624"/>
            <a:ext cx="329184" cy="329184"/>
          </a:xfrm>
          <a:prstGeom prst="rect">
            <a:avLst/>
          </a:prstGeom>
        </p:spPr>
      </p:pic>
      <p:sp>
        <p:nvSpPr>
          <p:cNvPr id="27" name="Text 20"/>
          <p:cNvSpPr txBox="1"/>
          <p:nvPr/>
        </p:nvSpPr>
        <p:spPr>
          <a:xfrm>
            <a:off x="1234440" y="3776472"/>
            <a:ext cx="3291840" cy="256032"/>
          </a:xfrm>
          <a:prstGeom prst="rect">
            <a:avLst/>
          </a:prstGeom>
          <a:noFill/>
          <a:ln/>
        </p:spPr>
        <p:txBody>
          <a:bodyPr wrap="square" lIns="0" tIns="0" rIns="0" bIns="0" rtlCol="0" anchor="ctr"/>
          <a:lstStyle/>
          <a:p>
            <a:pPr indent="0" marL="0">
              <a:buNone/>
            </a:pPr>
            <a:r>
              <a:rPr lang="en-US" sz="1350" b="1" dirty="0">
                <a:solidFill>
                  <a:srgbClr val="1E1E1E"/>
                </a:solidFill>
                <a:latin typeface="Arial" pitchFamily="34" charset="0"/>
                <a:ea typeface="Arial" pitchFamily="34" charset="-122"/>
                <a:cs typeface="Arial" pitchFamily="34" charset="-120"/>
              </a:rPr>
              <a:t>All our links</a:t>
            </a:r>
            <a:endParaRPr lang="en-US" sz="1350" dirty="0"/>
          </a:p>
        </p:txBody>
      </p:sp>
      <p:sp>
        <p:nvSpPr>
          <p:cNvPr id="28" name="Text 21"/>
          <p:cNvSpPr txBox="1"/>
          <p:nvPr/>
        </p:nvSpPr>
        <p:spPr>
          <a:xfrm>
            <a:off x="1234440" y="4032504"/>
            <a:ext cx="3291840" cy="228600"/>
          </a:xfrm>
          <a:prstGeom prst="rect">
            <a:avLst/>
          </a:prstGeom>
          <a:noFill/>
          <a:ln/>
        </p:spPr>
        <p:txBody>
          <a:bodyPr wrap="square" lIns="0" tIns="0" rIns="0" bIns="0" rtlCol="0" anchor="ctr"/>
          <a:lstStyle/>
          <a:p>
            <a:pPr indent="0" marL="0">
              <a:buNone/>
            </a:pPr>
            <a:r>
              <a:rPr lang="en-US" sz="1050" u="sng" dirty="0">
                <a:solidFill>
                  <a:srgbClr val="4285F4"/>
                </a:solidFill>
                <a:latin typeface="Arial" pitchFamily="34" charset="0"/>
                <a:ea typeface="Arial" pitchFamily="34" charset="-122"/>
                <a:cs typeface="Arial" pitchFamily="34" charset="-120"/>
                <a:hlinkClick r:id="rId15" invalidUrl="" action="" tgtFrame="" tooltip="" history="1" highlightClick="0" endSnd="0">
                  <a:extLst>
                    <a:ext uri="{A12FA001-AC4F-418D-AE19-62706E023703}">
                      <ahyp:hlinkClr xmlns:ahyp="http://schemas.microsoft.com/office/drawing/2018/hyperlinkcolor" val="tx"/>
                    </a:ext>
                  </a:extLst>
                </a:hlinkClick>
              </a:rPr>
              <a:t>linktr.ee/senecagdg</a:t>
            </a:r>
            <a:endParaRPr lang="en-US" sz="1050" dirty="0"/>
          </a:p>
        </p:txBody>
      </p:sp>
      <p:sp>
        <p:nvSpPr>
          <p:cNvPr id="29" name="Text 22"/>
          <p:cNvSpPr txBox="1"/>
          <p:nvPr/>
        </p:nvSpPr>
        <p:spPr>
          <a:xfrm>
            <a:off x="4572000" y="3858768"/>
            <a:ext cx="914400" cy="310896"/>
          </a:xfrm>
          <a:prstGeom prst="rect">
            <a:avLst/>
          </a:prstGeom>
          <a:noFill/>
          <a:ln/>
        </p:spPr>
        <p:txBody>
          <a:bodyPr wrap="square" lIns="0" tIns="0" rIns="0" bIns="0" rtlCol="0" anchor="ctr"/>
          <a:lstStyle/>
          <a:p>
            <a:pPr algn="r" indent="0" marL="0">
              <a:buNone/>
            </a:pPr>
            <a:r>
              <a:rPr lang="en-US" sz="1100" b="1" u="sng" dirty="0">
                <a:solidFill>
                  <a:srgbClr val="4285F4"/>
                </a:solidFill>
                <a:latin typeface="Arial" pitchFamily="34" charset="0"/>
                <a:ea typeface="Arial" pitchFamily="34" charset="-122"/>
                <a:cs typeface="Arial" pitchFamily="34" charset="-120"/>
                <a:hlinkClick r:id="rId16" invalidUrl="" action="" tgtFrame="" tooltip="" history="1" highlightClick="0" endSnd="0">
                  <a:extLst>
                    <a:ext uri="{A12FA001-AC4F-418D-AE19-62706E023703}">
                      <ahyp:hlinkClr xmlns:ahyp="http://schemas.microsoft.com/office/drawing/2018/hyperlinkcolor" val="tx"/>
                    </a:ext>
                  </a:extLst>
                </a:hlinkClick>
              </a:rPr>
              <a:t>Open  →</a:t>
            </a:r>
            <a:endParaRPr lang="en-US" sz="1100" dirty="0"/>
          </a:p>
        </p:txBody>
      </p:sp>
      <p:sp>
        <p:nvSpPr>
          <p:cNvPr id="30" name="Shape 23"/>
          <p:cNvSpPr/>
          <p:nvPr/>
        </p:nvSpPr>
        <p:spPr>
          <a:xfrm>
            <a:off x="6126480" y="868680"/>
            <a:ext cx="2468880" cy="3611880"/>
          </a:xfrm>
          <a:prstGeom prst="roundRect">
            <a:avLst>
              <a:gd name="adj" fmla="val 7407"/>
            </a:avLst>
          </a:prstGeom>
          <a:solidFill>
            <a:srgbClr val="1E1E1E"/>
          </a:solidFill>
          <a:ln w="12700">
            <a:solidFill>
              <a:srgbClr val="1E1E1E"/>
            </a:solidFill>
            <a:prstDash val="solid"/>
          </a:ln>
        </p:spPr>
      </p:sp>
      <p:sp>
        <p:nvSpPr>
          <p:cNvPr id="31" name="Shape 24"/>
          <p:cNvSpPr/>
          <p:nvPr/>
        </p:nvSpPr>
        <p:spPr>
          <a:xfrm>
            <a:off x="6446520" y="1097280"/>
            <a:ext cx="1828800" cy="1828800"/>
          </a:xfrm>
          <a:prstGeom prst="roundRect">
            <a:avLst>
              <a:gd name="adj" fmla="val 5000"/>
            </a:avLst>
          </a:prstGeom>
          <a:solidFill>
            <a:srgbClr val="FFFFFF"/>
          </a:solidFill>
          <a:ln w="12700">
            <a:solidFill>
              <a:srgbClr val="FFFFFF"/>
            </a:solidFill>
            <a:prstDash val="solid"/>
          </a:ln>
        </p:spPr>
      </p:sp>
      <p:pic>
        <p:nvPicPr>
          <p:cNvPr id="32" name="Image 4" descr="preencoded.png">
            <a:hlinkClick r:id="rId18" tooltip=""/>
          </p:cNvPr>
          <p:cNvPicPr>
            <a:picLocks noChangeAspect="1"/>
          </p:cNvPicPr>
          <p:nvPr/>
        </p:nvPicPr>
        <p:blipFill>
          <a:blip r:embed="rId17"/>
          <a:stretch>
            <a:fillRect/>
          </a:stretch>
        </p:blipFill>
        <p:spPr>
          <a:xfrm>
            <a:off x="6510528" y="1161288"/>
            <a:ext cx="1700784" cy="1700784"/>
          </a:xfrm>
          <a:prstGeom prst="rect">
            <a:avLst/>
          </a:prstGeom>
        </p:spPr>
      </p:pic>
      <p:sp>
        <p:nvSpPr>
          <p:cNvPr id="33" name="Text 25"/>
          <p:cNvSpPr txBox="1"/>
          <p:nvPr/>
        </p:nvSpPr>
        <p:spPr>
          <a:xfrm>
            <a:off x="6217920" y="3063240"/>
            <a:ext cx="228600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Scan me</a:t>
            </a:r>
            <a:endParaRPr lang="en-US" sz="1700" dirty="0"/>
          </a:p>
        </p:txBody>
      </p:sp>
      <p:sp>
        <p:nvSpPr>
          <p:cNvPr id="34" name="Text 26"/>
          <p:cNvSpPr txBox="1"/>
          <p:nvPr/>
        </p:nvSpPr>
        <p:spPr>
          <a:xfrm>
            <a:off x="6355080" y="3474720"/>
            <a:ext cx="2011680" cy="731520"/>
          </a:xfrm>
          <a:prstGeom prst="rect">
            <a:avLst/>
          </a:prstGeom>
          <a:noFill/>
          <a:ln/>
        </p:spPr>
        <p:txBody>
          <a:bodyPr wrap="square" lIns="0" tIns="0" rIns="0" bIns="0" rtlCol="0" anchor="t"/>
          <a:lstStyle/>
          <a:p>
            <a:pPr algn="ctr" indent="0" marL="0">
              <a:buNone/>
            </a:pPr>
            <a:r>
              <a:rPr lang="en-US" sz="1050" dirty="0">
                <a:solidFill>
                  <a:srgbClr val="9AA0A6"/>
                </a:solidFill>
                <a:latin typeface="Arial" pitchFamily="34" charset="0"/>
                <a:ea typeface="Arial" pitchFamily="34" charset="-122"/>
                <a:cs typeface="Arial" pitchFamily="34" charset="-120"/>
              </a:rPr>
              <a:t>Anyone at Seneca can join, and it's free.</a:t>
            </a:r>
            <a:endParaRPr lang="en-US" sz="1050" dirty="0"/>
          </a:p>
        </p:txBody>
      </p:sp>
      <p:pic>
        <p:nvPicPr>
          <p:cNvPr id="35" name="Image 5" descr="/Users/datta/Developer/gdg-seneca/deck-builder/brand/mark.png">    </p:cNvPr>
          <p:cNvPicPr>
            <a:picLocks noChangeAspect="1"/>
          </p:cNvPicPr>
          <p:nvPr/>
        </p:nvPicPr>
        <p:blipFill>
          <a:blip r:embed="rId19"/>
          <a:stretch>
            <a:fillRect/>
          </a:stretch>
        </p:blipFill>
        <p:spPr>
          <a:xfrm>
            <a:off x="548640" y="4727448"/>
            <a:ext cx="201168" cy="201168"/>
          </a:xfrm>
          <a:prstGeom prst="rect">
            <a:avLst/>
          </a:prstGeom>
        </p:spPr>
      </p:pic>
      <p:sp>
        <p:nvSpPr>
          <p:cNvPr id="36" name="Text 27"/>
          <p:cNvSpPr txBox="1"/>
          <p:nvPr/>
        </p:nvSpPr>
        <p:spPr>
          <a:xfrm>
            <a:off x="822960" y="4727448"/>
            <a:ext cx="3657600" cy="201168"/>
          </a:xfrm>
          <a:prstGeom prst="rect">
            <a:avLst/>
          </a:prstGeom>
          <a:noFill/>
          <a:ln/>
        </p:spPr>
        <p:txBody>
          <a:bodyPr wrap="square" lIns="0" tIns="0" rIns="0" bIns="0" rtlCol="0" anchor="ctr"/>
          <a:lstStyle/>
          <a:p>
            <a:pPr indent="0" marL="0">
              <a:buNone/>
            </a:pPr>
            <a:r>
              <a:rPr lang="en-US" sz="900" dirty="0">
                <a:solidFill>
                  <a:srgbClr val="5F6368"/>
                </a:solidFill>
                <a:latin typeface="Arial" pitchFamily="34" charset="0"/>
                <a:ea typeface="Arial" pitchFamily="34" charset="-122"/>
                <a:cs typeface="Arial" pitchFamily="34" charset="-120"/>
              </a:rPr>
              <a:t>GDG on Campus  ·  Seneca Polytechnic</a:t>
            </a:r>
            <a:endParaRPr lang="en-US" sz="900" dirty="0"/>
          </a:p>
        </p:txBody>
      </p:sp>
      <p:sp>
        <p:nvSpPr>
          <p:cNvPr id="37" name="Text 28"/>
          <p:cNvSpPr txBox="1"/>
          <p:nvPr/>
        </p:nvSpPr>
        <p:spPr>
          <a:xfrm>
            <a:off x="8138160" y="4727448"/>
            <a:ext cx="457200" cy="201168"/>
          </a:xfrm>
          <a:prstGeom prst="rect">
            <a:avLst/>
          </a:prstGeom>
          <a:noFill/>
          <a:ln/>
        </p:spPr>
        <p:txBody>
          <a:bodyPr wrap="square" lIns="0" tIns="0" rIns="0" bIns="0" rtlCol="0" anchor="ctr"/>
          <a:lstStyle/>
          <a:p>
            <a:pPr algn="r" indent="0" marL="0">
              <a:buNone/>
            </a:pPr>
            <a:r>
              <a:rPr lang="en-US" sz="900" b="1" dirty="0">
                <a:solidFill>
                  <a:srgbClr val="5F6368"/>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48640" y="411480"/>
            <a:ext cx="1828800" cy="292608"/>
          </a:xfrm>
          <a:prstGeom prst="roundRect">
            <a:avLst>
              <a:gd name="adj" fmla="val 50000"/>
            </a:avLst>
          </a:prstGeom>
          <a:solidFill>
            <a:srgbClr val="FEF7E0"/>
          </a:solidFill>
          <a:ln w="15875">
            <a:solidFill>
              <a:srgbClr val="F9AB00"/>
            </a:solidFill>
            <a:prstDash val="solid"/>
          </a:ln>
        </p:spPr>
      </p:sp>
      <p:sp>
        <p:nvSpPr>
          <p:cNvPr id="4" name="Text 1"/>
          <p:cNvSpPr txBox="1"/>
          <p:nvPr/>
        </p:nvSpPr>
        <p:spPr>
          <a:xfrm>
            <a:off x="548640" y="411480"/>
            <a:ext cx="1828800" cy="292608"/>
          </a:xfrm>
          <a:prstGeom prst="rect">
            <a:avLst/>
          </a:prstGeom>
          <a:noFill/>
          <a:ln/>
        </p:spPr>
        <p:txBody>
          <a:bodyPr wrap="square" lIns="0" tIns="0" rIns="0" bIns="0" rtlCol="0" anchor="ctr"/>
          <a:lstStyle/>
          <a:p>
            <a:pPr algn="ctr" indent="0" marL="0">
              <a:buNone/>
            </a:pPr>
            <a:r>
              <a:rPr lang="en-US" sz="900" b="1" spc="150" kern="0" dirty="0">
                <a:solidFill>
                  <a:srgbClr val="1E1E1E"/>
                </a:solidFill>
                <a:latin typeface="Arial" pitchFamily="34" charset="0"/>
                <a:ea typeface="Arial" pitchFamily="34" charset="-122"/>
                <a:cs typeface="Arial" pitchFamily="34" charset="-120"/>
              </a:rPr>
              <a:t>06  GET INVOLVED</a:t>
            </a:r>
            <a:endParaRPr lang="en-US" sz="900" dirty="0"/>
          </a:p>
        </p:txBody>
      </p:sp>
      <p:sp>
        <p:nvSpPr>
          <p:cNvPr id="5" name="Text 2"/>
          <p:cNvSpPr txBox="1"/>
          <p:nvPr/>
        </p:nvSpPr>
        <p:spPr>
          <a:xfrm>
            <a:off x="548640" y="868680"/>
            <a:ext cx="8046720" cy="731520"/>
          </a:xfrm>
          <a:prstGeom prst="rect">
            <a:avLst/>
          </a:prstGeom>
          <a:noFill/>
          <a:ln/>
        </p:spPr>
        <p:txBody>
          <a:bodyPr wrap="square" lIns="0" tIns="0" rIns="0" bIns="0" rtlCol="0" anchor="t"/>
          <a:lstStyle/>
          <a:p>
            <a:pPr indent="0" marL="0">
              <a:buNone/>
            </a:pPr>
            <a:r>
              <a:rPr lang="en-US" sz="3200" b="1" dirty="0">
                <a:solidFill>
                  <a:srgbClr val="1E1E1E"/>
                </a:solidFill>
                <a:latin typeface="Arial" pitchFamily="34" charset="0"/>
                <a:ea typeface="Arial" pitchFamily="34" charset="-122"/>
                <a:cs typeface="Arial" pitchFamily="34" charset="-120"/>
              </a:rPr>
              <a:t>Want to help out?</a:t>
            </a:r>
            <a:endParaRPr lang="en-US" sz="3200" dirty="0"/>
          </a:p>
        </p:txBody>
      </p:sp>
      <p:sp>
        <p:nvSpPr>
          <p:cNvPr id="6" name="Text 3"/>
          <p:cNvSpPr txBox="1"/>
          <p:nvPr/>
        </p:nvSpPr>
        <p:spPr>
          <a:xfrm>
            <a:off x="548640" y="1463040"/>
            <a:ext cx="7315200" cy="365760"/>
          </a:xfrm>
          <a:prstGeom prst="rect">
            <a:avLst/>
          </a:prstGeom>
          <a:noFill/>
          <a:ln/>
        </p:spPr>
        <p:txBody>
          <a:bodyPr wrap="square" lIns="0" tIns="0" rIns="0" bIns="0" rtlCol="0" anchor="ctr"/>
          <a:lstStyle/>
          <a:p>
            <a:pPr indent="0" marL="0">
              <a:buNone/>
            </a:pPr>
            <a:r>
              <a:rPr lang="en-US" sz="1400" dirty="0">
                <a:solidFill>
                  <a:srgbClr val="5F6368"/>
                </a:solidFill>
                <a:latin typeface="Arial" pitchFamily="34" charset="0"/>
                <a:ea typeface="Arial" pitchFamily="34" charset="-122"/>
                <a:cs typeface="Arial" pitchFamily="34" charset="-120"/>
              </a:rPr>
              <a:t>Everything here is run by students, and we open up spots every term.</a:t>
            </a:r>
            <a:endParaRPr lang="en-US" sz="1400" dirty="0"/>
          </a:p>
        </p:txBody>
      </p:sp>
      <p:sp>
        <p:nvSpPr>
          <p:cNvPr id="7" name="Shape 4"/>
          <p:cNvSpPr/>
          <p:nvPr/>
        </p:nvSpPr>
        <p:spPr>
          <a:xfrm>
            <a:off x="548640" y="2057400"/>
            <a:ext cx="2560320" cy="1828800"/>
          </a:xfrm>
          <a:prstGeom prst="roundRect">
            <a:avLst>
              <a:gd name="adj" fmla="val 7000"/>
            </a:avLst>
          </a:prstGeom>
          <a:solidFill>
            <a:srgbClr val="FCE8E6"/>
          </a:solidFill>
          <a:ln w="12700">
            <a:solidFill>
              <a:srgbClr val="1E1E1E"/>
            </a:solidFill>
            <a:prstDash val="solid"/>
          </a:ln>
        </p:spPr>
      </p:sp>
      <p:sp>
        <p:nvSpPr>
          <p:cNvPr id="8" name="Shape 5"/>
          <p:cNvSpPr/>
          <p:nvPr/>
        </p:nvSpPr>
        <p:spPr>
          <a:xfrm>
            <a:off x="777240" y="2286000"/>
            <a:ext cx="530352" cy="530352"/>
          </a:xfrm>
          <a:prstGeom prst="ellipse">
            <a:avLst/>
          </a:prstGeom>
          <a:solidFill>
            <a:srgbClr val="EA4335"/>
          </a:solidFill>
          <a:ln w="12700">
            <a:solidFill>
              <a:srgbClr val="EA4335"/>
            </a:solidFill>
            <a:prstDash val="solid"/>
          </a:ln>
        </p:spPr>
      </p:sp>
      <p:pic>
        <p:nvPicPr>
          <p:cNvPr id="9" name="Image 0" descr="preencoded.png">    </p:cNvPr>
          <p:cNvPicPr>
            <a:picLocks noChangeAspect="1"/>
          </p:cNvPicPr>
          <p:nvPr/>
        </p:nvPicPr>
        <p:blipFill>
          <a:blip r:embed="rId1"/>
          <a:stretch>
            <a:fillRect/>
          </a:stretch>
        </p:blipFill>
        <p:spPr>
          <a:xfrm>
            <a:off x="859975" y="2368735"/>
            <a:ext cx="364882" cy="364882"/>
          </a:xfrm>
          <a:prstGeom prst="rect">
            <a:avLst/>
          </a:prstGeom>
        </p:spPr>
      </p:pic>
      <p:sp>
        <p:nvSpPr>
          <p:cNvPr id="10" name="Text 6"/>
          <p:cNvSpPr txBox="1"/>
          <p:nvPr/>
        </p:nvSpPr>
        <p:spPr>
          <a:xfrm>
            <a:off x="777240" y="2926080"/>
            <a:ext cx="2103120" cy="320040"/>
          </a:xfrm>
          <a:prstGeom prst="rect">
            <a:avLst/>
          </a:prstGeom>
          <a:noFill/>
          <a:ln/>
        </p:spPr>
        <p:txBody>
          <a:bodyPr wrap="square" lIns="0" tIns="0" rIns="0" bIns="0" rtlCol="0" anchor="ctr"/>
          <a:lstStyle/>
          <a:p>
            <a:pPr indent="0" marL="0">
              <a:buNone/>
            </a:pPr>
            <a:r>
              <a:rPr lang="en-US" sz="1600" b="1" dirty="0">
                <a:solidFill>
                  <a:srgbClr val="1E1E1E"/>
                </a:solidFill>
                <a:latin typeface="Arial" pitchFamily="34" charset="0"/>
                <a:ea typeface="Arial" pitchFamily="34" charset="-122"/>
                <a:cs typeface="Arial" pitchFamily="34" charset="-120"/>
              </a:rPr>
              <a:t>Events</a:t>
            </a:r>
            <a:endParaRPr lang="en-US" sz="1600" dirty="0"/>
          </a:p>
        </p:txBody>
      </p:sp>
      <p:sp>
        <p:nvSpPr>
          <p:cNvPr id="11" name="Text 7"/>
          <p:cNvSpPr txBox="1"/>
          <p:nvPr/>
        </p:nvSpPr>
        <p:spPr>
          <a:xfrm>
            <a:off x="777240" y="3246120"/>
            <a:ext cx="2103120" cy="594360"/>
          </a:xfrm>
          <a:prstGeom prst="rect">
            <a:avLst/>
          </a:prstGeom>
          <a:noFill/>
          <a:ln/>
        </p:spPr>
        <p:txBody>
          <a:bodyPr wrap="square" lIns="0" tIns="0" rIns="0" bIns="0" rtlCol="0" anchor="ctr"/>
          <a:lstStyle/>
          <a:p>
            <a:pPr indent="0" marL="0">
              <a:buNone/>
            </a:pPr>
            <a:r>
              <a:rPr lang="en-US" sz="1050" dirty="0">
                <a:solidFill>
                  <a:srgbClr val="5F6368"/>
                </a:solidFill>
                <a:latin typeface="Arial" pitchFamily="34" charset="0"/>
                <a:ea typeface="Arial" pitchFamily="34" charset="-122"/>
                <a:cs typeface="Arial" pitchFamily="34" charset="-120"/>
              </a:rPr>
              <a:t>Plan events, book rooms, and deal with SSF. Usually a few hours a week.</a:t>
            </a:r>
            <a:endParaRPr lang="en-US" sz="1050" dirty="0"/>
          </a:p>
        </p:txBody>
      </p:sp>
      <p:sp>
        <p:nvSpPr>
          <p:cNvPr id="12" name="Shape 8"/>
          <p:cNvSpPr/>
          <p:nvPr/>
        </p:nvSpPr>
        <p:spPr>
          <a:xfrm>
            <a:off x="3291840" y="2057400"/>
            <a:ext cx="2560320" cy="1828800"/>
          </a:xfrm>
          <a:prstGeom prst="roundRect">
            <a:avLst>
              <a:gd name="adj" fmla="val 7000"/>
            </a:avLst>
          </a:prstGeom>
          <a:solidFill>
            <a:srgbClr val="FEF7E0"/>
          </a:solidFill>
          <a:ln w="12700">
            <a:solidFill>
              <a:srgbClr val="1E1E1E"/>
            </a:solidFill>
            <a:prstDash val="solid"/>
          </a:ln>
        </p:spPr>
      </p:sp>
      <p:sp>
        <p:nvSpPr>
          <p:cNvPr id="13" name="Shape 9"/>
          <p:cNvSpPr/>
          <p:nvPr/>
        </p:nvSpPr>
        <p:spPr>
          <a:xfrm>
            <a:off x="3520440" y="2286000"/>
            <a:ext cx="530352" cy="530352"/>
          </a:xfrm>
          <a:prstGeom prst="ellipse">
            <a:avLst/>
          </a:prstGeom>
          <a:solidFill>
            <a:srgbClr val="F9AB00"/>
          </a:solidFill>
          <a:ln w="12700">
            <a:solidFill>
              <a:srgbClr val="F9AB00"/>
            </a:solidFill>
            <a:prstDash val="solid"/>
          </a:ln>
        </p:spPr>
      </p:sp>
      <p:pic>
        <p:nvPicPr>
          <p:cNvPr id="14" name="Image 1" descr="preencoded.png">    </p:cNvPr>
          <p:cNvPicPr>
            <a:picLocks noChangeAspect="1"/>
          </p:cNvPicPr>
          <p:nvPr/>
        </p:nvPicPr>
        <p:blipFill>
          <a:blip r:embed="rId2"/>
          <a:stretch>
            <a:fillRect/>
          </a:stretch>
        </p:blipFill>
        <p:spPr>
          <a:xfrm>
            <a:off x="3603175" y="2368735"/>
            <a:ext cx="364882" cy="364882"/>
          </a:xfrm>
          <a:prstGeom prst="rect">
            <a:avLst/>
          </a:prstGeom>
        </p:spPr>
      </p:pic>
      <p:sp>
        <p:nvSpPr>
          <p:cNvPr id="15" name="Text 10"/>
          <p:cNvSpPr txBox="1"/>
          <p:nvPr/>
        </p:nvSpPr>
        <p:spPr>
          <a:xfrm>
            <a:off x="3520440" y="2926080"/>
            <a:ext cx="2103120" cy="320040"/>
          </a:xfrm>
          <a:prstGeom prst="rect">
            <a:avLst/>
          </a:prstGeom>
          <a:noFill/>
          <a:ln/>
        </p:spPr>
        <p:txBody>
          <a:bodyPr wrap="square" lIns="0" tIns="0" rIns="0" bIns="0" rtlCol="0" anchor="ctr"/>
          <a:lstStyle/>
          <a:p>
            <a:pPr indent="0" marL="0">
              <a:buNone/>
            </a:pPr>
            <a:r>
              <a:rPr lang="en-US" sz="1600" b="1" dirty="0">
                <a:solidFill>
                  <a:srgbClr val="1E1E1E"/>
                </a:solidFill>
                <a:latin typeface="Arial" pitchFamily="34" charset="0"/>
                <a:ea typeface="Arial" pitchFamily="34" charset="-122"/>
                <a:cs typeface="Arial" pitchFamily="34" charset="-120"/>
              </a:rPr>
              <a:t>Marketing</a:t>
            </a:r>
            <a:endParaRPr lang="en-US" sz="1600" dirty="0"/>
          </a:p>
        </p:txBody>
      </p:sp>
      <p:sp>
        <p:nvSpPr>
          <p:cNvPr id="16" name="Text 11"/>
          <p:cNvSpPr txBox="1"/>
          <p:nvPr/>
        </p:nvSpPr>
        <p:spPr>
          <a:xfrm>
            <a:off x="3520440" y="3246120"/>
            <a:ext cx="2103120" cy="594360"/>
          </a:xfrm>
          <a:prstGeom prst="rect">
            <a:avLst/>
          </a:prstGeom>
          <a:noFill/>
          <a:ln/>
        </p:spPr>
        <p:txBody>
          <a:bodyPr wrap="square" lIns="0" tIns="0" rIns="0" bIns="0" rtlCol="0" anchor="ctr"/>
          <a:lstStyle/>
          <a:p>
            <a:pPr indent="0" marL="0">
              <a:buNone/>
            </a:pPr>
            <a:r>
              <a:rPr lang="en-US" sz="1050" dirty="0">
                <a:solidFill>
                  <a:srgbClr val="5F6368"/>
                </a:solidFill>
                <a:latin typeface="Arial" pitchFamily="34" charset="0"/>
                <a:ea typeface="Arial" pitchFamily="34" charset="-122"/>
                <a:cs typeface="Arial" pitchFamily="34" charset="-120"/>
              </a:rPr>
              <a:t>Make posters, run our Instagram, and get the word out.</a:t>
            </a:r>
            <a:endParaRPr lang="en-US" sz="1050" dirty="0"/>
          </a:p>
        </p:txBody>
      </p:sp>
      <p:sp>
        <p:nvSpPr>
          <p:cNvPr id="17" name="Shape 12"/>
          <p:cNvSpPr/>
          <p:nvPr/>
        </p:nvSpPr>
        <p:spPr>
          <a:xfrm>
            <a:off x="6035040" y="2057400"/>
            <a:ext cx="2560320" cy="1828800"/>
          </a:xfrm>
          <a:prstGeom prst="roundRect">
            <a:avLst>
              <a:gd name="adj" fmla="val 7000"/>
            </a:avLst>
          </a:prstGeom>
          <a:solidFill>
            <a:srgbClr val="E6F4EA"/>
          </a:solidFill>
          <a:ln w="12700">
            <a:solidFill>
              <a:srgbClr val="1E1E1E"/>
            </a:solidFill>
            <a:prstDash val="solid"/>
          </a:ln>
        </p:spPr>
      </p:sp>
      <p:sp>
        <p:nvSpPr>
          <p:cNvPr id="18" name="Shape 13"/>
          <p:cNvSpPr/>
          <p:nvPr/>
        </p:nvSpPr>
        <p:spPr>
          <a:xfrm>
            <a:off x="6263640" y="2286000"/>
            <a:ext cx="530352" cy="530352"/>
          </a:xfrm>
          <a:prstGeom prst="ellipse">
            <a:avLst/>
          </a:prstGeom>
          <a:solidFill>
            <a:srgbClr val="34A853"/>
          </a:solidFill>
          <a:ln w="12700">
            <a:solidFill>
              <a:srgbClr val="34A853"/>
            </a:solidFill>
            <a:prstDash val="solid"/>
          </a:ln>
        </p:spPr>
      </p:sp>
      <p:pic>
        <p:nvPicPr>
          <p:cNvPr id="19" name="Image 2" descr="preencoded.png">    </p:cNvPr>
          <p:cNvPicPr>
            <a:picLocks noChangeAspect="1"/>
          </p:cNvPicPr>
          <p:nvPr/>
        </p:nvPicPr>
        <p:blipFill>
          <a:blip r:embed="rId3"/>
          <a:stretch>
            <a:fillRect/>
          </a:stretch>
        </p:blipFill>
        <p:spPr>
          <a:xfrm>
            <a:off x="6346375" y="2368735"/>
            <a:ext cx="364882" cy="364882"/>
          </a:xfrm>
          <a:prstGeom prst="rect">
            <a:avLst/>
          </a:prstGeom>
        </p:spPr>
      </p:pic>
      <p:sp>
        <p:nvSpPr>
          <p:cNvPr id="20" name="Text 14"/>
          <p:cNvSpPr txBox="1"/>
          <p:nvPr/>
        </p:nvSpPr>
        <p:spPr>
          <a:xfrm>
            <a:off x="6263640" y="2926080"/>
            <a:ext cx="2103120" cy="320040"/>
          </a:xfrm>
          <a:prstGeom prst="rect">
            <a:avLst/>
          </a:prstGeom>
          <a:noFill/>
          <a:ln/>
        </p:spPr>
        <p:txBody>
          <a:bodyPr wrap="square" lIns="0" tIns="0" rIns="0" bIns="0" rtlCol="0" anchor="ctr"/>
          <a:lstStyle/>
          <a:p>
            <a:pPr indent="0" marL="0">
              <a:buNone/>
            </a:pPr>
            <a:r>
              <a:rPr lang="en-US" sz="1600" b="1" dirty="0">
                <a:solidFill>
                  <a:srgbClr val="1E1E1E"/>
                </a:solidFill>
                <a:latin typeface="Arial" pitchFamily="34" charset="0"/>
                <a:ea typeface="Arial" pitchFamily="34" charset="-122"/>
                <a:cs typeface="Arial" pitchFamily="34" charset="-120"/>
              </a:rPr>
              <a:t>Technical content</a:t>
            </a:r>
            <a:endParaRPr lang="en-US" sz="1600" dirty="0"/>
          </a:p>
        </p:txBody>
      </p:sp>
      <p:sp>
        <p:nvSpPr>
          <p:cNvPr id="21" name="Text 15"/>
          <p:cNvSpPr txBox="1"/>
          <p:nvPr/>
        </p:nvSpPr>
        <p:spPr>
          <a:xfrm>
            <a:off x="6263640" y="3246120"/>
            <a:ext cx="2103120" cy="594360"/>
          </a:xfrm>
          <a:prstGeom prst="rect">
            <a:avLst/>
          </a:prstGeom>
          <a:noFill/>
          <a:ln/>
        </p:spPr>
        <p:txBody>
          <a:bodyPr wrap="square" lIns="0" tIns="0" rIns="0" bIns="0" rtlCol="0" anchor="ctr"/>
          <a:lstStyle/>
          <a:p>
            <a:pPr indent="0" marL="0">
              <a:buNone/>
            </a:pPr>
            <a:r>
              <a:rPr lang="en-US" sz="1050" dirty="0">
                <a:solidFill>
                  <a:srgbClr val="5F6368"/>
                </a:solidFill>
                <a:latin typeface="Arial" pitchFamily="34" charset="0"/>
                <a:ea typeface="Arial" pitchFamily="34" charset="-122"/>
                <a:cs typeface="Arial" pitchFamily="34" charset="-120"/>
              </a:rPr>
              <a:t>Put together workshops, demos, and starter code.</a:t>
            </a:r>
            <a:endParaRPr lang="en-US" sz="1050" dirty="0"/>
          </a:p>
        </p:txBody>
      </p:sp>
      <p:sp>
        <p:nvSpPr>
          <p:cNvPr id="22" name="Text 16"/>
          <p:cNvSpPr txBox="1"/>
          <p:nvPr/>
        </p:nvSpPr>
        <p:spPr>
          <a:xfrm>
            <a:off x="548640" y="4069080"/>
            <a:ext cx="8046720" cy="365760"/>
          </a:xfrm>
          <a:prstGeom prst="rect">
            <a:avLst/>
          </a:prstGeom>
          <a:noFill/>
          <a:ln/>
        </p:spPr>
        <p:txBody>
          <a:bodyPr wrap="square" lIns="0" tIns="0" rIns="0" bIns="0" rtlCol="0" anchor="ctr"/>
          <a:lstStyle/>
          <a:p>
            <a:pPr indent="0" marL="0">
              <a:buNone/>
            </a:pPr>
            <a:r>
              <a:rPr lang="en-US" sz="1300" b="1" dirty="0">
                <a:solidFill>
                  <a:srgbClr val="1E1E1E"/>
                </a:solidFill>
                <a:latin typeface="Arial" pitchFamily="34" charset="0"/>
                <a:ea typeface="Arial" pitchFamily="34" charset="-122"/>
                <a:cs typeface="Arial" pitchFamily="34" charset="-120"/>
              </a:rPr>
              <a:t>Interested?  </a:t>
            </a:r>
            <a:pPr indent="0" marL="0">
              <a:buNone/>
            </a:pPr>
            <a:r>
              <a:rPr lang="en-US" sz="1300" dirty="0">
                <a:solidFill>
                  <a:srgbClr val="1E1E1E"/>
                </a:solidFill>
                <a:latin typeface="Arial" pitchFamily="34" charset="0"/>
                <a:ea typeface="Arial" pitchFamily="34" charset="-122"/>
                <a:cs typeface="Arial" pitchFamily="34" charset="-120"/>
              </a:rPr>
              <a:t>Come talk to us after, or send us a message on </a:t>
            </a:r>
            <a:pPr indent="0" marL="0">
              <a:buNone/>
            </a:pPr>
            <a:r>
              <a:rPr lang="en-US" sz="1300" b="1" u="sng" dirty="0">
                <a:solidFill>
                  <a:srgbClr val="1E1E1E"/>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Discord</a:t>
            </a:r>
            <a:pPr indent="0" marL="0">
              <a:buNone/>
            </a:pPr>
            <a:r>
              <a:rPr lang="en-US" sz="1300" dirty="0">
                <a:solidFill>
                  <a:srgbClr val="1E1E1E"/>
                </a:solidFill>
                <a:latin typeface="Arial" pitchFamily="34" charset="0"/>
                <a:ea typeface="Arial" pitchFamily="34" charset="-122"/>
                <a:cs typeface="Arial" pitchFamily="34" charset="-120"/>
              </a:rPr>
              <a:t>.</a:t>
            </a:r>
            <a:endParaRPr lang="en-US" sz="1300" dirty="0"/>
          </a:p>
        </p:txBody>
      </p:sp>
      <p:pic>
        <p:nvPicPr>
          <p:cNvPr id="23" name="Image 3" descr="/Users/datta/Developer/gdg-seneca/deck-builder/brand/mark.png">    </p:cNvPr>
          <p:cNvPicPr>
            <a:picLocks noChangeAspect="1"/>
          </p:cNvPicPr>
          <p:nvPr/>
        </p:nvPicPr>
        <p:blipFill>
          <a:blip r:embed="rId5"/>
          <a:stretch>
            <a:fillRect/>
          </a:stretch>
        </p:blipFill>
        <p:spPr>
          <a:xfrm>
            <a:off x="548640" y="4727448"/>
            <a:ext cx="201168" cy="201168"/>
          </a:xfrm>
          <a:prstGeom prst="rect">
            <a:avLst/>
          </a:prstGeom>
        </p:spPr>
      </p:pic>
      <p:sp>
        <p:nvSpPr>
          <p:cNvPr id="24" name="Text 17"/>
          <p:cNvSpPr txBox="1"/>
          <p:nvPr/>
        </p:nvSpPr>
        <p:spPr>
          <a:xfrm>
            <a:off x="822960" y="4727448"/>
            <a:ext cx="3657600" cy="201168"/>
          </a:xfrm>
          <a:prstGeom prst="rect">
            <a:avLst/>
          </a:prstGeom>
          <a:noFill/>
          <a:ln/>
        </p:spPr>
        <p:txBody>
          <a:bodyPr wrap="square" lIns="0" tIns="0" rIns="0" bIns="0" rtlCol="0" anchor="ctr"/>
          <a:lstStyle/>
          <a:p>
            <a:pPr indent="0" marL="0">
              <a:buNone/>
            </a:pPr>
            <a:r>
              <a:rPr lang="en-US" sz="900" dirty="0">
                <a:solidFill>
                  <a:srgbClr val="5F6368"/>
                </a:solidFill>
                <a:latin typeface="Arial" pitchFamily="34" charset="0"/>
                <a:ea typeface="Arial" pitchFamily="34" charset="-122"/>
                <a:cs typeface="Arial" pitchFamily="34" charset="-120"/>
              </a:rPr>
              <a:t>GDG on Campus  ·  Seneca Polytechnic</a:t>
            </a:r>
            <a:endParaRPr lang="en-US" sz="900" dirty="0"/>
          </a:p>
        </p:txBody>
      </p:sp>
      <p:sp>
        <p:nvSpPr>
          <p:cNvPr id="25" name="Text 18"/>
          <p:cNvSpPr txBox="1"/>
          <p:nvPr/>
        </p:nvSpPr>
        <p:spPr>
          <a:xfrm>
            <a:off x="8138160" y="4727448"/>
            <a:ext cx="457200" cy="201168"/>
          </a:xfrm>
          <a:prstGeom prst="rect">
            <a:avLst/>
          </a:prstGeom>
          <a:noFill/>
          <a:ln/>
        </p:spPr>
        <p:txBody>
          <a:bodyPr wrap="square" lIns="0" tIns="0" rIns="0" bIns="0" rtlCol="0" anchor="ctr"/>
          <a:lstStyle/>
          <a:p>
            <a:pPr algn="r" indent="0" marL="0">
              <a:buNone/>
            </a:pPr>
            <a:r>
              <a:rPr lang="en-US" sz="900" b="1" dirty="0">
                <a:solidFill>
                  <a:srgbClr val="5F6368"/>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1E1E"/>
        </a:solidFill>
      </p:bgPr>
    </p:bg>
    <p:spTree>
      <p:nvGrpSpPr>
        <p:cNvPr id="1" name=""/>
        <p:cNvGrpSpPr/>
        <p:nvPr/>
      </p:nvGrpSpPr>
      <p:grpSpPr>
        <a:xfrm>
          <a:off x="0" y="0"/>
          <a:ext cx="0" cy="0"/>
          <a:chOff x="0" y="0"/>
          <a:chExt cx="0" cy="0"/>
        </a:xfrm>
      </p:grpSpPr>
      <p:sp>
        <p:nvSpPr>
          <p:cNvPr id="3" name="Shape 0"/>
          <p:cNvSpPr/>
          <p:nvPr/>
        </p:nvSpPr>
        <p:spPr>
          <a:xfrm rot="-2220000">
            <a:off x="4942807" y="1628729"/>
            <a:ext cx="1945843" cy="634959"/>
          </a:xfrm>
          <a:prstGeom prst="roundRect">
            <a:avLst>
              <a:gd name="adj" fmla="val 50000"/>
            </a:avLst>
          </a:prstGeom>
          <a:solidFill>
            <a:srgbClr val="EA4335"/>
          </a:solidFill>
          <a:ln w="42672">
            <a:solidFill>
              <a:srgbClr val="1E1E1E"/>
            </a:solidFill>
            <a:prstDash val="solid"/>
          </a:ln>
        </p:spPr>
      </p:sp>
      <p:sp>
        <p:nvSpPr>
          <p:cNvPr id="4" name="Shape 1"/>
          <p:cNvSpPr/>
          <p:nvPr/>
        </p:nvSpPr>
        <p:spPr>
          <a:xfrm rot="2220000">
            <a:off x="4942807" y="2417308"/>
            <a:ext cx="1945843" cy="634959"/>
          </a:xfrm>
          <a:prstGeom prst="roundRect">
            <a:avLst>
              <a:gd name="adj" fmla="val 50000"/>
            </a:avLst>
          </a:prstGeom>
          <a:solidFill>
            <a:srgbClr val="4285F4"/>
          </a:solidFill>
          <a:ln w="42672">
            <a:solidFill>
              <a:srgbClr val="1E1E1E"/>
            </a:solidFill>
            <a:prstDash val="solid"/>
          </a:ln>
        </p:spPr>
      </p:sp>
      <p:sp>
        <p:nvSpPr>
          <p:cNvPr id="5" name="Shape 2"/>
          <p:cNvSpPr/>
          <p:nvPr/>
        </p:nvSpPr>
        <p:spPr>
          <a:xfrm rot="-2220000">
            <a:off x="6808769" y="2417308"/>
            <a:ext cx="1945843" cy="634959"/>
          </a:xfrm>
          <a:prstGeom prst="roundRect">
            <a:avLst>
              <a:gd name="adj" fmla="val 50000"/>
            </a:avLst>
          </a:prstGeom>
          <a:solidFill>
            <a:srgbClr val="F9AB00"/>
          </a:solidFill>
          <a:ln w="42672">
            <a:solidFill>
              <a:srgbClr val="1E1E1E"/>
            </a:solidFill>
            <a:prstDash val="solid"/>
          </a:ln>
        </p:spPr>
      </p:sp>
      <p:sp>
        <p:nvSpPr>
          <p:cNvPr id="6" name="Shape 3"/>
          <p:cNvSpPr/>
          <p:nvPr/>
        </p:nvSpPr>
        <p:spPr>
          <a:xfrm rot="2220000">
            <a:off x="6808769" y="1628729"/>
            <a:ext cx="1945843" cy="634959"/>
          </a:xfrm>
          <a:prstGeom prst="roundRect">
            <a:avLst>
              <a:gd name="adj" fmla="val 50000"/>
            </a:avLst>
          </a:prstGeom>
          <a:solidFill>
            <a:srgbClr val="34A853"/>
          </a:solidFill>
          <a:ln w="42672">
            <a:solidFill>
              <a:srgbClr val="1E1E1E"/>
            </a:solidFill>
            <a:prstDash val="solid"/>
          </a:ln>
        </p:spPr>
      </p:sp>
      <p:sp>
        <p:nvSpPr>
          <p:cNvPr id="7" name="Text 4"/>
          <p:cNvSpPr txBox="1"/>
          <p:nvPr/>
        </p:nvSpPr>
        <p:spPr>
          <a:xfrm>
            <a:off x="548640" y="1280160"/>
            <a:ext cx="4572000" cy="100584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Questions?</a:t>
            </a:r>
            <a:endParaRPr lang="en-US" sz="5400" dirty="0"/>
          </a:p>
        </p:txBody>
      </p:sp>
      <p:sp>
        <p:nvSpPr>
          <p:cNvPr id="8" name="Text 5"/>
          <p:cNvSpPr txBox="1"/>
          <p:nvPr/>
        </p:nvSpPr>
        <p:spPr>
          <a:xfrm>
            <a:off x="548640" y="2286000"/>
            <a:ext cx="4206240" cy="411480"/>
          </a:xfrm>
          <a:prstGeom prst="rect">
            <a:avLst/>
          </a:prstGeom>
          <a:noFill/>
          <a:ln/>
        </p:spPr>
        <p:txBody>
          <a:bodyPr wrap="square" lIns="0" tIns="0" rIns="0" bIns="0" rtlCol="0" anchor="ctr"/>
          <a:lstStyle/>
          <a:p>
            <a:pPr indent="0" marL="0">
              <a:buNone/>
            </a:pPr>
            <a:r>
              <a:rPr lang="en-US" sz="1600" dirty="0">
                <a:solidFill>
                  <a:srgbClr val="9AA0A6"/>
                </a:solidFill>
                <a:latin typeface="Arial" pitchFamily="34" charset="0"/>
                <a:ea typeface="Arial" pitchFamily="34" charset="-122"/>
                <a:cs typeface="Arial" pitchFamily="34" charset="-120"/>
              </a:rPr>
              <a:t>Ask us anything. No question is too small.</a:t>
            </a:r>
            <a:endParaRPr lang="en-US" sz="1600" dirty="0"/>
          </a:p>
        </p:txBody>
      </p:sp>
      <p:sp>
        <p:nvSpPr>
          <p:cNvPr id="9" name="Shape 6"/>
          <p:cNvSpPr/>
          <p:nvPr/>
        </p:nvSpPr>
        <p:spPr>
          <a:xfrm>
            <a:off x="548640" y="3017520"/>
            <a:ext cx="2011680" cy="420624"/>
          </a:xfrm>
          <a:prstGeom prst="roundRect">
            <a:avLst>
              <a:gd name="adj" fmla="val 50000"/>
            </a:avLst>
          </a:prstGeom>
          <a:solidFill>
            <a:srgbClr val="2B2B2B"/>
          </a:solidFill>
          <a:ln w="12700">
            <a:solidFill>
              <a:srgbClr val="5F6368"/>
            </a:solidFill>
            <a:prstDash val="solid"/>
          </a:ln>
        </p:spPr>
      </p:sp>
      <p:sp>
        <p:nvSpPr>
          <p:cNvPr id="10" name="Text 7"/>
          <p:cNvSpPr txBox="1"/>
          <p:nvPr/>
        </p:nvSpPr>
        <p:spPr>
          <a:xfrm>
            <a:off x="548640" y="3017520"/>
            <a:ext cx="20116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Arial" pitchFamily="34" charset="0"/>
                <a:ea typeface="Arial" pitchFamily="34" charset="-122"/>
                <a:cs typeface="Arial" pitchFamily="34" charset="-120"/>
              </a:rPr>
              <a:t>What does it cost?</a:t>
            </a:r>
            <a:endParaRPr lang="en-US" sz="1050" dirty="0"/>
          </a:p>
        </p:txBody>
      </p:sp>
      <p:sp>
        <p:nvSpPr>
          <p:cNvPr id="11" name="Shape 8"/>
          <p:cNvSpPr/>
          <p:nvPr/>
        </p:nvSpPr>
        <p:spPr>
          <a:xfrm>
            <a:off x="2697480" y="3017520"/>
            <a:ext cx="2011680" cy="420624"/>
          </a:xfrm>
          <a:prstGeom prst="roundRect">
            <a:avLst>
              <a:gd name="adj" fmla="val 50000"/>
            </a:avLst>
          </a:prstGeom>
          <a:solidFill>
            <a:srgbClr val="2B2B2B"/>
          </a:solidFill>
          <a:ln w="12700">
            <a:solidFill>
              <a:srgbClr val="5F6368"/>
            </a:solidFill>
            <a:prstDash val="solid"/>
          </a:ln>
        </p:spPr>
      </p:sp>
      <p:sp>
        <p:nvSpPr>
          <p:cNvPr id="12" name="Text 9"/>
          <p:cNvSpPr txBox="1"/>
          <p:nvPr/>
        </p:nvSpPr>
        <p:spPr>
          <a:xfrm>
            <a:off x="2697480" y="3017520"/>
            <a:ext cx="20116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Arial" pitchFamily="34" charset="0"/>
                <a:ea typeface="Arial" pitchFamily="34" charset="-122"/>
                <a:cs typeface="Arial" pitchFamily="34" charset="-120"/>
              </a:rPr>
              <a:t>How much time does it take?</a:t>
            </a:r>
            <a:endParaRPr lang="en-US" sz="1050" dirty="0"/>
          </a:p>
        </p:txBody>
      </p:sp>
      <p:sp>
        <p:nvSpPr>
          <p:cNvPr id="13" name="Shape 10"/>
          <p:cNvSpPr/>
          <p:nvPr/>
        </p:nvSpPr>
        <p:spPr>
          <a:xfrm>
            <a:off x="548640" y="3566160"/>
            <a:ext cx="2011680" cy="420624"/>
          </a:xfrm>
          <a:prstGeom prst="roundRect">
            <a:avLst>
              <a:gd name="adj" fmla="val 50000"/>
            </a:avLst>
          </a:prstGeom>
          <a:solidFill>
            <a:srgbClr val="2B2B2B"/>
          </a:solidFill>
          <a:ln w="12700">
            <a:solidFill>
              <a:srgbClr val="5F6368"/>
            </a:solidFill>
            <a:prstDash val="solid"/>
          </a:ln>
        </p:spPr>
      </p:sp>
      <p:sp>
        <p:nvSpPr>
          <p:cNvPr id="14" name="Text 11"/>
          <p:cNvSpPr txBox="1"/>
          <p:nvPr/>
        </p:nvSpPr>
        <p:spPr>
          <a:xfrm>
            <a:off x="548640" y="3566160"/>
            <a:ext cx="20116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Arial" pitchFamily="34" charset="0"/>
                <a:ea typeface="Arial" pitchFamily="34" charset="-122"/>
                <a:cs typeface="Arial" pitchFamily="34" charset="-120"/>
              </a:rPr>
              <a:t>Do I need experience?</a:t>
            </a:r>
            <a:endParaRPr lang="en-US" sz="1050" dirty="0"/>
          </a:p>
        </p:txBody>
      </p:sp>
      <p:sp>
        <p:nvSpPr>
          <p:cNvPr id="15" name="Shape 12"/>
          <p:cNvSpPr/>
          <p:nvPr/>
        </p:nvSpPr>
        <p:spPr>
          <a:xfrm>
            <a:off x="2697480" y="3566160"/>
            <a:ext cx="2011680" cy="420624"/>
          </a:xfrm>
          <a:prstGeom prst="roundRect">
            <a:avLst>
              <a:gd name="adj" fmla="val 50000"/>
            </a:avLst>
          </a:prstGeom>
          <a:solidFill>
            <a:srgbClr val="2B2B2B"/>
          </a:solidFill>
          <a:ln w="12700">
            <a:solidFill>
              <a:srgbClr val="5F6368"/>
            </a:solidFill>
            <a:prstDash val="solid"/>
          </a:ln>
        </p:spPr>
      </p:sp>
      <p:sp>
        <p:nvSpPr>
          <p:cNvPr id="16" name="Text 13"/>
          <p:cNvSpPr txBox="1"/>
          <p:nvPr/>
        </p:nvSpPr>
        <p:spPr>
          <a:xfrm>
            <a:off x="2697480" y="3566160"/>
            <a:ext cx="20116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Arial" pitchFamily="34" charset="0"/>
                <a:ea typeface="Arial" pitchFamily="34" charset="-122"/>
                <a:cs typeface="Arial" pitchFamily="34" charset="-120"/>
              </a:rPr>
              <a:t>Is there food?</a:t>
            </a:r>
            <a:endParaRPr lang="en-US" sz="1050" dirty="0"/>
          </a:p>
        </p:txBody>
      </p:sp>
      <p:pic>
        <p:nvPicPr>
          <p:cNvPr id="17" name="Image 0" descr="/Users/datta/Developer/gdg-seneca/deck-builder/brand/mark.png">    </p:cNvPr>
          <p:cNvPicPr>
            <a:picLocks noChangeAspect="1"/>
          </p:cNvPicPr>
          <p:nvPr/>
        </p:nvPicPr>
        <p:blipFill>
          <a:blip r:embed="rId1"/>
          <a:stretch>
            <a:fillRect/>
          </a:stretch>
        </p:blipFill>
        <p:spPr>
          <a:xfrm>
            <a:off x="548640" y="4727448"/>
            <a:ext cx="201168" cy="201168"/>
          </a:xfrm>
          <a:prstGeom prst="rect">
            <a:avLst/>
          </a:prstGeom>
        </p:spPr>
      </p:pic>
      <p:sp>
        <p:nvSpPr>
          <p:cNvPr id="18" name="Text 14"/>
          <p:cNvSpPr txBox="1"/>
          <p:nvPr/>
        </p:nvSpPr>
        <p:spPr>
          <a:xfrm>
            <a:off x="822960" y="4727448"/>
            <a:ext cx="3657600" cy="201168"/>
          </a:xfrm>
          <a:prstGeom prst="rect">
            <a:avLst/>
          </a:prstGeom>
          <a:noFill/>
          <a:ln/>
        </p:spPr>
        <p:txBody>
          <a:bodyPr wrap="square" lIns="0" tIns="0" rIns="0" bIns="0" rtlCol="0" anchor="ctr"/>
          <a:lstStyle/>
          <a:p>
            <a:pPr indent="0" marL="0">
              <a:buNone/>
            </a:pPr>
            <a:r>
              <a:rPr lang="en-US" sz="900" dirty="0">
                <a:solidFill>
                  <a:srgbClr val="9AA0A6"/>
                </a:solidFill>
                <a:latin typeface="Arial" pitchFamily="34" charset="0"/>
                <a:ea typeface="Arial" pitchFamily="34" charset="-122"/>
                <a:cs typeface="Arial" pitchFamily="34" charset="-120"/>
              </a:rPr>
              <a:t>GDG on Campus  ·  Seneca Polytechnic</a:t>
            </a:r>
            <a:endParaRPr lang="en-US" sz="900" dirty="0"/>
          </a:p>
        </p:txBody>
      </p:sp>
      <p:sp>
        <p:nvSpPr>
          <p:cNvPr id="19" name="Text 15"/>
          <p:cNvSpPr txBox="1"/>
          <p:nvPr/>
        </p:nvSpPr>
        <p:spPr>
          <a:xfrm>
            <a:off x="8138160" y="4727448"/>
            <a:ext cx="457200" cy="201168"/>
          </a:xfrm>
          <a:prstGeom prst="rect">
            <a:avLst/>
          </a:prstGeom>
          <a:noFill/>
          <a:ln/>
        </p:spPr>
        <p:txBody>
          <a:bodyPr wrap="square" lIns="0" tIns="0" rIns="0" bIns="0" rtlCol="0" anchor="ctr"/>
          <a:lstStyle/>
          <a:p>
            <a:pPr algn="r" indent="0" marL="0">
              <a:buNone/>
            </a:pPr>
            <a:r>
              <a:rPr lang="en-US" sz="900" b="1" dirty="0">
                <a:solidFill>
                  <a:srgbClr val="9AA0A6"/>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GDG @ Seneca: Info Session</dc:title>
  <dc:subject>PptxGenJS Presentation</dc:subject>
  <dc:creator>GDG on Campus Seneca Polytechnic</dc:creator>
  <cp:lastModifiedBy>GDG on Campus Seneca Polytechnic</cp:lastModifiedBy>
  <cp:revision>1</cp:revision>
  <dcterms:created xsi:type="dcterms:W3CDTF">2026-09-14T20:57:31Z</dcterms:created>
  <dcterms:modified xsi:type="dcterms:W3CDTF">2026-09-14T20:57:31Z</dcterms:modified>
</cp:coreProperties>
</file>